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India already has STWs, NLEM, CDSCO. The student gap is fail-closed answering, not another chatbot and not “we detected cancer.”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 NMC 15 Sep 2025; NLEM PIB 13 Sep 2022; CDSCO NSQ filter page. Do not say we created these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“is this novel?”: imaging is the baseline; the enhancement is visual STW + refuse ICL + GEPA coverage vs ungrounded.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more tools: the interface is extensible JSON; Phase-1 evaluation is on the catalogue we actually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HAM10000 is ISIC 2018 Task 3 train. CheXpert is research / non-commercial / non-clinical. qXR already ships in India — we replicate a public baseline, not an NTEP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retrieve → router emits a name → host runs the function → writer drafts only from spans + JSON → verifier.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GEPA loses to a hand prompt, we write that. No SOTA claim unless earned on the official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Q&amp;A set does not exist as a download. STW box IDs must be labelled. Say that if asked “is the data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honesty. Hardware: laptop 16 GB; campus GPU for LLM serving and GEPA, not because DenseNet needs a B200.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name="Slide 1">
    <p:bg>
      <p:bgPr>
        <a:solidFill>
          <a:srgbClr val="F7F4EE"/>
        </a:solidFill>
      </p:bgPr>
    </p:bg>
    <p:spTree>
      <p:nvGrpSpPr>
        <p:cNvPr id="1" name=""/>
        <p:cNvGrpSpPr/>
        <p:nvPr/>
      </p:nvGrpSpPr>
      <p:grpSpPr>
        <a:xfrm>
          <a:off x="0" y="0"/>
          <a:ext cx="0" cy="0"/>
          <a:chOff x="0" y="0"/>
          <a:chExt cx="0" cy="0"/>
        </a:xfrm>
      </p:grpSpPr>
      <p:pic>
        <p:nvPicPr>
          <p:cNvPr id="2" name="static_logo" descr="C:\Users\prana\OneDrive\Desktop\COLLEGE PROJECTS\Major_Project\synopsis\assets\geu_logo.png">    </p:cNvPr>
          <p:cNvPicPr>
            <a:picLocks noChangeAspect="1"/>
          </p:cNvPicPr>
          <p:nvPr/>
        </p:nvPicPr>
        <p:blipFill>
          <a:blip r:embed="rId1"/>
          <a:stretch>
            <a:fillRect/>
          </a:stretch>
        </p:blipFill>
        <p:spPr>
          <a:xfrm>
            <a:off x="566928" y="292608"/>
            <a:ext cx="713232" cy="557784"/>
          </a:xfrm>
          <a:prstGeom prst="rect">
            <a:avLst/>
          </a:prstGeom>
        </p:spPr>
      </p:pic>
      <p:sp>
        <p:nvSpPr>
          <p:cNvPr id="3" name="click_01_uni"/>
          <p:cNvSpPr/>
          <p:nvPr/>
        </p:nvSpPr>
        <p:spPr>
          <a:xfrm>
            <a:off x="1417320" y="329184"/>
            <a:ext cx="9509760" cy="237744"/>
          </a:xfrm>
          <a:prstGeom prst="rect">
            <a:avLst/>
          </a:prstGeom>
          <a:noFill/>
          <a:ln/>
        </p:spPr>
        <p:txBody>
          <a:bodyPr wrap="square" lIns="0" tIns="0" rIns="0" bIns="0" rtlCol="0" anchor="ctr"/>
          <a:lstStyle/>
          <a:p>
            <a:pPr indent="0" marL="0">
              <a:buNone/>
            </a:pPr>
            <a:r>
              <a:rPr lang="en-US" sz="1200" spc="140" kern="0" dirty="0">
                <a:solidFill>
                  <a:srgbClr val="16324F"/>
                </a:solidFill>
                <a:latin typeface="Calibri" pitchFamily="34" charset="0"/>
                <a:ea typeface="Calibri" pitchFamily="34" charset="-122"/>
                <a:cs typeface="Calibri" pitchFamily="34" charset="-120"/>
              </a:rPr>
              <a:t>GRAPHIC ERA DEEMED TO BE UNIVERSITY, DEHRADUN</a:t>
            </a:r>
            <a:endParaRPr lang="en-US" sz="1200" dirty="0"/>
          </a:p>
        </p:txBody>
      </p:sp>
      <p:sp>
        <p:nvSpPr>
          <p:cNvPr id="4" name="click_01_dept"/>
          <p:cNvSpPr/>
          <p:nvPr/>
        </p:nvSpPr>
        <p:spPr>
          <a:xfrm>
            <a:off x="1417320" y="566928"/>
            <a:ext cx="9509760" cy="219456"/>
          </a:xfrm>
          <a:prstGeom prst="rect">
            <a:avLst/>
          </a:prstGeom>
          <a:noFill/>
          <a:ln/>
        </p:spPr>
        <p:txBody>
          <a:bodyPr wrap="square" lIns="0" tIns="0" rIns="0" bIns="0" rtlCol="0" anchor="ctr"/>
          <a:lstStyle/>
          <a:p>
            <a:pPr indent="0" marL="0">
              <a:buNone/>
            </a:pPr>
            <a:r>
              <a:rPr lang="en-US" sz="1300" dirty="0">
                <a:solidFill>
                  <a:srgbClr val="6B6560"/>
                </a:solidFill>
                <a:latin typeface="Calibri" pitchFamily="34" charset="0"/>
                <a:ea typeface="Calibri" pitchFamily="34" charset="-122"/>
                <a:cs typeface="Calibri" pitchFamily="34" charset="-120"/>
              </a:rPr>
              <a:t>Department of Computer Science &amp; Engineering  ·  B.Tech CSE Core</a:t>
            </a:r>
            <a:endParaRPr lang="en-US" sz="1300" dirty="0"/>
          </a:p>
        </p:txBody>
      </p:sp>
      <p:sp>
        <p:nvSpPr>
          <p:cNvPr id="5" name="static_rule"/>
          <p:cNvSpPr/>
          <p:nvPr/>
        </p:nvSpPr>
        <p:spPr>
          <a:xfrm>
            <a:off x="566928" y="987552"/>
            <a:ext cx="11057839" cy="13716"/>
          </a:xfrm>
          <a:prstGeom prst="rect">
            <a:avLst/>
          </a:prstGeom>
          <a:solidFill>
            <a:srgbClr val="D9D2C5"/>
          </a:solidFill>
          <a:ln/>
        </p:spPr>
      </p:sp>
      <p:sp>
        <p:nvSpPr>
          <p:cNvPr id="6" name="click_02_chipbg"/>
          <p:cNvSpPr/>
          <p:nvPr/>
        </p:nvSpPr>
        <p:spPr>
          <a:xfrm>
            <a:off x="566928" y="1207008"/>
            <a:ext cx="3383280" cy="329184"/>
          </a:xfrm>
          <a:prstGeom prst="roundRect">
            <a:avLst>
              <a:gd name="adj" fmla="val 11111"/>
            </a:avLst>
          </a:prstGeom>
          <a:solidFill>
            <a:srgbClr val="FFFCF7"/>
          </a:solidFill>
          <a:ln w="15875">
            <a:solidFill>
              <a:srgbClr val="B8954A"/>
            </a:solidFill>
            <a:prstDash val="solid"/>
          </a:ln>
        </p:spPr>
      </p:sp>
      <p:sp>
        <p:nvSpPr>
          <p:cNvPr id="7" name="click_02_chip"/>
          <p:cNvSpPr/>
          <p:nvPr/>
        </p:nvSpPr>
        <p:spPr>
          <a:xfrm>
            <a:off x="566928" y="1207008"/>
            <a:ext cx="3383280" cy="329184"/>
          </a:xfrm>
          <a:prstGeom prst="rect">
            <a:avLst/>
          </a:prstGeom>
          <a:noFill/>
          <a:ln/>
        </p:spPr>
        <p:txBody>
          <a:bodyPr wrap="square" lIns="0" tIns="0" rIns="0" bIns="0" rtlCol="0" anchor="ctr"/>
          <a:lstStyle/>
          <a:p>
            <a:pPr algn="ctr" indent="0" marL="0">
              <a:buNone/>
            </a:pPr>
            <a:r>
              <a:rPr lang="en-US" sz="1000" spc="120" kern="0" dirty="0">
                <a:solidFill>
                  <a:srgbClr val="16324F"/>
                </a:solidFill>
                <a:latin typeface="Calibri" pitchFamily="34" charset="0"/>
                <a:ea typeface="Calibri" pitchFamily="34" charset="-122"/>
                <a:cs typeface="Calibri" pitchFamily="34" charset="-120"/>
              </a:rPr>
              <a:t>PHASE-1 MAJOR PROJECT SYNOPSIS</a:t>
            </a:r>
            <a:endParaRPr lang="en-US" sz="1000" dirty="0"/>
          </a:p>
        </p:txBody>
      </p:sp>
      <p:sp>
        <p:nvSpPr>
          <p:cNvPr id="8" name="click_03_title"/>
          <p:cNvSpPr/>
          <p:nvPr/>
        </p:nvSpPr>
        <p:spPr>
          <a:xfrm>
            <a:off x="566928" y="1664208"/>
            <a:ext cx="10972800" cy="868680"/>
          </a:xfrm>
          <a:prstGeom prst="rect">
            <a:avLst/>
          </a:prstGeom>
          <a:noFill/>
          <a:ln/>
        </p:spPr>
        <p:txBody>
          <a:bodyPr wrap="square" lIns="0" tIns="0" rIns="0" bIns="0" rtlCol="0" anchor="ctr"/>
          <a:lstStyle/>
          <a:p>
            <a:pPr indent="0" marL="0">
              <a:buNone/>
            </a:pPr>
            <a:r>
              <a:rPr lang="en-US" sz="4400" dirty="0">
                <a:solidFill>
                  <a:srgbClr val="16324F"/>
                </a:solidFill>
                <a:latin typeface="Georgia" pitchFamily="34" charset="0"/>
                <a:ea typeface="Georgia" pitchFamily="34" charset="-122"/>
                <a:cs typeface="Georgia" pitchFamily="34" charset="-120"/>
              </a:rPr>
              <a:t>Care Pathway</a:t>
            </a:r>
            <a:endParaRPr lang="en-US" sz="4400" dirty="0"/>
          </a:p>
        </p:txBody>
      </p:sp>
      <p:sp>
        <p:nvSpPr>
          <p:cNvPr id="9" name="click_04_sub"/>
          <p:cNvSpPr/>
          <p:nvPr/>
        </p:nvSpPr>
        <p:spPr>
          <a:xfrm>
            <a:off x="566928" y="2578608"/>
            <a:ext cx="10607040" cy="640080"/>
          </a:xfrm>
          <a:prstGeom prst="rect">
            <a:avLst/>
          </a:prstGeom>
          <a:noFill/>
          <a:ln/>
        </p:spPr>
        <p:txBody>
          <a:bodyPr wrap="square" lIns="0" tIns="0" rIns="0" bIns="0" rtlCol="0" anchor="ctr"/>
          <a:lstStyle/>
          <a:p>
            <a:pPr indent="0" marL="0">
              <a:buNone/>
            </a:pPr>
            <a:r>
              <a:rPr lang="en-US" sz="1800" dirty="0">
                <a:solidFill>
                  <a:srgbClr val="3F3A36"/>
                </a:solidFill>
                <a:latin typeface="Calibri" pitchFamily="34" charset="0"/>
                <a:ea typeface="Calibri" pitchFamily="34" charset="-122"/>
                <a:cs typeface="Calibri" pitchFamily="34" charset="-120"/>
              </a:rPr>
              <a:t>Guideline-grounded health assistant with specialist tools and fail-closed answering.</a:t>
            </a:r>
            <a:endParaRPr lang="en-US" sz="1800" dirty="0"/>
          </a:p>
        </p:txBody>
      </p:sp>
      <p:sp>
        <p:nvSpPr>
          <p:cNvPr id="10" name="click_05_m0a"/>
          <p:cNvSpPr/>
          <p:nvPr/>
        </p:nvSpPr>
        <p:spPr>
          <a:xfrm>
            <a:off x="566928" y="4041648"/>
            <a:ext cx="3520440" cy="201168"/>
          </a:xfrm>
          <a:prstGeom prst="rect">
            <a:avLst/>
          </a:prstGeom>
          <a:noFill/>
          <a:ln/>
        </p:spPr>
        <p:txBody>
          <a:bodyPr wrap="square" lIns="0" tIns="0" rIns="0" bIns="0" rtlCol="0" anchor="ctr"/>
          <a:lstStyle/>
          <a:p>
            <a:pPr indent="0" marL="0">
              <a:buNone/>
            </a:pPr>
            <a:r>
              <a:rPr lang="en-US" sz="1100" spc="120" kern="0" dirty="0">
                <a:solidFill>
                  <a:srgbClr val="B8954A"/>
                </a:solidFill>
                <a:latin typeface="Calibri" pitchFamily="34" charset="0"/>
                <a:ea typeface="Calibri" pitchFamily="34" charset="-122"/>
                <a:cs typeface="Calibri" pitchFamily="34" charset="-120"/>
              </a:rPr>
              <a:t>Student</a:t>
            </a:r>
            <a:endParaRPr lang="en-US" sz="1100" dirty="0"/>
          </a:p>
        </p:txBody>
      </p:sp>
      <p:sp>
        <p:nvSpPr>
          <p:cNvPr id="11" name="click_05_m0b"/>
          <p:cNvSpPr/>
          <p:nvPr/>
        </p:nvSpPr>
        <p:spPr>
          <a:xfrm>
            <a:off x="566928" y="4242816"/>
            <a:ext cx="3520440" cy="384048"/>
          </a:xfrm>
          <a:prstGeom prst="rect">
            <a:avLst/>
          </a:prstGeom>
          <a:noFill/>
          <a:ln/>
        </p:spPr>
        <p:txBody>
          <a:bodyPr wrap="square" lIns="0" tIns="0" rIns="0" bIns="0" rtlCol="0" anchor="ctr"/>
          <a:lstStyle/>
          <a:p>
            <a:pPr indent="0" marL="0">
              <a:buNone/>
            </a:pPr>
            <a:r>
              <a:rPr lang="en-US" sz="1400" dirty="0">
                <a:solidFill>
                  <a:srgbClr val="1C1917"/>
                </a:solidFill>
                <a:latin typeface="Calibri" pitchFamily="34" charset="0"/>
                <a:ea typeface="Calibri" pitchFamily="34" charset="-122"/>
                <a:cs typeface="Calibri" pitchFamily="34" charset="-120"/>
              </a:rPr>
              <a:t>Pranav Maheshwari   ·   GE-232023518</a:t>
            </a:r>
            <a:endParaRPr lang="en-US" sz="1400" dirty="0"/>
          </a:p>
        </p:txBody>
      </p:sp>
      <p:sp>
        <p:nvSpPr>
          <p:cNvPr id="12" name="click_05_m1a"/>
          <p:cNvSpPr/>
          <p:nvPr/>
        </p:nvSpPr>
        <p:spPr>
          <a:xfrm>
            <a:off x="4270248" y="4041648"/>
            <a:ext cx="3520440" cy="201168"/>
          </a:xfrm>
          <a:prstGeom prst="rect">
            <a:avLst/>
          </a:prstGeom>
          <a:noFill/>
          <a:ln/>
        </p:spPr>
        <p:txBody>
          <a:bodyPr wrap="square" lIns="0" tIns="0" rIns="0" bIns="0" rtlCol="0" anchor="ctr"/>
          <a:lstStyle/>
          <a:p>
            <a:pPr indent="0" marL="0">
              <a:buNone/>
            </a:pPr>
            <a:r>
              <a:rPr lang="en-US" sz="1100" spc="120" kern="0" dirty="0">
                <a:solidFill>
                  <a:srgbClr val="B8954A"/>
                </a:solidFill>
                <a:latin typeface="Calibri" pitchFamily="34" charset="0"/>
                <a:ea typeface="Calibri" pitchFamily="34" charset="-122"/>
                <a:cs typeface="Calibri" pitchFamily="34" charset="-120"/>
              </a:rPr>
              <a:t>Guide</a:t>
            </a:r>
            <a:endParaRPr lang="en-US" sz="1100" dirty="0"/>
          </a:p>
        </p:txBody>
      </p:sp>
      <p:sp>
        <p:nvSpPr>
          <p:cNvPr id="13" name="click_05_m1b"/>
          <p:cNvSpPr/>
          <p:nvPr/>
        </p:nvSpPr>
        <p:spPr>
          <a:xfrm>
            <a:off x="4270248" y="4242816"/>
            <a:ext cx="3520440" cy="384048"/>
          </a:xfrm>
          <a:prstGeom prst="rect">
            <a:avLst/>
          </a:prstGeom>
          <a:noFill/>
          <a:ln/>
        </p:spPr>
        <p:txBody>
          <a:bodyPr wrap="square" lIns="0" tIns="0" rIns="0" bIns="0" rtlCol="0" anchor="ctr"/>
          <a:lstStyle/>
          <a:p>
            <a:pPr indent="0" marL="0">
              <a:buNone/>
            </a:pPr>
            <a:r>
              <a:rPr lang="en-US" sz="1400" dirty="0">
                <a:solidFill>
                  <a:srgbClr val="1C1917"/>
                </a:solidFill>
                <a:latin typeface="Calibri" pitchFamily="34" charset="0"/>
                <a:ea typeface="Calibri" pitchFamily="34" charset="-122"/>
                <a:cs typeface="Calibri" pitchFamily="34" charset="-120"/>
              </a:rPr>
              <a:t>Dr. Narayan Chaturvedi   ·   Associate Professor</a:t>
            </a:r>
            <a:endParaRPr lang="en-US" sz="1400" dirty="0"/>
          </a:p>
        </p:txBody>
      </p:sp>
      <p:sp>
        <p:nvSpPr>
          <p:cNvPr id="14" name="click_05_m2a"/>
          <p:cNvSpPr/>
          <p:nvPr/>
        </p:nvSpPr>
        <p:spPr>
          <a:xfrm>
            <a:off x="7973568" y="4041648"/>
            <a:ext cx="3520440" cy="201168"/>
          </a:xfrm>
          <a:prstGeom prst="rect">
            <a:avLst/>
          </a:prstGeom>
          <a:noFill/>
          <a:ln/>
        </p:spPr>
        <p:txBody>
          <a:bodyPr wrap="square" lIns="0" tIns="0" rIns="0" bIns="0" rtlCol="0" anchor="ctr"/>
          <a:lstStyle/>
          <a:p>
            <a:pPr indent="0" marL="0">
              <a:buNone/>
            </a:pPr>
            <a:r>
              <a:rPr lang="en-US" sz="1100" spc="120" kern="0" dirty="0">
                <a:solidFill>
                  <a:srgbClr val="B8954A"/>
                </a:solidFill>
                <a:latin typeface="Calibri" pitchFamily="34" charset="0"/>
                <a:ea typeface="Calibri" pitchFamily="34" charset="-122"/>
                <a:cs typeface="Calibri" pitchFamily="34" charset="-120"/>
              </a:rPr>
              <a:t>Team ID</a:t>
            </a:r>
            <a:endParaRPr lang="en-US" sz="1100" dirty="0"/>
          </a:p>
        </p:txBody>
      </p:sp>
      <p:sp>
        <p:nvSpPr>
          <p:cNvPr id="15" name="click_05_m2b"/>
          <p:cNvSpPr/>
          <p:nvPr/>
        </p:nvSpPr>
        <p:spPr>
          <a:xfrm>
            <a:off x="7973568" y="4242816"/>
            <a:ext cx="3520440" cy="384048"/>
          </a:xfrm>
          <a:prstGeom prst="rect">
            <a:avLst/>
          </a:prstGeom>
          <a:noFill/>
          <a:ln/>
        </p:spPr>
        <p:txBody>
          <a:bodyPr wrap="square" lIns="0" tIns="0" rIns="0" bIns="0" rtlCol="0" anchor="ctr"/>
          <a:lstStyle/>
          <a:p>
            <a:pPr indent="0" marL="0">
              <a:buNone/>
            </a:pPr>
            <a:r>
              <a:rPr lang="en-US" sz="1400" dirty="0">
                <a:solidFill>
                  <a:srgbClr val="1C1917"/>
                </a:solidFill>
                <a:latin typeface="Calibri" pitchFamily="34" charset="0"/>
                <a:ea typeface="Calibri" pitchFamily="34" charset="-122"/>
                <a:cs typeface="Calibri" pitchFamily="34" charset="-120"/>
              </a:rPr>
              <a:t>MP2026CSE344</a:t>
            </a:r>
            <a:endParaRPr lang="en-US" sz="1400" dirty="0"/>
          </a:p>
        </p:txBody>
      </p:sp>
      <p:sp>
        <p:nvSpPr>
          <p:cNvPr id="16" name="click_06_disc"/>
          <p:cNvSpPr/>
          <p:nvPr/>
        </p:nvSpPr>
        <p:spPr>
          <a:xfrm>
            <a:off x="566928" y="4828032"/>
            <a:ext cx="10972800" cy="292608"/>
          </a:xfrm>
          <a:prstGeom prst="rect">
            <a:avLst/>
          </a:prstGeom>
          <a:noFill/>
          <a:ln/>
        </p:spPr>
        <p:txBody>
          <a:bodyPr wrap="square" lIns="0" tIns="0" rIns="0" bIns="0" rtlCol="0" anchor="ctr"/>
          <a:lstStyle/>
          <a:p>
            <a:pPr indent="0" marL="0">
              <a:buNone/>
            </a:pPr>
            <a:r>
              <a:rPr lang="en-US" sz="1300" i="1" dirty="0">
                <a:solidFill>
                  <a:srgbClr val="6B6560"/>
                </a:solidFill>
                <a:latin typeface="Calibri" pitchFamily="34" charset="0"/>
                <a:ea typeface="Calibri" pitchFamily="34" charset="-122"/>
                <a:cs typeface="Calibri" pitchFamily="34" charset="-120"/>
              </a:rPr>
              <a:t>No diagnostic claim. No trained “health GPT”. Future tense only.</a:t>
            </a:r>
            <a:endParaRPr lang="en-US" sz="1300" dirty="0"/>
          </a:p>
        </p:txBody>
      </p:sp>
      <p:sp>
        <p:nvSpPr>
          <p:cNvPr id="17" name="static_goldline"/>
          <p:cNvSpPr/>
          <p:nvPr/>
        </p:nvSpPr>
        <p:spPr>
          <a:xfrm>
            <a:off x="566928" y="5285232"/>
            <a:ext cx="11057839" cy="13716"/>
          </a:xfrm>
          <a:prstGeom prst="rect">
            <a:avLst/>
          </a:prstGeom>
          <a:solidFill>
            <a:srgbClr val="B8954A"/>
          </a:solidFill>
          <a:ln/>
        </p:spPr>
      </p:sp>
      <p:sp>
        <p:nvSpPr>
          <p:cNvPr id="18" name="click_06_eval"/>
          <p:cNvSpPr/>
          <p:nvPr/>
        </p:nvSpPr>
        <p:spPr>
          <a:xfrm>
            <a:off x="566928" y="5486400"/>
            <a:ext cx="10972800" cy="292608"/>
          </a:xfrm>
          <a:prstGeom prst="rect">
            <a:avLst/>
          </a:prstGeom>
          <a:noFill/>
          <a:ln/>
        </p:spPr>
        <p:txBody>
          <a:bodyPr wrap="square" lIns="0" tIns="0" rIns="0" bIns="0" rtlCol="0" anchor="ctr"/>
          <a:lstStyle/>
          <a:p>
            <a:pPr indent="0" marL="0">
              <a:buNone/>
            </a:pPr>
            <a:r>
              <a:rPr lang="en-US" sz="1300" dirty="0">
                <a:solidFill>
                  <a:srgbClr val="16324F"/>
                </a:solidFill>
                <a:latin typeface="Calibri" pitchFamily="34" charset="0"/>
                <a:ea typeface="Calibri" pitchFamily="34" charset="-122"/>
                <a:cs typeface="Calibri" pitchFamily="34" charset="-120"/>
              </a:rPr>
              <a:t>Evaluators  ·  September 2026  ·  10 slides</a:t>
            </a:r>
            <a:endParaRPr lang="en-US" sz="1300" dirty="0"/>
          </a:p>
        </p:txBody>
      </p:sp>
      <p:sp>
        <p:nvSpPr>
          <p:cNvPr id="19" name="static_f"/>
          <p:cNvSpPr/>
          <p:nvPr/>
        </p:nvSpPr>
        <p:spPr>
          <a:xfrm>
            <a:off x="566928" y="6528816"/>
            <a:ext cx="11057839" cy="219456"/>
          </a:xfrm>
          <a:prstGeom prst="rect">
            <a:avLst/>
          </a:prstGeom>
          <a:noFill/>
          <a:ln/>
        </p:spPr>
        <p:txBody>
          <a:bodyPr wrap="square" lIns="0" tIns="0" rIns="0" bIns="0" rtlCol="0" anchor="ctr"/>
          <a:lstStyle/>
          <a:p>
            <a:pPr indent="0" marL="0">
              <a:buNone/>
            </a:pPr>
            <a:r>
              <a:rPr lang="en-US" sz="10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000" dirty="0"/>
          </a:p>
        </p:txBody>
      </p:sp>
    </p:spTree>
  </p:cSld>
  <p:clrMapOvr>
    <a:masterClrMapping/>
  </p:clrMapOvr>
  <p:transition spd="med" advClick="1">
    <p:fade/>
  </p:transition>
  <p:timing>
    <p:tnLst>
      <p:par>
        <p:cTn id="1" dur="indefinite" restart="never" nodeType="tmRoot">
          <p:childTnLst>
            <p:seq concurrent="true" nextAc="seek">
              <p:cTn id="42" dur="indefinite" nodeType="mainSeq">
                <p:childTnLst>
                  <p:par>
                    <p:cTn id="6" fill="hold">
                      <p:stCondLst>
                        <p:cond delay="indefinite"/>
                      </p:stCondLst>
                      <p:childTnLst>
                        <p:par>
                          <p:cTn id="7" fill="hold">
                            <p:stCondLst>
                              <p:cond delay="0"/>
                            </p:stCondLst>
                            <p:childTnLst>
                              <p:par>
                                <p:cTn id="2" presetID="10" presetClass="entr" presetSubtype="0" fill="hold" grpId="0" nodeType="clickEffect">
                                  <p:stCondLst>
                                    <p:cond delay="0"/>
                                  </p:stCondLst>
                                  <p:childTnLst>
                                    <p:animEffect transition="in" filter="fade">
                                      <p:cBhvr>
                                        <p:cTn id="3" dur="450"/>
                                        <p:tgtEl>
                                          <p:spTgt spid="3"/>
                                        </p:tgtEl>
                                      </p:cBhvr>
                                    </p:animEffect>
                                  </p:childTnLst>
                                </p:cTn>
                              </p:par>
                              <p:par>
                                <p:cTn id="4" presetID="10" presetClass="entr" presetSubtype="0" fill="hold" grpId="0" nodeType="withEffect">
                                  <p:stCondLst>
                                    <p:cond delay="0"/>
                                  </p:stCondLst>
                                  <p:childTnLst>
                                    <p:animEffect transition="in" filter="fade">
                                      <p:cBhvr>
                                        <p:cTn id="5" dur="450"/>
                                        <p:tgtEl>
                                          <p:spTgt spid="4"/>
                                        </p:tgtEl>
                                      </p:cBhvr>
                                    </p:animEffect>
                                  </p:childTnLst>
                                </p:cTn>
                              </p:par>
                            </p:childTnLst>
                          </p:cTn>
                        </p:par>
                      </p:childTnLst>
                    </p:cTn>
                  </p:par>
                  <p:par>
                    <p:cTn id="12" fill="hold">
                      <p:stCondLst>
                        <p:cond delay="indefinite"/>
                      </p:stCondLst>
                      <p:childTnLst>
                        <p:par>
                          <p:cTn id="13" fill="hold">
                            <p:stCondLst>
                              <p:cond delay="0"/>
                            </p:stCondLst>
                            <p:childTnLst>
                              <p:par>
                                <p:cTn id="8" presetID="10" presetClass="entr" presetSubtype="0" fill="hold" grpId="0" nodeType="clickEffect">
                                  <p:stCondLst>
                                    <p:cond delay="0"/>
                                  </p:stCondLst>
                                  <p:childTnLst>
                                    <p:animEffect transition="in" filter="fade">
                                      <p:cBhvr>
                                        <p:cTn id="9" dur="450"/>
                                        <p:tgtEl>
                                          <p:spTgt spid="6"/>
                                        </p:tgtEl>
                                      </p:cBhvr>
                                    </p:animEffect>
                                  </p:childTnLst>
                                </p:cTn>
                              </p:par>
                              <p:par>
                                <p:cTn id="10" presetID="10" presetClass="entr" presetSubtype="0" fill="hold" grpId="0" nodeType="withEffect">
                                  <p:stCondLst>
                                    <p:cond delay="0"/>
                                  </p:stCondLst>
                                  <p:childTnLst>
                                    <p:animEffect transition="in" filter="fade">
                                      <p:cBhvr>
                                        <p:cTn id="11" dur="450"/>
                                        <p:tgtEl>
                                          <p:spTgt spid="7"/>
                                        </p:tgtEl>
                                      </p:cBhvr>
                                    </p:animEffect>
                                  </p:childTnLst>
                                </p:cTn>
                              </p:par>
                            </p:childTnLst>
                          </p:cTn>
                        </p:par>
                      </p:childTnLst>
                    </p:cTn>
                  </p:par>
                  <p:par>
                    <p:cTn id="16" fill="hold">
                      <p:stCondLst>
                        <p:cond delay="indefinite"/>
                      </p:stCondLst>
                      <p:childTnLst>
                        <p:par>
                          <p:cTn id="17" fill="hold">
                            <p:stCondLst>
                              <p:cond delay="0"/>
                            </p:stCondLst>
                            <p:childTnLst>
                              <p:par>
                                <p:cTn id="14" presetID="10" presetClass="entr" presetSubtype="0" fill="hold" grpId="0" nodeType="clickEffect">
                                  <p:stCondLst>
                                    <p:cond delay="0"/>
                                  </p:stCondLst>
                                  <p:childTnLst>
                                    <p:animEffect transition="in" filter="fade">
                                      <p:cBhvr>
                                        <p:cTn id="15" dur="450"/>
                                        <p:tgtEl>
                                          <p:spTgt spid="8"/>
                                        </p:tgtEl>
                                      </p:cBhvr>
                                    </p:animEffect>
                                  </p:childTnLst>
                                </p:cTn>
                              </p:par>
                            </p:childTnLst>
                          </p:cTn>
                        </p:par>
                      </p:childTnLst>
                    </p:cTn>
                  </p:par>
                  <p:par>
                    <p:cTn id="20" fill="hold">
                      <p:stCondLst>
                        <p:cond delay="indefinite"/>
                      </p:stCondLst>
                      <p:childTnLst>
                        <p:par>
                          <p:cTn id="21" fill="hold">
                            <p:stCondLst>
                              <p:cond delay="0"/>
                            </p:stCondLst>
                            <p:childTnLst>
                              <p:par>
                                <p:cTn id="18" presetID="10" presetClass="entr" presetSubtype="0" fill="hold" grpId="0" nodeType="clickEffect">
                                  <p:stCondLst>
                                    <p:cond delay="0"/>
                                  </p:stCondLst>
                                  <p:childTnLst>
                                    <p:animEffect transition="in" filter="fade">
                                      <p:cBhvr>
                                        <p:cTn id="19" dur="450"/>
                                        <p:tgtEl>
                                          <p:spTgt spid="9"/>
                                        </p:tgtEl>
                                      </p:cBhvr>
                                    </p:animEffect>
                                  </p:childTnLst>
                                </p:cTn>
                              </p:par>
                            </p:childTnLst>
                          </p:cTn>
                        </p:par>
                      </p:childTnLst>
                    </p:cTn>
                  </p:par>
                  <p:par>
                    <p:cTn id="34" fill="hold">
                      <p:stCondLst>
                        <p:cond delay="indefinite"/>
                      </p:stCondLst>
                      <p:childTnLst>
                        <p:par>
                          <p:cTn id="35" fill="hold">
                            <p:stCondLst>
                              <p:cond delay="0"/>
                            </p:stCondLst>
                            <p:childTnLst>
                              <p:par>
                                <p:cTn id="22" presetID="10" presetClass="entr" presetSubtype="0" fill="hold" grpId="0" nodeType="clickEffect">
                                  <p:stCondLst>
                                    <p:cond delay="0"/>
                                  </p:stCondLst>
                                  <p:childTnLst>
                                    <p:animEffect transition="in" filter="fade">
                                      <p:cBhvr>
                                        <p:cTn id="23" dur="450"/>
                                        <p:tgtEl>
                                          <p:spTgt spid="10"/>
                                        </p:tgtEl>
                                      </p:cBhvr>
                                    </p:animEffect>
                                  </p:childTnLst>
                                </p:cTn>
                              </p:par>
                              <p:par>
                                <p:cTn id="24" presetID="10" presetClass="entr" presetSubtype="0" fill="hold" grpId="0" nodeType="withEffect">
                                  <p:stCondLst>
                                    <p:cond delay="0"/>
                                  </p:stCondLst>
                                  <p:childTnLst>
                                    <p:animEffect transition="in" filter="fade">
                                      <p:cBhvr>
                                        <p:cTn id="25" dur="450"/>
                                        <p:tgtEl>
                                          <p:spTgt spid="11"/>
                                        </p:tgtEl>
                                      </p:cBhvr>
                                    </p:animEffect>
                                  </p:childTnLst>
                                </p:cTn>
                              </p:par>
                              <p:par>
                                <p:cTn id="26" presetID="10" presetClass="entr" presetSubtype="0" fill="hold" grpId="0" nodeType="withEffect">
                                  <p:stCondLst>
                                    <p:cond delay="0"/>
                                  </p:stCondLst>
                                  <p:childTnLst>
                                    <p:animEffect transition="in" filter="fade">
                                      <p:cBhvr>
                                        <p:cTn id="27" dur="450"/>
                                        <p:tgtEl>
                                          <p:spTgt spid="12"/>
                                        </p:tgtEl>
                                      </p:cBhvr>
                                    </p:animEffect>
                                  </p:childTnLst>
                                </p:cTn>
                              </p:par>
                              <p:par>
                                <p:cTn id="28" presetID="10" presetClass="entr" presetSubtype="0" fill="hold" grpId="0" nodeType="withEffect">
                                  <p:stCondLst>
                                    <p:cond delay="0"/>
                                  </p:stCondLst>
                                  <p:childTnLst>
                                    <p:animEffect transition="in" filter="fade">
                                      <p:cBhvr>
                                        <p:cTn id="29" dur="450"/>
                                        <p:tgtEl>
                                          <p:spTgt spid="13"/>
                                        </p:tgtEl>
                                      </p:cBhvr>
                                    </p:animEffect>
                                  </p:childTnLst>
                                </p:cTn>
                              </p:par>
                              <p:par>
                                <p:cTn id="30" presetID="10" presetClass="entr" presetSubtype="0" fill="hold" grpId="0" nodeType="withEffect">
                                  <p:stCondLst>
                                    <p:cond delay="0"/>
                                  </p:stCondLst>
                                  <p:childTnLst>
                                    <p:animEffect transition="in" filter="fade">
                                      <p:cBhvr>
                                        <p:cTn id="31" dur="450"/>
                                        <p:tgtEl>
                                          <p:spTgt spid="14"/>
                                        </p:tgtEl>
                                      </p:cBhvr>
                                    </p:animEffect>
                                  </p:childTnLst>
                                </p:cTn>
                              </p:par>
                              <p:par>
                                <p:cTn id="32" presetID="10" presetClass="entr" presetSubtype="0" fill="hold" grpId="0" nodeType="withEffect">
                                  <p:stCondLst>
                                    <p:cond delay="0"/>
                                  </p:stCondLst>
                                  <p:childTnLst>
                                    <p:animEffect transition="in" filter="fade">
                                      <p:cBhvr>
                                        <p:cTn id="33" dur="450"/>
                                        <p:tgtEl>
                                          <p:spTgt spid="15"/>
                                        </p:tgtEl>
                                      </p:cBhvr>
                                    </p:animEffect>
                                  </p:childTnLst>
                                </p:cTn>
                              </p:par>
                            </p:childTnLst>
                          </p:cTn>
                        </p:par>
                      </p:childTnLst>
                    </p:cTn>
                  </p:par>
                  <p:par>
                    <p:cTn id="40" fill="hold">
                      <p:stCondLst>
                        <p:cond delay="indefinite"/>
                      </p:stCondLst>
                      <p:childTnLst>
                        <p:par>
                          <p:cTn id="41" fill="hold">
                            <p:stCondLst>
                              <p:cond delay="0"/>
                            </p:stCondLst>
                            <p:childTnLst>
                              <p:par>
                                <p:cTn id="36" presetID="10" presetClass="entr" presetSubtype="0" fill="hold" grpId="0" nodeType="clickEffect">
                                  <p:stCondLst>
                                    <p:cond delay="0"/>
                                  </p:stCondLst>
                                  <p:childTnLst>
                                    <p:animEffect transition="in" filter="fade">
                                      <p:cBhvr>
                                        <p:cTn id="37" dur="450"/>
                                        <p:tgtEl>
                                          <p:spTgt spid="16"/>
                                        </p:tgtEl>
                                      </p:cBhvr>
                                    </p:animEffect>
                                  </p:childTnLst>
                                </p:cTn>
                              </p:par>
                              <p:par>
                                <p:cTn id="38" presetID="10" presetClass="entr" presetSubtype="0" fill="hold" grpId="0" nodeType="withEffect">
                                  <p:stCondLst>
                                    <p:cond delay="0"/>
                                  </p:stCondLst>
                                  <p:childTnLst>
                                    <p:animEffect transition="in" filter="fade">
                                      <p:cBhvr>
                                        <p:cTn id="39"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P spid="9" grpId="0"/>
      <p:bldP spid="10" grpId="0"/>
      <p:bldP spid="11" grpId="0"/>
      <p:bldP spid="12" grpId="0"/>
      <p:bldP spid="13" grpId="0"/>
      <p:bldP spid="14" grpId="0"/>
      <p:bldP spid="15" grpId="0"/>
      <p:bldP spid="16" grpId="0"/>
      <p:bldP spid="18" grpId="0"/>
    </p:bldLst>
  </p:timing>
</p:sld>
</file>

<file path=ppt/slides/slide2.xml><?xml version="1.0" encoding="utf-8"?>
<p:sld xmlns:a="http://schemas.openxmlformats.org/drawingml/2006/main" xmlns:p="http://schemas.openxmlformats.org/presentationml/2006/main">
  <p:cSld name="Slide 2">
    <p:bg>
      <p:bgPr>
        <a:solidFill>
          <a:srgbClr val="F7F4EE"/>
        </a:solidFill>
      </p:bgPr>
    </p:bg>
    <p:spTree>
      <p:nvGrpSpPr>
        <p:cNvPr id="1" name=""/>
        <p:cNvGrpSpPr/>
        <p:nvPr/>
      </p:nvGrpSpPr>
      <p:grpSpPr>
        <a:xfrm>
          <a:off x="0" y="0"/>
          <a:ext cx="0" cy="0"/>
          <a:chOff x="0" y="0"/>
          <a:chExt cx="0" cy="0"/>
        </a:xfrm>
      </p:grpSpPr>
      <p:sp>
        <p:nvSpPr>
          <p:cNvPr id="2" name="static_h"/>
          <p:cNvSpPr/>
          <p:nvPr/>
        </p:nvSpPr>
        <p:spPr>
          <a:xfrm>
            <a:off x="566928" y="256032"/>
            <a:ext cx="7680960" cy="256032"/>
          </a:xfrm>
          <a:prstGeom prst="rect">
            <a:avLst/>
          </a:prstGeom>
          <a:noFill/>
          <a:ln/>
        </p:spPr>
        <p:txBody>
          <a:bodyPr wrap="square" lIns="0" tIns="0" rIns="0" bIns="0" rtlCol="0" anchor="ctr"/>
          <a:lstStyle/>
          <a:p>
            <a:pPr indent="0" marL="0">
              <a:buNone/>
            </a:pPr>
            <a:r>
              <a:rPr lang="en-US" sz="1100" spc="220" kern="0" dirty="0">
                <a:solidFill>
                  <a:srgbClr val="6B6560"/>
                </a:solidFill>
                <a:latin typeface="Calibri" pitchFamily="34" charset="0"/>
                <a:ea typeface="Calibri" pitchFamily="34" charset="-122"/>
                <a:cs typeface="Calibri" pitchFamily="34" charset="-120"/>
              </a:rPr>
              <a:t>01  ·  PROBLEM</a:t>
            </a:r>
            <a:endParaRPr lang="en-US" sz="1100" dirty="0"/>
          </a:p>
        </p:txBody>
      </p:sp>
      <p:sp>
        <p:nvSpPr>
          <p:cNvPr id="3" name="static_p"/>
          <p:cNvSpPr/>
          <p:nvPr/>
        </p:nvSpPr>
        <p:spPr>
          <a:xfrm>
            <a:off x="10161727" y="256032"/>
            <a:ext cx="1463040"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02  /  10</a:t>
            </a:r>
            <a:endParaRPr lang="en-US" sz="1100" dirty="0"/>
          </a:p>
        </p:txBody>
      </p:sp>
      <p:sp>
        <p:nvSpPr>
          <p:cNvPr id="4" name="static_rule"/>
          <p:cNvSpPr/>
          <p:nvPr/>
        </p:nvSpPr>
        <p:spPr>
          <a:xfrm>
            <a:off x="566928" y="566928"/>
            <a:ext cx="11057839" cy="13716"/>
          </a:xfrm>
          <a:prstGeom prst="rect">
            <a:avLst/>
          </a:prstGeom>
          <a:solidFill>
            <a:srgbClr val="D9D2C5"/>
          </a:solidFill>
          <a:ln/>
        </p:spPr>
      </p:sp>
      <p:sp>
        <p:nvSpPr>
          <p:cNvPr id="5" name="click_01_title"/>
          <p:cNvSpPr/>
          <p:nvPr/>
        </p:nvSpPr>
        <p:spPr>
          <a:xfrm>
            <a:off x="566928" y="713232"/>
            <a:ext cx="11057839" cy="475488"/>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People already ask language models for health advice.</a:t>
            </a:r>
            <a:endParaRPr lang="en-US" sz="2600" dirty="0"/>
          </a:p>
        </p:txBody>
      </p:sp>
      <p:sp>
        <p:nvSpPr>
          <p:cNvPr id="6" name="static_f"/>
          <p:cNvSpPr/>
          <p:nvPr/>
        </p:nvSpPr>
        <p:spPr>
          <a:xfrm>
            <a:off x="566928" y="6528816"/>
            <a:ext cx="11057839" cy="219456"/>
          </a:xfrm>
          <a:prstGeom prst="rect">
            <a:avLst/>
          </a:prstGeom>
          <a:noFill/>
          <a:ln/>
        </p:spPr>
        <p:txBody>
          <a:bodyPr wrap="square" lIns="0" tIns="0" rIns="0" bIns="0" rtlCol="0" anchor="ctr"/>
          <a:lstStyle/>
          <a:p>
            <a:pPr indent="0" marL="0">
              <a:buNone/>
            </a:pPr>
            <a:r>
              <a:rPr lang="en-US" sz="10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000" dirty="0"/>
          </a:p>
        </p:txBody>
      </p:sp>
      <p:sp>
        <p:nvSpPr>
          <p:cNvPr id="7" name="click_02_lead"/>
          <p:cNvSpPr/>
          <p:nvPr/>
        </p:nvSpPr>
        <p:spPr>
          <a:xfrm>
            <a:off x="566928" y="1261872"/>
            <a:ext cx="11018520" cy="502920"/>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The failure is not missing Indian guidelines. It is ungrounded answering: invented drugs, skipped official pages, and talk when evidence is missing.</a:t>
            </a:r>
            <a:endParaRPr lang="en-US" sz="1500" dirty="0"/>
          </a:p>
        </p:txBody>
      </p:sp>
      <p:sp>
        <p:nvSpPr>
          <p:cNvPr id="8" name="click_03_bg"/>
          <p:cNvSpPr/>
          <p:nvPr/>
        </p:nvSpPr>
        <p:spPr>
          <a:xfrm>
            <a:off x="566928" y="1938528"/>
            <a:ext cx="3584448" cy="324612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9" name="click_03_bar"/>
          <p:cNvSpPr/>
          <p:nvPr/>
        </p:nvSpPr>
        <p:spPr>
          <a:xfrm>
            <a:off x="566928" y="1938528"/>
            <a:ext cx="73152" cy="3246120"/>
          </a:xfrm>
          <a:prstGeom prst="rect">
            <a:avLst/>
          </a:prstGeom>
          <a:solidFill>
            <a:srgbClr val="B8954A"/>
          </a:solidFill>
          <a:ln/>
        </p:spPr>
      </p:sp>
      <p:sp>
        <p:nvSpPr>
          <p:cNvPr id="10" name="click_03_k"/>
          <p:cNvSpPr/>
          <p:nvPr/>
        </p:nvSpPr>
        <p:spPr>
          <a:xfrm>
            <a:off x="822960" y="2121408"/>
            <a:ext cx="3108960" cy="329184"/>
          </a:xfrm>
          <a:prstGeom prst="rect">
            <a:avLst/>
          </a:prstGeom>
          <a:noFill/>
          <a:ln/>
        </p:spPr>
        <p:txBody>
          <a:bodyPr wrap="square" lIns="0" tIns="0" rIns="0" bIns="0" rtlCol="0" anchor="ctr"/>
          <a:lstStyle/>
          <a:p>
            <a:pPr indent="0" marL="0">
              <a:buNone/>
            </a:pPr>
            <a:r>
              <a:rPr lang="en-US" sz="1800" dirty="0">
                <a:solidFill>
                  <a:srgbClr val="B8954A"/>
                </a:solidFill>
                <a:latin typeface="Georgia" pitchFamily="34" charset="0"/>
                <a:ea typeface="Georgia" pitchFamily="34" charset="-122"/>
                <a:cs typeface="Georgia" pitchFamily="34" charset="-120"/>
              </a:rPr>
              <a:t>01</a:t>
            </a:r>
            <a:endParaRPr lang="en-US" sz="1800" dirty="0"/>
          </a:p>
        </p:txBody>
      </p:sp>
      <p:sp>
        <p:nvSpPr>
          <p:cNvPr id="11" name="click_03_h"/>
          <p:cNvSpPr/>
          <p:nvPr/>
        </p:nvSpPr>
        <p:spPr>
          <a:xfrm>
            <a:off x="822960" y="2487168"/>
            <a:ext cx="3108960" cy="384048"/>
          </a:xfrm>
          <a:prstGeom prst="rect">
            <a:avLst/>
          </a:prstGeom>
          <a:noFill/>
          <a:ln/>
        </p:spPr>
        <p:txBody>
          <a:bodyPr wrap="square" lIns="0" tIns="0" rIns="0" bIns="0" rtlCol="0" anchor="ctr"/>
          <a:lstStyle/>
          <a:p>
            <a:pPr indent="0" marL="0">
              <a:buNone/>
            </a:pPr>
            <a:r>
              <a:rPr lang="en-US" sz="2000" dirty="0">
                <a:solidFill>
                  <a:srgbClr val="1C1917"/>
                </a:solidFill>
                <a:latin typeface="Georgia" pitchFamily="34" charset="0"/>
                <a:ea typeface="Georgia" pitchFamily="34" charset="-122"/>
                <a:cs typeface="Georgia" pitchFamily="34" charset="-120"/>
              </a:rPr>
              <a:t>Invention</a:t>
            </a:r>
            <a:endParaRPr lang="en-US" sz="2000" dirty="0"/>
          </a:p>
        </p:txBody>
      </p:sp>
      <p:sp>
        <p:nvSpPr>
          <p:cNvPr id="12" name="click_03_t"/>
          <p:cNvSpPr/>
          <p:nvPr/>
        </p:nvSpPr>
        <p:spPr>
          <a:xfrm>
            <a:off x="822960" y="2962656"/>
            <a:ext cx="3108960" cy="1920240"/>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A drug, dose, or referral that does not appear in any retrieved official span.</a:t>
            </a:r>
            <a:endParaRPr lang="en-US" sz="1500" dirty="0"/>
          </a:p>
        </p:txBody>
      </p:sp>
      <p:sp>
        <p:nvSpPr>
          <p:cNvPr id="13" name="click_04_bg"/>
          <p:cNvSpPr/>
          <p:nvPr/>
        </p:nvSpPr>
        <p:spPr>
          <a:xfrm>
            <a:off x="4297680" y="1938528"/>
            <a:ext cx="3584448" cy="324612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14" name="click_04_bar"/>
          <p:cNvSpPr/>
          <p:nvPr/>
        </p:nvSpPr>
        <p:spPr>
          <a:xfrm>
            <a:off x="4297680" y="1938528"/>
            <a:ext cx="73152" cy="3246120"/>
          </a:xfrm>
          <a:prstGeom prst="rect">
            <a:avLst/>
          </a:prstGeom>
          <a:solidFill>
            <a:srgbClr val="B8954A"/>
          </a:solidFill>
          <a:ln/>
        </p:spPr>
      </p:sp>
      <p:sp>
        <p:nvSpPr>
          <p:cNvPr id="15" name="click_04_k"/>
          <p:cNvSpPr/>
          <p:nvPr/>
        </p:nvSpPr>
        <p:spPr>
          <a:xfrm>
            <a:off x="4553712" y="2121408"/>
            <a:ext cx="3108960" cy="329184"/>
          </a:xfrm>
          <a:prstGeom prst="rect">
            <a:avLst/>
          </a:prstGeom>
          <a:noFill/>
          <a:ln/>
        </p:spPr>
        <p:txBody>
          <a:bodyPr wrap="square" lIns="0" tIns="0" rIns="0" bIns="0" rtlCol="0" anchor="ctr"/>
          <a:lstStyle/>
          <a:p>
            <a:pPr indent="0" marL="0">
              <a:buNone/>
            </a:pPr>
            <a:r>
              <a:rPr lang="en-US" sz="1800" dirty="0">
                <a:solidFill>
                  <a:srgbClr val="B8954A"/>
                </a:solidFill>
                <a:latin typeface="Georgia" pitchFamily="34" charset="0"/>
                <a:ea typeface="Georgia" pitchFamily="34" charset="-122"/>
                <a:cs typeface="Georgia" pitchFamily="34" charset="-120"/>
              </a:rPr>
              <a:t>02</a:t>
            </a:r>
            <a:endParaRPr lang="en-US" sz="1800" dirty="0"/>
          </a:p>
        </p:txBody>
      </p:sp>
      <p:sp>
        <p:nvSpPr>
          <p:cNvPr id="16" name="click_04_h"/>
          <p:cNvSpPr/>
          <p:nvPr/>
        </p:nvSpPr>
        <p:spPr>
          <a:xfrm>
            <a:off x="4553712" y="2487168"/>
            <a:ext cx="3108960" cy="384048"/>
          </a:xfrm>
          <a:prstGeom prst="rect">
            <a:avLst/>
          </a:prstGeom>
          <a:noFill/>
          <a:ln/>
        </p:spPr>
        <p:txBody>
          <a:bodyPr wrap="square" lIns="0" tIns="0" rIns="0" bIns="0" rtlCol="0" anchor="ctr"/>
          <a:lstStyle/>
          <a:p>
            <a:pPr indent="0" marL="0">
              <a:buNone/>
            </a:pPr>
            <a:r>
              <a:rPr lang="en-US" sz="2000" dirty="0">
                <a:solidFill>
                  <a:srgbClr val="1C1917"/>
                </a:solidFill>
                <a:latin typeface="Georgia" pitchFamily="34" charset="0"/>
                <a:ea typeface="Georgia" pitchFamily="34" charset="-122"/>
                <a:cs typeface="Georgia" pitchFamily="34" charset="-120"/>
              </a:rPr>
              <a:t>Over-talking</a:t>
            </a:r>
            <a:endParaRPr lang="en-US" sz="2000" dirty="0"/>
          </a:p>
        </p:txBody>
      </p:sp>
      <p:sp>
        <p:nvSpPr>
          <p:cNvPr id="17" name="click_04_t"/>
          <p:cNvSpPr/>
          <p:nvPr/>
        </p:nvSpPr>
        <p:spPr>
          <a:xfrm>
            <a:off x="4553712" y="2962656"/>
            <a:ext cx="3108960" cy="1920240"/>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The model answers an out-of-scope item because prompts were built only from answered neighbours.</a:t>
            </a:r>
            <a:endParaRPr lang="en-US" sz="1500" dirty="0"/>
          </a:p>
        </p:txBody>
      </p:sp>
      <p:sp>
        <p:nvSpPr>
          <p:cNvPr id="18" name="click_05_bg"/>
          <p:cNvSpPr/>
          <p:nvPr/>
        </p:nvSpPr>
        <p:spPr>
          <a:xfrm>
            <a:off x="8028432" y="1938528"/>
            <a:ext cx="3584448" cy="324612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19" name="click_05_bar"/>
          <p:cNvSpPr/>
          <p:nvPr/>
        </p:nvSpPr>
        <p:spPr>
          <a:xfrm>
            <a:off x="8028432" y="1938528"/>
            <a:ext cx="73152" cy="3246120"/>
          </a:xfrm>
          <a:prstGeom prst="rect">
            <a:avLst/>
          </a:prstGeom>
          <a:solidFill>
            <a:srgbClr val="B8954A"/>
          </a:solidFill>
          <a:ln/>
        </p:spPr>
      </p:sp>
      <p:sp>
        <p:nvSpPr>
          <p:cNvPr id="20" name="click_05_k"/>
          <p:cNvSpPr/>
          <p:nvPr/>
        </p:nvSpPr>
        <p:spPr>
          <a:xfrm>
            <a:off x="8284464" y="2121408"/>
            <a:ext cx="3108960" cy="329184"/>
          </a:xfrm>
          <a:prstGeom prst="rect">
            <a:avLst/>
          </a:prstGeom>
          <a:noFill/>
          <a:ln/>
        </p:spPr>
        <p:txBody>
          <a:bodyPr wrap="square" lIns="0" tIns="0" rIns="0" bIns="0" rtlCol="0" anchor="ctr"/>
          <a:lstStyle/>
          <a:p>
            <a:pPr indent="0" marL="0">
              <a:buNone/>
            </a:pPr>
            <a:r>
              <a:rPr lang="en-US" sz="1800" dirty="0">
                <a:solidFill>
                  <a:srgbClr val="B8954A"/>
                </a:solidFill>
                <a:latin typeface="Georgia" pitchFamily="34" charset="0"/>
                <a:ea typeface="Georgia" pitchFamily="34" charset="-122"/>
                <a:cs typeface="Georgia" pitchFamily="34" charset="-120"/>
              </a:rPr>
              <a:t>03</a:t>
            </a:r>
            <a:endParaRPr lang="en-US" sz="1800" dirty="0"/>
          </a:p>
        </p:txBody>
      </p:sp>
      <p:sp>
        <p:nvSpPr>
          <p:cNvPr id="21" name="click_05_h"/>
          <p:cNvSpPr/>
          <p:nvPr/>
        </p:nvSpPr>
        <p:spPr>
          <a:xfrm>
            <a:off x="8284464" y="2487168"/>
            <a:ext cx="3108960" cy="384048"/>
          </a:xfrm>
          <a:prstGeom prst="rect">
            <a:avLst/>
          </a:prstGeom>
          <a:noFill/>
          <a:ln/>
        </p:spPr>
        <p:txBody>
          <a:bodyPr wrap="square" lIns="0" tIns="0" rIns="0" bIns="0" rtlCol="0" anchor="ctr"/>
          <a:lstStyle/>
          <a:p>
            <a:pPr indent="0" marL="0">
              <a:buNone/>
            </a:pPr>
            <a:r>
              <a:rPr lang="en-US" sz="2000" dirty="0">
                <a:solidFill>
                  <a:srgbClr val="1C1917"/>
                </a:solidFill>
                <a:latin typeface="Georgia" pitchFamily="34" charset="0"/>
                <a:ea typeface="Georgia" pitchFamily="34" charset="-122"/>
                <a:cs typeface="Georgia" pitchFamily="34" charset="-120"/>
              </a:rPr>
              <a:t>Wrong architecture</a:t>
            </a:r>
            <a:endParaRPr lang="en-US" sz="2000" dirty="0"/>
          </a:p>
        </p:txBody>
      </p:sp>
      <p:sp>
        <p:nvSpPr>
          <p:cNvPr id="22" name="click_05_t"/>
          <p:cNvSpPr/>
          <p:nvPr/>
        </p:nvSpPr>
        <p:spPr>
          <a:xfrm>
            <a:off x="8284464" y="2962656"/>
            <a:ext cx="3108960" cy="1920240"/>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Chatting “specialist agents” that order tests in a loop are not evaluable and are not a doctor.</a:t>
            </a:r>
            <a:endParaRPr lang="en-US" sz="1500" dirty="0"/>
          </a:p>
        </p:txBody>
      </p:sp>
    </p:spTree>
  </p:cSld>
  <p:clrMapOvr>
    <a:masterClrMapping/>
  </p:clrMapOvr>
  <p:transition spd="med" advClick="1">
    <p:fade/>
  </p:transition>
  <p:timing>
    <p:tnLst>
      <p:par>
        <p:cTn id="1" dur="indefinite" restart="never" nodeType="tmRoot">
          <p:childTnLst>
            <p:seq concurrent="true" nextAc="seek">
              <p:cTn id="46"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10" presetID="10" presetClass="entr" presetSubtype="0" fill="hold" grpId="0" nodeType="clickEffect">
                                  <p:stCondLst>
                                    <p:cond delay="0"/>
                                  </p:stCondLst>
                                  <p:childTnLst>
                                    <p:animEffect transition="in" filter="fade">
                                      <p:cBhvr>
                                        <p:cTn id="11" dur="450"/>
                                        <p:tgtEl>
                                          <p:spTgt spid="8"/>
                                        </p:tgtEl>
                                      </p:cBhvr>
                                    </p:animEffect>
                                  </p:childTnLst>
                                </p:cTn>
                              </p:par>
                              <p:par>
                                <p:cTn id="12" presetID="10" presetClass="entr" presetSubtype="0" fill="hold" grpId="0" nodeType="withEffect">
                                  <p:stCondLst>
                                    <p:cond delay="0"/>
                                  </p:stCondLst>
                                  <p:childTnLst>
                                    <p:animEffect transition="in" filter="fade">
                                      <p:cBhvr>
                                        <p:cTn id="13" dur="450"/>
                                        <p:tgtEl>
                                          <p:spTgt spid="9"/>
                                        </p:tgtEl>
                                      </p:cBhvr>
                                    </p:animEffect>
                                  </p:childTnLst>
                                </p:cTn>
                              </p:par>
                              <p:par>
                                <p:cTn id="14" presetID="10" presetClass="entr" presetSubtype="0" fill="hold" grpId="0" nodeType="withEffect">
                                  <p:stCondLst>
                                    <p:cond delay="0"/>
                                  </p:stCondLst>
                                  <p:childTnLst>
                                    <p:animEffect transition="in" filter="fade">
                                      <p:cBhvr>
                                        <p:cTn id="15" dur="450"/>
                                        <p:tgtEl>
                                          <p:spTgt spid="10"/>
                                        </p:tgtEl>
                                      </p:cBhvr>
                                    </p:animEffect>
                                  </p:childTnLst>
                                </p:cTn>
                              </p:par>
                              <p:par>
                                <p:cTn id="16" presetID="10" presetClass="entr" presetSubtype="0" fill="hold" grpId="0" nodeType="withEffect">
                                  <p:stCondLst>
                                    <p:cond delay="0"/>
                                  </p:stCondLst>
                                  <p:childTnLst>
                                    <p:animEffect transition="in" filter="fade">
                                      <p:cBhvr>
                                        <p:cTn id="17" dur="450"/>
                                        <p:tgtEl>
                                          <p:spTgt spid="11"/>
                                        </p:tgtEl>
                                      </p:cBhvr>
                                    </p:animEffect>
                                  </p:childTnLst>
                                </p:cTn>
                              </p:par>
                              <p:par>
                                <p:cTn id="18" presetID="10" presetClass="entr" presetSubtype="0" fill="hold" grpId="0" nodeType="withEffect">
                                  <p:stCondLst>
                                    <p:cond delay="0"/>
                                  </p:stCondLst>
                                  <p:childTnLst>
                                    <p:animEffect transition="in" filter="fade">
                                      <p:cBhvr>
                                        <p:cTn id="19" dur="450"/>
                                        <p:tgtEl>
                                          <p:spTgt spid="12"/>
                                        </p:tgtEl>
                                      </p:cBhvr>
                                    </p:animEffect>
                                  </p:childTnLst>
                                </p:cTn>
                              </p:par>
                            </p:childTnLst>
                          </p:cTn>
                        </p:par>
                      </p:childTnLst>
                    </p:cTn>
                  </p:par>
                  <p:par>
                    <p:cTn id="32" fill="hold">
                      <p:stCondLst>
                        <p:cond delay="indefinite"/>
                      </p:stCondLst>
                      <p:childTnLst>
                        <p:par>
                          <p:cTn id="33" fill="hold">
                            <p:stCondLst>
                              <p:cond delay="0"/>
                            </p:stCondLst>
                            <p:childTnLst>
                              <p:par>
                                <p:cTn id="22" presetID="10" presetClass="entr" presetSubtype="0" fill="hold" grpId="0" nodeType="clickEffect">
                                  <p:stCondLst>
                                    <p:cond delay="0"/>
                                  </p:stCondLst>
                                  <p:childTnLst>
                                    <p:animEffect transition="in" filter="fade">
                                      <p:cBhvr>
                                        <p:cTn id="23" dur="450"/>
                                        <p:tgtEl>
                                          <p:spTgt spid="13"/>
                                        </p:tgtEl>
                                      </p:cBhvr>
                                    </p:animEffect>
                                  </p:childTnLst>
                                </p:cTn>
                              </p:par>
                              <p:par>
                                <p:cTn id="24" presetID="10" presetClass="entr" presetSubtype="0" fill="hold" grpId="0" nodeType="withEffect">
                                  <p:stCondLst>
                                    <p:cond delay="0"/>
                                  </p:stCondLst>
                                  <p:childTnLst>
                                    <p:animEffect transition="in" filter="fade">
                                      <p:cBhvr>
                                        <p:cTn id="25" dur="450"/>
                                        <p:tgtEl>
                                          <p:spTgt spid="14"/>
                                        </p:tgtEl>
                                      </p:cBhvr>
                                    </p:animEffect>
                                  </p:childTnLst>
                                </p:cTn>
                              </p:par>
                              <p:par>
                                <p:cTn id="26" presetID="10" presetClass="entr" presetSubtype="0" fill="hold" grpId="0" nodeType="withEffect">
                                  <p:stCondLst>
                                    <p:cond delay="0"/>
                                  </p:stCondLst>
                                  <p:childTnLst>
                                    <p:animEffect transition="in" filter="fade">
                                      <p:cBhvr>
                                        <p:cTn id="27" dur="450"/>
                                        <p:tgtEl>
                                          <p:spTgt spid="15"/>
                                        </p:tgtEl>
                                      </p:cBhvr>
                                    </p:animEffect>
                                  </p:childTnLst>
                                </p:cTn>
                              </p:par>
                              <p:par>
                                <p:cTn id="28" presetID="10" presetClass="entr" presetSubtype="0" fill="hold" grpId="0" nodeType="withEffect">
                                  <p:stCondLst>
                                    <p:cond delay="0"/>
                                  </p:stCondLst>
                                  <p:childTnLst>
                                    <p:animEffect transition="in" filter="fade">
                                      <p:cBhvr>
                                        <p:cTn id="29" dur="450"/>
                                        <p:tgtEl>
                                          <p:spTgt spid="16"/>
                                        </p:tgtEl>
                                      </p:cBhvr>
                                    </p:animEffect>
                                  </p:childTnLst>
                                </p:cTn>
                              </p:par>
                              <p:par>
                                <p:cTn id="30" presetID="10" presetClass="entr" presetSubtype="0" fill="hold" grpId="0" nodeType="withEffect">
                                  <p:stCondLst>
                                    <p:cond delay="0"/>
                                  </p:stCondLst>
                                  <p:childTnLst>
                                    <p:animEffect transition="in" filter="fade">
                                      <p:cBhvr>
                                        <p:cTn id="31" dur="450"/>
                                        <p:tgtEl>
                                          <p:spTgt spid="17"/>
                                        </p:tgtEl>
                                      </p:cBhvr>
                                    </p:animEffect>
                                  </p:childTnLst>
                                </p:cTn>
                              </p:par>
                            </p:childTnLst>
                          </p:cTn>
                        </p:par>
                      </p:childTnLst>
                    </p:cTn>
                  </p:par>
                  <p:par>
                    <p:cTn id="44" fill="hold">
                      <p:stCondLst>
                        <p:cond delay="indefinite"/>
                      </p:stCondLst>
                      <p:childTnLst>
                        <p:par>
                          <p:cTn id="45" fill="hold">
                            <p:stCondLst>
                              <p:cond delay="0"/>
                            </p:stCondLst>
                            <p:childTnLst>
                              <p:par>
                                <p:cTn id="34" presetID="10" presetClass="entr" presetSubtype="0" fill="hold" grpId="0" nodeType="clickEffect">
                                  <p:stCondLst>
                                    <p:cond delay="0"/>
                                  </p:stCondLst>
                                  <p:childTnLst>
                                    <p:animEffect transition="in" filter="fade">
                                      <p:cBhvr>
                                        <p:cTn id="35" dur="450"/>
                                        <p:tgtEl>
                                          <p:spTgt spid="18"/>
                                        </p:tgtEl>
                                      </p:cBhvr>
                                    </p:animEffect>
                                  </p:childTnLst>
                                </p:cTn>
                              </p:par>
                              <p:par>
                                <p:cTn id="36" presetID="10" presetClass="entr" presetSubtype="0" fill="hold" grpId="0" nodeType="withEffect">
                                  <p:stCondLst>
                                    <p:cond delay="0"/>
                                  </p:stCondLst>
                                  <p:childTnLst>
                                    <p:animEffect transition="in" filter="fade">
                                      <p:cBhvr>
                                        <p:cTn id="37" dur="450"/>
                                        <p:tgtEl>
                                          <p:spTgt spid="19"/>
                                        </p:tgtEl>
                                      </p:cBhvr>
                                    </p:animEffect>
                                  </p:childTnLst>
                                </p:cTn>
                              </p:par>
                              <p:par>
                                <p:cTn id="38" presetID="10" presetClass="entr" presetSubtype="0" fill="hold" grpId="0" nodeType="withEffect">
                                  <p:stCondLst>
                                    <p:cond delay="0"/>
                                  </p:stCondLst>
                                  <p:childTnLst>
                                    <p:animEffect transition="in" filter="fade">
                                      <p:cBhvr>
                                        <p:cTn id="39" dur="450"/>
                                        <p:tgtEl>
                                          <p:spTgt spid="20"/>
                                        </p:tgtEl>
                                      </p:cBhvr>
                                    </p:animEffect>
                                  </p:childTnLst>
                                </p:cTn>
                              </p:par>
                              <p:par>
                                <p:cTn id="40" presetID="10" presetClass="entr" presetSubtype="0" fill="hold" grpId="0" nodeType="withEffect">
                                  <p:stCondLst>
                                    <p:cond delay="0"/>
                                  </p:stCondLst>
                                  <p:childTnLst>
                                    <p:animEffect transition="in" filter="fade">
                                      <p:cBhvr>
                                        <p:cTn id="41" dur="450"/>
                                        <p:tgtEl>
                                          <p:spTgt spid="21"/>
                                        </p:tgtEl>
                                      </p:cBhvr>
                                    </p:animEffect>
                                  </p:childTnLst>
                                </p:cTn>
                              </p:par>
                              <p:par>
                                <p:cTn id="42" presetID="10" presetClass="entr" presetSubtype="0" fill="hold" grpId="0" nodeType="withEffect">
                                  <p:stCondLst>
                                    <p:cond delay="0"/>
                                  </p:stCondLst>
                                  <p:childTnLst>
                                    <p:animEffect transition="in" filter="fade">
                                      <p:cBhvr>
                                        <p:cTn id="43"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3.xml><?xml version="1.0" encoding="utf-8"?>
<p:sld xmlns:a="http://schemas.openxmlformats.org/drawingml/2006/main" xmlns:p="http://schemas.openxmlformats.org/presentationml/2006/main">
  <p:cSld name="Slide 3">
    <p:bg>
      <p:bgPr>
        <a:solidFill>
          <a:srgbClr val="F7F4EE"/>
        </a:solidFill>
      </p:bgPr>
    </p:bg>
    <p:spTree>
      <p:nvGrpSpPr>
        <p:cNvPr id="1" name=""/>
        <p:cNvGrpSpPr/>
        <p:nvPr/>
      </p:nvGrpSpPr>
      <p:grpSpPr>
        <a:xfrm>
          <a:off x="0" y="0"/>
          <a:ext cx="0" cy="0"/>
          <a:chOff x="0" y="0"/>
          <a:chExt cx="0" cy="0"/>
        </a:xfrm>
      </p:grpSpPr>
      <p:sp>
        <p:nvSpPr>
          <p:cNvPr id="2" name="static_h"/>
          <p:cNvSpPr/>
          <p:nvPr/>
        </p:nvSpPr>
        <p:spPr>
          <a:xfrm>
            <a:off x="566928" y="256032"/>
            <a:ext cx="7680960" cy="256032"/>
          </a:xfrm>
          <a:prstGeom prst="rect">
            <a:avLst/>
          </a:prstGeom>
          <a:noFill/>
          <a:ln/>
        </p:spPr>
        <p:txBody>
          <a:bodyPr wrap="square" lIns="0" tIns="0" rIns="0" bIns="0" rtlCol="0" anchor="ctr"/>
          <a:lstStyle/>
          <a:p>
            <a:pPr indent="0" marL="0">
              <a:buNone/>
            </a:pPr>
            <a:r>
              <a:rPr lang="en-US" sz="1100" spc="220" kern="0" dirty="0">
                <a:solidFill>
                  <a:srgbClr val="6B6560"/>
                </a:solidFill>
                <a:latin typeface="Calibri" pitchFamily="34" charset="0"/>
                <a:ea typeface="Calibri" pitchFamily="34" charset="-122"/>
                <a:cs typeface="Calibri" pitchFamily="34" charset="-120"/>
              </a:rPr>
              <a:t>02  ·  OFFICIAL INDIAN SOURCES</a:t>
            </a:r>
            <a:endParaRPr lang="en-US" sz="1100" dirty="0"/>
          </a:p>
        </p:txBody>
      </p:sp>
      <p:sp>
        <p:nvSpPr>
          <p:cNvPr id="3" name="static_p"/>
          <p:cNvSpPr/>
          <p:nvPr/>
        </p:nvSpPr>
        <p:spPr>
          <a:xfrm>
            <a:off x="10161727" y="256032"/>
            <a:ext cx="1463040"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03  /  10</a:t>
            </a:r>
            <a:endParaRPr lang="en-US" sz="1100" dirty="0"/>
          </a:p>
        </p:txBody>
      </p:sp>
      <p:sp>
        <p:nvSpPr>
          <p:cNvPr id="4" name="static_rule"/>
          <p:cNvSpPr/>
          <p:nvPr/>
        </p:nvSpPr>
        <p:spPr>
          <a:xfrm>
            <a:off x="566928" y="566928"/>
            <a:ext cx="11057839" cy="13716"/>
          </a:xfrm>
          <a:prstGeom prst="rect">
            <a:avLst/>
          </a:prstGeom>
          <a:solidFill>
            <a:srgbClr val="D9D2C5"/>
          </a:solidFill>
          <a:ln/>
        </p:spPr>
      </p:sp>
      <p:sp>
        <p:nvSpPr>
          <p:cNvPr id="5" name="click_01_title"/>
          <p:cNvSpPr/>
          <p:nvPr/>
        </p:nvSpPr>
        <p:spPr>
          <a:xfrm>
            <a:off x="566928" y="713232"/>
            <a:ext cx="11057839" cy="475488"/>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The sources exist. They are not a safe answering system.</a:t>
            </a:r>
            <a:endParaRPr lang="en-US" sz="2600" dirty="0"/>
          </a:p>
        </p:txBody>
      </p:sp>
      <p:sp>
        <p:nvSpPr>
          <p:cNvPr id="6" name="static_f"/>
          <p:cNvSpPr/>
          <p:nvPr/>
        </p:nvSpPr>
        <p:spPr>
          <a:xfrm>
            <a:off x="566928" y="6528816"/>
            <a:ext cx="11057839" cy="219456"/>
          </a:xfrm>
          <a:prstGeom prst="rect">
            <a:avLst/>
          </a:prstGeom>
          <a:noFill/>
          <a:ln/>
        </p:spPr>
        <p:txBody>
          <a:bodyPr wrap="square" lIns="0" tIns="0" rIns="0" bIns="0" rtlCol="0" anchor="ctr"/>
          <a:lstStyle/>
          <a:p>
            <a:pPr indent="0" marL="0">
              <a:buNone/>
            </a:pPr>
            <a:r>
              <a:rPr lang="en-US" sz="10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000" dirty="0"/>
          </a:p>
        </p:txBody>
      </p:sp>
      <p:sp>
        <p:nvSpPr>
          <p:cNvPr id="7" name="click_02_bg"/>
          <p:cNvSpPr/>
          <p:nvPr/>
        </p:nvSpPr>
        <p:spPr>
          <a:xfrm>
            <a:off x="566928" y="1335024"/>
            <a:ext cx="3584448" cy="233172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8" name="click_02_bar"/>
          <p:cNvSpPr/>
          <p:nvPr/>
        </p:nvSpPr>
        <p:spPr>
          <a:xfrm>
            <a:off x="566928" y="1335024"/>
            <a:ext cx="73152" cy="2331720"/>
          </a:xfrm>
          <a:prstGeom prst="rect">
            <a:avLst/>
          </a:prstGeom>
          <a:solidFill>
            <a:srgbClr val="0E1A2B"/>
          </a:solidFill>
          <a:ln/>
        </p:spPr>
      </p:sp>
      <p:sp>
        <p:nvSpPr>
          <p:cNvPr id="9" name="click_02_num"/>
          <p:cNvSpPr/>
          <p:nvPr/>
        </p:nvSpPr>
        <p:spPr>
          <a:xfrm>
            <a:off x="822960" y="1481328"/>
            <a:ext cx="3108960" cy="658368"/>
          </a:xfrm>
          <a:prstGeom prst="rect">
            <a:avLst/>
          </a:prstGeom>
          <a:noFill/>
          <a:ln/>
        </p:spPr>
        <p:txBody>
          <a:bodyPr wrap="square" lIns="0" tIns="0" rIns="0" bIns="0" rtlCol="0" anchor="ctr"/>
          <a:lstStyle/>
          <a:p>
            <a:pPr indent="0" marL="0">
              <a:buNone/>
            </a:pPr>
            <a:r>
              <a:rPr lang="en-US" sz="3600" dirty="0">
                <a:solidFill>
                  <a:srgbClr val="0E1A2B"/>
                </a:solidFill>
                <a:latin typeface="Georgia" pitchFamily="34" charset="0"/>
                <a:ea typeface="Georgia" pitchFamily="34" charset="-122"/>
                <a:cs typeface="Georgia" pitchFamily="34" charset="-120"/>
              </a:rPr>
              <a:t>157</a:t>
            </a:r>
            <a:endParaRPr lang="en-US" sz="3600" dirty="0"/>
          </a:p>
        </p:txBody>
      </p:sp>
      <p:sp>
        <p:nvSpPr>
          <p:cNvPr id="10" name="click_02_lab"/>
          <p:cNvSpPr/>
          <p:nvPr/>
        </p:nvSpPr>
        <p:spPr>
          <a:xfrm>
            <a:off x="822960" y="2157984"/>
            <a:ext cx="3108960" cy="640080"/>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Standard Treatment</a:t>
            </a:r>
            <a:endParaRPr lang="en-US" sz="1600" dirty="0"/>
          </a:p>
          <a:p>
            <a:pPr indent="0" marL="0">
              <a:buNone/>
            </a:pPr>
            <a:r>
              <a:rPr lang="en-US" sz="1600" dirty="0">
                <a:solidFill>
                  <a:srgbClr val="1C1917"/>
                </a:solidFill>
                <a:latin typeface="Georgia" pitchFamily="34" charset="0"/>
                <a:ea typeface="Georgia" pitchFamily="34" charset="-122"/>
                <a:cs typeface="Georgia" pitchFamily="34" charset="-120"/>
              </a:rPr>
              <a:t>Workflows</a:t>
            </a:r>
            <a:endParaRPr lang="en-US" sz="1600" dirty="0"/>
          </a:p>
        </p:txBody>
      </p:sp>
      <p:sp>
        <p:nvSpPr>
          <p:cNvPr id="11" name="click_02_sub"/>
          <p:cNvSpPr/>
          <p:nvPr/>
        </p:nvSpPr>
        <p:spPr>
          <a:xfrm>
            <a:off x="822960" y="2834640"/>
            <a:ext cx="3108960" cy="640080"/>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ICMR + NHA + WHO  ·  NMC notice 15 Sep 2025</a:t>
            </a:r>
            <a:endParaRPr lang="en-US" sz="1200" dirty="0"/>
          </a:p>
        </p:txBody>
      </p:sp>
      <p:sp>
        <p:nvSpPr>
          <p:cNvPr id="12" name="click_03_bg"/>
          <p:cNvSpPr/>
          <p:nvPr/>
        </p:nvSpPr>
        <p:spPr>
          <a:xfrm>
            <a:off x="4297680" y="1335024"/>
            <a:ext cx="3584448" cy="233172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13" name="click_03_bar"/>
          <p:cNvSpPr/>
          <p:nvPr/>
        </p:nvSpPr>
        <p:spPr>
          <a:xfrm>
            <a:off x="4297680" y="1335024"/>
            <a:ext cx="73152" cy="2331720"/>
          </a:xfrm>
          <a:prstGeom prst="rect">
            <a:avLst/>
          </a:prstGeom>
          <a:solidFill>
            <a:srgbClr val="0E1A2B"/>
          </a:solidFill>
          <a:ln/>
        </p:spPr>
      </p:sp>
      <p:sp>
        <p:nvSpPr>
          <p:cNvPr id="14" name="click_03_num"/>
          <p:cNvSpPr/>
          <p:nvPr/>
        </p:nvSpPr>
        <p:spPr>
          <a:xfrm>
            <a:off x="4553712" y="1481328"/>
            <a:ext cx="3108960" cy="658368"/>
          </a:xfrm>
          <a:prstGeom prst="rect">
            <a:avLst/>
          </a:prstGeom>
          <a:noFill/>
          <a:ln/>
        </p:spPr>
        <p:txBody>
          <a:bodyPr wrap="square" lIns="0" tIns="0" rIns="0" bIns="0" rtlCol="0" anchor="ctr"/>
          <a:lstStyle/>
          <a:p>
            <a:pPr indent="0" marL="0">
              <a:buNone/>
            </a:pPr>
            <a:r>
              <a:rPr lang="en-US" sz="3600" dirty="0">
                <a:solidFill>
                  <a:srgbClr val="0E1A2B"/>
                </a:solidFill>
                <a:latin typeface="Georgia" pitchFamily="34" charset="0"/>
                <a:ea typeface="Georgia" pitchFamily="34" charset="-122"/>
                <a:cs typeface="Georgia" pitchFamily="34" charset="-120"/>
              </a:rPr>
              <a:t>28</a:t>
            </a:r>
            <a:endParaRPr lang="en-US" sz="3600" dirty="0"/>
          </a:p>
        </p:txBody>
      </p:sp>
      <p:sp>
        <p:nvSpPr>
          <p:cNvPr id="15" name="click_03_lab"/>
          <p:cNvSpPr/>
          <p:nvPr/>
        </p:nvSpPr>
        <p:spPr>
          <a:xfrm>
            <a:off x="4553712" y="2157984"/>
            <a:ext cx="3108960" cy="640080"/>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Specialties</a:t>
            </a:r>
            <a:endParaRPr lang="en-US" sz="1600" dirty="0"/>
          </a:p>
        </p:txBody>
      </p:sp>
      <p:sp>
        <p:nvSpPr>
          <p:cNvPr id="16" name="click_03_sub"/>
          <p:cNvSpPr/>
          <p:nvPr/>
        </p:nvSpPr>
        <p:spPr>
          <a:xfrm>
            <a:off x="4553712" y="2834640"/>
            <a:ext cx="3108960" cy="640080"/>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One-page visual workflows, not textbook chapters</a:t>
            </a:r>
            <a:endParaRPr lang="en-US" sz="1200" dirty="0"/>
          </a:p>
        </p:txBody>
      </p:sp>
      <p:sp>
        <p:nvSpPr>
          <p:cNvPr id="17" name="click_04_bg"/>
          <p:cNvSpPr/>
          <p:nvPr/>
        </p:nvSpPr>
        <p:spPr>
          <a:xfrm>
            <a:off x="8028432" y="1335024"/>
            <a:ext cx="3584448" cy="233172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18" name="click_04_bar"/>
          <p:cNvSpPr/>
          <p:nvPr/>
        </p:nvSpPr>
        <p:spPr>
          <a:xfrm>
            <a:off x="8028432" y="1335024"/>
            <a:ext cx="73152" cy="2331720"/>
          </a:xfrm>
          <a:prstGeom prst="rect">
            <a:avLst/>
          </a:prstGeom>
          <a:solidFill>
            <a:srgbClr val="0E1A2B"/>
          </a:solidFill>
          <a:ln/>
        </p:spPr>
      </p:sp>
      <p:sp>
        <p:nvSpPr>
          <p:cNvPr id="19" name="click_04_num"/>
          <p:cNvSpPr/>
          <p:nvPr/>
        </p:nvSpPr>
        <p:spPr>
          <a:xfrm>
            <a:off x="8284464" y="1481328"/>
            <a:ext cx="3108960" cy="658368"/>
          </a:xfrm>
          <a:prstGeom prst="rect">
            <a:avLst/>
          </a:prstGeom>
          <a:noFill/>
          <a:ln/>
        </p:spPr>
        <p:txBody>
          <a:bodyPr wrap="square" lIns="0" tIns="0" rIns="0" bIns="0" rtlCol="0" anchor="ctr"/>
          <a:lstStyle/>
          <a:p>
            <a:pPr indent="0" marL="0">
              <a:buNone/>
            </a:pPr>
            <a:r>
              <a:rPr lang="en-US" sz="3600" dirty="0">
                <a:solidFill>
                  <a:srgbClr val="0E1A2B"/>
                </a:solidFill>
                <a:latin typeface="Georgia" pitchFamily="34" charset="0"/>
                <a:ea typeface="Georgia" pitchFamily="34" charset="-122"/>
                <a:cs typeface="Georgia" pitchFamily="34" charset="-120"/>
              </a:rPr>
              <a:t>384</a:t>
            </a:r>
            <a:endParaRPr lang="en-US" sz="3600" dirty="0"/>
          </a:p>
        </p:txBody>
      </p:sp>
      <p:sp>
        <p:nvSpPr>
          <p:cNvPr id="20" name="click_04_lab"/>
          <p:cNvSpPr/>
          <p:nvPr/>
        </p:nvSpPr>
        <p:spPr>
          <a:xfrm>
            <a:off x="8284464" y="2157984"/>
            <a:ext cx="3108960" cy="640080"/>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NLEM 2022 medicines</a:t>
            </a:r>
            <a:endParaRPr lang="en-US" sz="1600" dirty="0"/>
          </a:p>
        </p:txBody>
      </p:sp>
      <p:sp>
        <p:nvSpPr>
          <p:cNvPr id="21" name="click_04_sub"/>
          <p:cNvSpPr/>
          <p:nvPr/>
        </p:nvSpPr>
        <p:spPr>
          <a:xfrm>
            <a:off x="8284464" y="2834640"/>
            <a:ext cx="3108960" cy="640080"/>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Launched 13 Sep 2022  ·  a PDF, not a live API</a:t>
            </a:r>
            <a:endParaRPr lang="en-US" sz="1200" dirty="0"/>
          </a:p>
        </p:txBody>
      </p:sp>
      <p:sp>
        <p:nvSpPr>
          <p:cNvPr id="22" name="click_05_bg"/>
          <p:cNvSpPr/>
          <p:nvPr/>
        </p:nvSpPr>
        <p:spPr>
          <a:xfrm>
            <a:off x="566928" y="3840480"/>
            <a:ext cx="11045952" cy="233172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23" name="click_05_bar"/>
          <p:cNvSpPr/>
          <p:nvPr/>
        </p:nvSpPr>
        <p:spPr>
          <a:xfrm>
            <a:off x="566928" y="3840480"/>
            <a:ext cx="73152" cy="2331720"/>
          </a:xfrm>
          <a:prstGeom prst="rect">
            <a:avLst/>
          </a:prstGeom>
          <a:solidFill>
            <a:srgbClr val="B8954A"/>
          </a:solidFill>
          <a:ln/>
        </p:spPr>
      </p:sp>
      <p:sp>
        <p:nvSpPr>
          <p:cNvPr id="24" name="click_05_h"/>
          <p:cNvSpPr/>
          <p:nvPr/>
        </p:nvSpPr>
        <p:spPr>
          <a:xfrm>
            <a:off x="859536" y="4005072"/>
            <a:ext cx="10424160" cy="292608"/>
          </a:xfrm>
          <a:prstGeom prst="rect">
            <a:avLst/>
          </a:prstGeom>
          <a:noFill/>
          <a:ln/>
        </p:spPr>
        <p:txBody>
          <a:bodyPr wrap="square" lIns="0" tIns="0" rIns="0" bIns="0" rtlCol="0" anchor="ctr"/>
          <a:lstStyle/>
          <a:p>
            <a:pPr indent="0" marL="0">
              <a:buNone/>
            </a:pPr>
            <a:r>
              <a:rPr lang="en-US" sz="1200" spc="110" kern="0" dirty="0">
                <a:solidFill>
                  <a:srgbClr val="B8954A"/>
                </a:solidFill>
                <a:latin typeface="Calibri" pitchFamily="34" charset="0"/>
                <a:ea typeface="Calibri" pitchFamily="34" charset="-122"/>
                <a:cs typeface="Calibri" pitchFamily="34" charset="-120"/>
              </a:rPr>
              <a:t>Also used as lookup tables</a:t>
            </a:r>
            <a:endParaRPr lang="en-US" sz="1200" dirty="0"/>
          </a:p>
        </p:txBody>
      </p:sp>
      <p:sp>
        <p:nvSpPr>
          <p:cNvPr id="25" name="click_05_t1"/>
          <p:cNvSpPr/>
          <p:nvPr/>
        </p:nvSpPr>
        <p:spPr>
          <a:xfrm>
            <a:off x="859536" y="4352544"/>
            <a:ext cx="10424160" cy="640080"/>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CDSCO monthly Not of Standard Quality (NSQ) lists — product, batch, manufacturer, test failed. Absence from this month’s list is never rendered as “safe”.</a:t>
            </a:r>
            <a:endParaRPr lang="en-US" sz="1500" dirty="0"/>
          </a:p>
        </p:txBody>
      </p:sp>
      <p:sp>
        <p:nvSpPr>
          <p:cNvPr id="26" name="click_05_t2"/>
          <p:cNvSpPr/>
          <p:nvPr/>
        </p:nvSpPr>
        <p:spPr>
          <a:xfrm>
            <a:off x="859536" y="5010912"/>
            <a:ext cx="10424160" cy="868680"/>
          </a:xfrm>
          <a:prstGeom prst="rect">
            <a:avLst/>
          </a:prstGeom>
          <a:noFill/>
          <a:ln/>
        </p:spPr>
        <p:txBody>
          <a:bodyPr wrap="square" lIns="0" tIns="0" rIns="0" bIns="0" rtlCol="0" anchor="ctr"/>
          <a:lstStyle/>
          <a:p>
            <a:pPr indent="0" marL="0">
              <a:buNone/>
            </a:pPr>
            <a:r>
              <a:rPr lang="en-US" sz="1500" dirty="0">
                <a:solidFill>
                  <a:srgbClr val="3F3A36"/>
                </a:solidFill>
                <a:latin typeface="Calibri" pitchFamily="34" charset="0"/>
                <a:ea typeface="Calibri" pitchFamily="34" charset="-122"/>
                <a:cs typeface="Calibri" pitchFamily="34" charset="-120"/>
              </a:rPr>
              <a:t>A language model can still quote these loosely, invent a drug not in the retrieved row, or treat a convolutional score as a disease name. That is the problem this project bounds.</a:t>
            </a:r>
            <a:endParaRPr lang="en-US" sz="1500" dirty="0"/>
          </a:p>
        </p:txBody>
      </p:sp>
    </p:spTree>
  </p:cSld>
  <p:clrMapOvr>
    <a:masterClrMapping/>
  </p:clrMapOvr>
  <p:transition spd="med" advClick="1">
    <p:fade/>
  </p:transition>
  <p:timing>
    <p:tnLst>
      <p:par>
        <p:cTn id="1" dur="indefinite" restart="never" nodeType="tmRoot">
          <p:childTnLst>
            <p:seq concurrent="true" nextAc="seek">
              <p:cTn id="54"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6" fill="hold">
                      <p:stCondLst>
                        <p:cond delay="indefinite"/>
                      </p:stCondLst>
                      <p:childTnLst>
                        <p:par>
                          <p:cTn id="17"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0"/>
                                        </p:tgtEl>
                                      </p:cBhvr>
                                    </p:animEffect>
                                  </p:childTnLst>
                                </p:cTn>
                              </p:par>
                              <p:par>
                                <p:cTn id="14" presetID="10" presetClass="entr" presetSubtype="0" fill="hold" grpId="0" nodeType="withEffect">
                                  <p:stCondLst>
                                    <p:cond delay="0"/>
                                  </p:stCondLst>
                                  <p:childTnLst>
                                    <p:animEffect transition="in" filter="fade">
                                      <p:cBhvr>
                                        <p:cTn id="15" dur="450"/>
                                        <p:tgtEl>
                                          <p:spTgt spid="11"/>
                                        </p:tgtEl>
                                      </p:cBhvr>
                                    </p:animEffect>
                                  </p:childTnLst>
                                </p:cTn>
                              </p:par>
                            </p:childTnLst>
                          </p:cTn>
                        </p:par>
                      </p:childTnLst>
                    </p:cTn>
                  </p:par>
                  <p:par>
                    <p:cTn id="28" fill="hold">
                      <p:stCondLst>
                        <p:cond delay="indefinite"/>
                      </p:stCondLst>
                      <p:childTnLst>
                        <p:par>
                          <p:cTn id="29" fill="hold">
                            <p:stCondLst>
                              <p:cond delay="0"/>
                            </p:stCondLst>
                            <p:childTnLst>
                              <p:par>
                                <p:cTn id="18" presetID="10" presetClass="entr" presetSubtype="0" fill="hold" grpId="0" nodeType="clickEffect">
                                  <p:stCondLst>
                                    <p:cond delay="0"/>
                                  </p:stCondLst>
                                  <p:childTnLst>
                                    <p:animEffect transition="in" filter="fade">
                                      <p:cBhvr>
                                        <p:cTn id="19" dur="450"/>
                                        <p:tgtEl>
                                          <p:spTgt spid="12"/>
                                        </p:tgtEl>
                                      </p:cBhvr>
                                    </p:animEffect>
                                  </p:childTnLst>
                                </p:cTn>
                              </p:par>
                              <p:par>
                                <p:cTn id="20" presetID="10" presetClass="entr" presetSubtype="0" fill="hold" grpId="0" nodeType="withEffect">
                                  <p:stCondLst>
                                    <p:cond delay="0"/>
                                  </p:stCondLst>
                                  <p:childTnLst>
                                    <p:animEffect transition="in" filter="fade">
                                      <p:cBhvr>
                                        <p:cTn id="21" dur="450"/>
                                        <p:tgtEl>
                                          <p:spTgt spid="13"/>
                                        </p:tgtEl>
                                      </p:cBhvr>
                                    </p:animEffect>
                                  </p:childTnLst>
                                </p:cTn>
                              </p:par>
                              <p:par>
                                <p:cTn id="22" presetID="10" presetClass="entr" presetSubtype="0" fill="hold" grpId="0" nodeType="withEffect">
                                  <p:stCondLst>
                                    <p:cond delay="0"/>
                                  </p:stCondLst>
                                  <p:childTnLst>
                                    <p:animEffect transition="in" filter="fade">
                                      <p:cBhvr>
                                        <p:cTn id="23" dur="450"/>
                                        <p:tgtEl>
                                          <p:spTgt spid="14"/>
                                        </p:tgtEl>
                                      </p:cBhvr>
                                    </p:animEffect>
                                  </p:childTnLst>
                                </p:cTn>
                              </p:par>
                              <p:par>
                                <p:cTn id="24" presetID="10" presetClass="entr" presetSubtype="0" fill="hold" grpId="0" nodeType="withEffect">
                                  <p:stCondLst>
                                    <p:cond delay="0"/>
                                  </p:stCondLst>
                                  <p:childTnLst>
                                    <p:animEffect transition="in" filter="fade">
                                      <p:cBhvr>
                                        <p:cTn id="25" dur="450"/>
                                        <p:tgtEl>
                                          <p:spTgt spid="15"/>
                                        </p:tgtEl>
                                      </p:cBhvr>
                                    </p:animEffect>
                                  </p:childTnLst>
                                </p:cTn>
                              </p:par>
                              <p:par>
                                <p:cTn id="26" presetID="10" presetClass="entr" presetSubtype="0" fill="hold" grpId="0" nodeType="withEffect">
                                  <p:stCondLst>
                                    <p:cond delay="0"/>
                                  </p:stCondLst>
                                  <p:childTnLst>
                                    <p:animEffect transition="in" filter="fade">
                                      <p:cBhvr>
                                        <p:cTn id="27"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30" presetID="10" presetClass="entr" presetSubtype="0" fill="hold" grpId="0" nodeType="clickEffect">
                                  <p:stCondLst>
                                    <p:cond delay="0"/>
                                  </p:stCondLst>
                                  <p:childTnLst>
                                    <p:animEffect transition="in" filter="fade">
                                      <p:cBhvr>
                                        <p:cTn id="31" dur="450"/>
                                        <p:tgtEl>
                                          <p:spTgt spid="17"/>
                                        </p:tgtEl>
                                      </p:cBhvr>
                                    </p:animEffect>
                                  </p:childTnLst>
                                </p:cTn>
                              </p:par>
                              <p:par>
                                <p:cTn id="32" presetID="10" presetClass="entr" presetSubtype="0" fill="hold" grpId="0" nodeType="withEffect">
                                  <p:stCondLst>
                                    <p:cond delay="0"/>
                                  </p:stCondLst>
                                  <p:childTnLst>
                                    <p:animEffect transition="in" filter="fade">
                                      <p:cBhvr>
                                        <p:cTn id="33" dur="450"/>
                                        <p:tgtEl>
                                          <p:spTgt spid="18"/>
                                        </p:tgtEl>
                                      </p:cBhvr>
                                    </p:animEffect>
                                  </p:childTnLst>
                                </p:cTn>
                              </p:par>
                              <p:par>
                                <p:cTn id="34" presetID="10" presetClass="entr" presetSubtype="0" fill="hold" grpId="0" nodeType="withEffect">
                                  <p:stCondLst>
                                    <p:cond delay="0"/>
                                  </p:stCondLst>
                                  <p:childTnLst>
                                    <p:animEffect transition="in" filter="fade">
                                      <p:cBhvr>
                                        <p:cTn id="35" dur="450"/>
                                        <p:tgtEl>
                                          <p:spTgt spid="19"/>
                                        </p:tgtEl>
                                      </p:cBhvr>
                                    </p:animEffect>
                                  </p:childTnLst>
                                </p:cTn>
                              </p:par>
                              <p:par>
                                <p:cTn id="36" presetID="10" presetClass="entr" presetSubtype="0" fill="hold" grpId="0" nodeType="withEffect">
                                  <p:stCondLst>
                                    <p:cond delay="0"/>
                                  </p:stCondLst>
                                  <p:childTnLst>
                                    <p:animEffect transition="in" filter="fade">
                                      <p:cBhvr>
                                        <p:cTn id="37" dur="450"/>
                                        <p:tgtEl>
                                          <p:spTgt spid="20"/>
                                        </p:tgtEl>
                                      </p:cBhvr>
                                    </p:animEffect>
                                  </p:childTnLst>
                                </p:cTn>
                              </p:par>
                              <p:par>
                                <p:cTn id="38" presetID="10" presetClass="entr" presetSubtype="0" fill="hold" grpId="0" nodeType="withEffect">
                                  <p:stCondLst>
                                    <p:cond delay="0"/>
                                  </p:stCondLst>
                                  <p:childTnLst>
                                    <p:animEffect transition="in" filter="fade">
                                      <p:cBhvr>
                                        <p:cTn id="39" dur="450"/>
                                        <p:tgtEl>
                                          <p:spTgt spid="21"/>
                                        </p:tgtEl>
                                      </p:cBhvr>
                                    </p:animEffect>
                                  </p:childTnLst>
                                </p:cTn>
                              </p:par>
                            </p:childTnLst>
                          </p:cTn>
                        </p:par>
                      </p:childTnLst>
                    </p:cTn>
                  </p:par>
                  <p:par>
                    <p:cTn id="52" fill="hold">
                      <p:stCondLst>
                        <p:cond delay="indefinite"/>
                      </p:stCondLst>
                      <p:childTnLst>
                        <p:par>
                          <p:cTn id="53" fill="hold">
                            <p:stCondLst>
                              <p:cond delay="0"/>
                            </p:stCondLst>
                            <p:childTnLst>
                              <p:par>
                                <p:cTn id="42" presetID="10" presetClass="entr" presetSubtype="0" fill="hold" grpId="0" nodeType="clickEffect">
                                  <p:stCondLst>
                                    <p:cond delay="0"/>
                                  </p:stCondLst>
                                  <p:childTnLst>
                                    <p:animEffect transition="in" filter="fade">
                                      <p:cBhvr>
                                        <p:cTn id="43" dur="450"/>
                                        <p:tgtEl>
                                          <p:spTgt spid="22"/>
                                        </p:tgtEl>
                                      </p:cBhvr>
                                    </p:animEffect>
                                  </p:childTnLst>
                                </p:cTn>
                              </p:par>
                              <p:par>
                                <p:cTn id="44" presetID="10" presetClass="entr" presetSubtype="0" fill="hold" grpId="0" nodeType="withEffect">
                                  <p:stCondLst>
                                    <p:cond delay="0"/>
                                  </p:stCondLst>
                                  <p:childTnLst>
                                    <p:animEffect transition="in" filter="fade">
                                      <p:cBhvr>
                                        <p:cTn id="45" dur="450"/>
                                        <p:tgtEl>
                                          <p:spTgt spid="23"/>
                                        </p:tgtEl>
                                      </p:cBhvr>
                                    </p:animEffect>
                                  </p:childTnLst>
                                </p:cTn>
                              </p:par>
                              <p:par>
                                <p:cTn id="46" presetID="10" presetClass="entr" presetSubtype="0" fill="hold" grpId="0" nodeType="withEffect">
                                  <p:stCondLst>
                                    <p:cond delay="0"/>
                                  </p:stCondLst>
                                  <p:childTnLst>
                                    <p:animEffect transition="in" filter="fade">
                                      <p:cBhvr>
                                        <p:cTn id="47" dur="450"/>
                                        <p:tgtEl>
                                          <p:spTgt spid="24"/>
                                        </p:tgtEl>
                                      </p:cBhvr>
                                    </p:animEffect>
                                  </p:childTnLst>
                                </p:cTn>
                              </p:par>
                              <p:par>
                                <p:cTn id="48" presetID="10" presetClass="entr" presetSubtype="0" fill="hold" grpId="0" nodeType="withEffect">
                                  <p:stCondLst>
                                    <p:cond delay="0"/>
                                  </p:stCondLst>
                                  <p:childTnLst>
                                    <p:animEffect transition="in" filter="fade">
                                      <p:cBhvr>
                                        <p:cTn id="49" dur="450"/>
                                        <p:tgtEl>
                                          <p:spTgt spid="25"/>
                                        </p:tgtEl>
                                      </p:cBhvr>
                                    </p:animEffect>
                                  </p:childTnLst>
                                </p:cTn>
                              </p:par>
                              <p:par>
                                <p:cTn id="50" presetID="10" presetClass="entr" presetSubtype="0" fill="hold" grpId="0" nodeType="withEffect">
                                  <p:stCondLst>
                                    <p:cond delay="0"/>
                                  </p:stCondLst>
                                  <p:childTnLst>
                                    <p:animEffect transition="in" filter="fade">
                                      <p:cBhvr>
                                        <p:cTn id="51"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Lst>
  </p:timing>
</p:sld>
</file>

<file path=ppt/slides/slide4.xml><?xml version="1.0" encoding="utf-8"?>
<p:sld xmlns:a="http://schemas.openxmlformats.org/drawingml/2006/main" xmlns:p="http://schemas.openxmlformats.org/presentationml/2006/main">
  <p:cSld name="Slide 4">
    <p:bg>
      <p:bgPr>
        <a:solidFill>
          <a:srgbClr val="F7F4EE"/>
        </a:solidFill>
      </p:bgPr>
    </p:bg>
    <p:spTree>
      <p:nvGrpSpPr>
        <p:cNvPr id="1" name=""/>
        <p:cNvGrpSpPr/>
        <p:nvPr/>
      </p:nvGrpSpPr>
      <p:grpSpPr>
        <a:xfrm>
          <a:off x="0" y="0"/>
          <a:ext cx="0" cy="0"/>
          <a:chOff x="0" y="0"/>
          <a:chExt cx="0" cy="0"/>
        </a:xfrm>
      </p:grpSpPr>
      <p:sp>
        <p:nvSpPr>
          <p:cNvPr id="2" name="static_h"/>
          <p:cNvSpPr/>
          <p:nvPr/>
        </p:nvSpPr>
        <p:spPr>
          <a:xfrm>
            <a:off x="566928" y="256032"/>
            <a:ext cx="7680960" cy="256032"/>
          </a:xfrm>
          <a:prstGeom prst="rect">
            <a:avLst/>
          </a:prstGeom>
          <a:noFill/>
          <a:ln/>
        </p:spPr>
        <p:txBody>
          <a:bodyPr wrap="square" lIns="0" tIns="0" rIns="0" bIns="0" rtlCol="0" anchor="ctr"/>
          <a:lstStyle/>
          <a:p>
            <a:pPr indent="0" marL="0">
              <a:buNone/>
            </a:pPr>
            <a:r>
              <a:rPr lang="en-US" sz="1100" spc="220" kern="0" dirty="0">
                <a:solidFill>
                  <a:srgbClr val="6B6560"/>
                </a:solidFill>
                <a:latin typeface="Calibri" pitchFamily="34" charset="0"/>
                <a:ea typeface="Calibri" pitchFamily="34" charset="-122"/>
                <a:cs typeface="Calibri" pitchFamily="34" charset="-120"/>
              </a:rPr>
              <a:t>03  ·  RESEARCH GAP</a:t>
            </a:r>
            <a:endParaRPr lang="en-US" sz="1100" dirty="0"/>
          </a:p>
        </p:txBody>
      </p:sp>
      <p:sp>
        <p:nvSpPr>
          <p:cNvPr id="3" name="static_p"/>
          <p:cNvSpPr/>
          <p:nvPr/>
        </p:nvSpPr>
        <p:spPr>
          <a:xfrm>
            <a:off x="10161727" y="256032"/>
            <a:ext cx="1463040"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04  /  10</a:t>
            </a:r>
            <a:endParaRPr lang="en-US" sz="1100" dirty="0"/>
          </a:p>
        </p:txBody>
      </p:sp>
      <p:sp>
        <p:nvSpPr>
          <p:cNvPr id="4" name="static_rule"/>
          <p:cNvSpPr/>
          <p:nvPr/>
        </p:nvSpPr>
        <p:spPr>
          <a:xfrm>
            <a:off x="566928" y="566928"/>
            <a:ext cx="11057839" cy="13716"/>
          </a:xfrm>
          <a:prstGeom prst="rect">
            <a:avLst/>
          </a:prstGeom>
          <a:solidFill>
            <a:srgbClr val="D9D2C5"/>
          </a:solidFill>
          <a:ln/>
        </p:spPr>
      </p:sp>
      <p:sp>
        <p:nvSpPr>
          <p:cNvPr id="5" name="click_01_title"/>
          <p:cNvSpPr/>
          <p:nvPr/>
        </p:nvSpPr>
        <p:spPr>
          <a:xfrm>
            <a:off x="566928" y="713232"/>
            <a:ext cx="11057839" cy="475488"/>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A bounded student gap — not a licence to practise medicine.</a:t>
            </a:r>
            <a:endParaRPr lang="en-US" sz="2600" dirty="0"/>
          </a:p>
        </p:txBody>
      </p:sp>
      <p:sp>
        <p:nvSpPr>
          <p:cNvPr id="6" name="static_f"/>
          <p:cNvSpPr/>
          <p:nvPr/>
        </p:nvSpPr>
        <p:spPr>
          <a:xfrm>
            <a:off x="566928" y="6528816"/>
            <a:ext cx="11057839" cy="219456"/>
          </a:xfrm>
          <a:prstGeom prst="rect">
            <a:avLst/>
          </a:prstGeom>
          <a:noFill/>
          <a:ln/>
        </p:spPr>
        <p:txBody>
          <a:bodyPr wrap="square" lIns="0" tIns="0" rIns="0" bIns="0" rtlCol="0" anchor="ctr"/>
          <a:lstStyle/>
          <a:p>
            <a:pPr indent="0" marL="0">
              <a:buNone/>
            </a:pPr>
            <a:r>
              <a:rPr lang="en-US" sz="10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000" dirty="0"/>
          </a:p>
        </p:txBody>
      </p:sp>
      <p:sp>
        <p:nvSpPr>
          <p:cNvPr id="7" name="click_02_bg"/>
          <p:cNvSpPr/>
          <p:nvPr/>
        </p:nvSpPr>
        <p:spPr>
          <a:xfrm>
            <a:off x="566928" y="1298448"/>
            <a:ext cx="11045952" cy="859536"/>
          </a:xfrm>
          <a:prstGeom prst="rect">
            <a:avLst/>
          </a:prstGeom>
          <a:solidFill>
            <a:srgbClr val="FFFCF7"/>
          </a:solidFill>
          <a:ln/>
          <a:effectLst>
            <a:outerShdw sx="100000" sy="100000" kx="0" ky="0" algn="bl" rotWithShape="0" blurRad="88900" dist="12700" dir="8100000">
              <a:srgbClr val="000000">
                <a:alpha val="7000"/>
              </a:srgbClr>
            </a:outerShdw>
          </a:effectLst>
        </p:spPr>
      </p:sp>
      <p:sp>
        <p:nvSpPr>
          <p:cNvPr id="8" name="click_02_bar"/>
          <p:cNvSpPr/>
          <p:nvPr/>
        </p:nvSpPr>
        <p:spPr>
          <a:xfrm>
            <a:off x="566928" y="1298448"/>
            <a:ext cx="73152" cy="859536"/>
          </a:xfrm>
          <a:prstGeom prst="rect">
            <a:avLst/>
          </a:prstGeom>
          <a:solidFill>
            <a:srgbClr val="0E1A2B"/>
          </a:solidFill>
          <a:ln/>
        </p:spPr>
      </p:sp>
      <p:sp>
        <p:nvSpPr>
          <p:cNvPr id="9" name="click_02_num"/>
          <p:cNvSpPr/>
          <p:nvPr/>
        </p:nvSpPr>
        <p:spPr>
          <a:xfrm>
            <a:off x="822960" y="1499616"/>
            <a:ext cx="640080" cy="457200"/>
          </a:xfrm>
          <a:prstGeom prst="rect">
            <a:avLst/>
          </a:prstGeom>
          <a:noFill/>
          <a:ln/>
        </p:spPr>
        <p:txBody>
          <a:bodyPr wrap="square" lIns="0" tIns="0" rIns="0" bIns="0" rtlCol="0" anchor="ctr"/>
          <a:lstStyle/>
          <a:p>
            <a:pPr indent="0" marL="0">
              <a:buNone/>
            </a:pPr>
            <a:r>
              <a:rPr lang="en-US" sz="2000" dirty="0">
                <a:solidFill>
                  <a:srgbClr val="B8954A"/>
                </a:solidFill>
                <a:latin typeface="Georgia" pitchFamily="34" charset="0"/>
                <a:ea typeface="Georgia" pitchFamily="34" charset="-122"/>
                <a:cs typeface="Georgia" pitchFamily="34" charset="-120"/>
              </a:rPr>
              <a:t>01</a:t>
            </a:r>
            <a:endParaRPr lang="en-US" sz="2000" dirty="0"/>
          </a:p>
        </p:txBody>
      </p:sp>
      <p:sp>
        <p:nvSpPr>
          <p:cNvPr id="10" name="click_02_t"/>
          <p:cNvSpPr/>
          <p:nvPr/>
        </p:nvSpPr>
        <p:spPr>
          <a:xfrm>
            <a:off x="1572768" y="1389888"/>
            <a:ext cx="9692640" cy="310896"/>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Flowchart loss</a:t>
            </a:r>
            <a:endParaRPr lang="en-US" sz="1600" dirty="0"/>
          </a:p>
        </p:txBody>
      </p:sp>
      <p:sp>
        <p:nvSpPr>
          <p:cNvPr id="11" name="click_02_d"/>
          <p:cNvSpPr/>
          <p:nvPr/>
        </p:nvSpPr>
        <p:spPr>
          <a:xfrm>
            <a:off x="1572768" y="1700784"/>
            <a:ext cx="9692640" cy="36576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ICMR STWs are diamonds and arrows. Text-chunk retrieval loses the decision.</a:t>
            </a:r>
            <a:endParaRPr lang="en-US" sz="1400" dirty="0"/>
          </a:p>
        </p:txBody>
      </p:sp>
      <p:sp>
        <p:nvSpPr>
          <p:cNvPr id="12" name="click_03_bg"/>
          <p:cNvSpPr/>
          <p:nvPr/>
        </p:nvSpPr>
        <p:spPr>
          <a:xfrm>
            <a:off x="566928" y="2258568"/>
            <a:ext cx="11045952" cy="859536"/>
          </a:xfrm>
          <a:prstGeom prst="rect">
            <a:avLst/>
          </a:prstGeom>
          <a:solidFill>
            <a:srgbClr val="FFFCF7"/>
          </a:solidFill>
          <a:ln/>
          <a:effectLst>
            <a:outerShdw sx="100000" sy="100000" kx="0" ky="0" algn="bl" rotWithShape="0" blurRad="88900" dist="12700" dir="8100000">
              <a:srgbClr val="000000">
                <a:alpha val="7000"/>
              </a:srgbClr>
            </a:outerShdw>
          </a:effectLst>
        </p:spPr>
      </p:sp>
      <p:sp>
        <p:nvSpPr>
          <p:cNvPr id="13" name="click_03_bar"/>
          <p:cNvSpPr/>
          <p:nvPr/>
        </p:nvSpPr>
        <p:spPr>
          <a:xfrm>
            <a:off x="566928" y="2258568"/>
            <a:ext cx="73152" cy="859536"/>
          </a:xfrm>
          <a:prstGeom prst="rect">
            <a:avLst/>
          </a:prstGeom>
          <a:solidFill>
            <a:srgbClr val="0E1A2B"/>
          </a:solidFill>
          <a:ln/>
        </p:spPr>
      </p:sp>
      <p:sp>
        <p:nvSpPr>
          <p:cNvPr id="14" name="click_03_num"/>
          <p:cNvSpPr/>
          <p:nvPr/>
        </p:nvSpPr>
        <p:spPr>
          <a:xfrm>
            <a:off x="822960" y="2459736"/>
            <a:ext cx="640080" cy="457200"/>
          </a:xfrm>
          <a:prstGeom prst="rect">
            <a:avLst/>
          </a:prstGeom>
          <a:noFill/>
          <a:ln/>
        </p:spPr>
        <p:txBody>
          <a:bodyPr wrap="square" lIns="0" tIns="0" rIns="0" bIns="0" rtlCol="0" anchor="ctr"/>
          <a:lstStyle/>
          <a:p>
            <a:pPr indent="0" marL="0">
              <a:buNone/>
            </a:pPr>
            <a:r>
              <a:rPr lang="en-US" sz="2000" dirty="0">
                <a:solidFill>
                  <a:srgbClr val="B8954A"/>
                </a:solidFill>
                <a:latin typeface="Georgia" pitchFamily="34" charset="0"/>
                <a:ea typeface="Georgia" pitchFamily="34" charset="-122"/>
                <a:cs typeface="Georgia" pitchFamily="34" charset="-120"/>
              </a:rPr>
              <a:t>02</a:t>
            </a:r>
            <a:endParaRPr lang="en-US" sz="2000" dirty="0"/>
          </a:p>
        </p:txBody>
      </p:sp>
      <p:sp>
        <p:nvSpPr>
          <p:cNvPr id="15" name="click_03_t"/>
          <p:cNvSpPr/>
          <p:nvPr/>
        </p:nvSpPr>
        <p:spPr>
          <a:xfrm>
            <a:off x="1572768" y="2350008"/>
            <a:ext cx="9692640" cy="310896"/>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Wrong metric</a:t>
            </a:r>
            <a:endParaRPr lang="en-US" sz="1600" dirty="0"/>
          </a:p>
        </p:txBody>
      </p:sp>
      <p:sp>
        <p:nvSpPr>
          <p:cNvPr id="16" name="click_03_d"/>
          <p:cNvSpPr/>
          <p:nvPr/>
        </p:nvSpPr>
        <p:spPr>
          <a:xfrm>
            <a:off x="1572768" y="2660904"/>
            <a:ext cx="9692640" cy="36576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CheXpert AUROC and ISIC accuracy do not score invented drugs or out-of-scope answers.</a:t>
            </a:r>
            <a:endParaRPr lang="en-US" sz="1400" dirty="0"/>
          </a:p>
        </p:txBody>
      </p:sp>
      <p:sp>
        <p:nvSpPr>
          <p:cNvPr id="17" name="click_04_bg"/>
          <p:cNvSpPr/>
          <p:nvPr/>
        </p:nvSpPr>
        <p:spPr>
          <a:xfrm>
            <a:off x="566928" y="3218688"/>
            <a:ext cx="11045952" cy="859536"/>
          </a:xfrm>
          <a:prstGeom prst="rect">
            <a:avLst/>
          </a:prstGeom>
          <a:solidFill>
            <a:srgbClr val="FFFCF7"/>
          </a:solidFill>
          <a:ln/>
          <a:effectLst>
            <a:outerShdw sx="100000" sy="100000" kx="0" ky="0" algn="bl" rotWithShape="0" blurRad="88900" dist="12700" dir="8100000">
              <a:srgbClr val="000000">
                <a:alpha val="7000"/>
              </a:srgbClr>
            </a:outerShdw>
          </a:effectLst>
        </p:spPr>
      </p:sp>
      <p:sp>
        <p:nvSpPr>
          <p:cNvPr id="18" name="click_04_bar"/>
          <p:cNvSpPr/>
          <p:nvPr/>
        </p:nvSpPr>
        <p:spPr>
          <a:xfrm>
            <a:off x="566928" y="3218688"/>
            <a:ext cx="73152" cy="859536"/>
          </a:xfrm>
          <a:prstGeom prst="rect">
            <a:avLst/>
          </a:prstGeom>
          <a:solidFill>
            <a:srgbClr val="0E1A2B"/>
          </a:solidFill>
          <a:ln/>
        </p:spPr>
      </p:sp>
      <p:sp>
        <p:nvSpPr>
          <p:cNvPr id="19" name="click_04_num"/>
          <p:cNvSpPr/>
          <p:nvPr/>
        </p:nvSpPr>
        <p:spPr>
          <a:xfrm>
            <a:off x="822960" y="3419856"/>
            <a:ext cx="640080" cy="457200"/>
          </a:xfrm>
          <a:prstGeom prst="rect">
            <a:avLst/>
          </a:prstGeom>
          <a:noFill/>
          <a:ln/>
        </p:spPr>
        <p:txBody>
          <a:bodyPr wrap="square" lIns="0" tIns="0" rIns="0" bIns="0" rtlCol="0" anchor="ctr"/>
          <a:lstStyle/>
          <a:p>
            <a:pPr indent="0" marL="0">
              <a:buNone/>
            </a:pPr>
            <a:r>
              <a:rPr lang="en-US" sz="2000" dirty="0">
                <a:solidFill>
                  <a:srgbClr val="B8954A"/>
                </a:solidFill>
                <a:latin typeface="Georgia" pitchFamily="34" charset="0"/>
                <a:ea typeface="Georgia" pitchFamily="34" charset="-122"/>
                <a:cs typeface="Georgia" pitchFamily="34" charset="-120"/>
              </a:rPr>
              <a:t>03</a:t>
            </a:r>
            <a:endParaRPr lang="en-US" sz="2000" dirty="0"/>
          </a:p>
        </p:txBody>
      </p:sp>
      <p:sp>
        <p:nvSpPr>
          <p:cNvPr id="20" name="click_04_t"/>
          <p:cNvSpPr/>
          <p:nvPr/>
        </p:nvSpPr>
        <p:spPr>
          <a:xfrm>
            <a:off x="1572768" y="3310128"/>
            <a:ext cx="9692640" cy="310896"/>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GEPA unused here</a:t>
            </a:r>
            <a:endParaRPr lang="en-US" sz="1600" dirty="0"/>
          </a:p>
        </p:txBody>
      </p:sp>
      <p:sp>
        <p:nvSpPr>
          <p:cNvPr id="21" name="click_04_d"/>
          <p:cNvSpPr/>
          <p:nvPr/>
        </p:nvSpPr>
        <p:spPr>
          <a:xfrm>
            <a:off x="1572768" y="3621024"/>
            <a:ext cx="9692640" cy="36576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GEPA is shown on math and code, not on an Indian STW abstention Pareto.</a:t>
            </a:r>
            <a:endParaRPr lang="en-US" sz="1400" dirty="0"/>
          </a:p>
        </p:txBody>
      </p:sp>
      <p:sp>
        <p:nvSpPr>
          <p:cNvPr id="22" name="click_05_bg"/>
          <p:cNvSpPr/>
          <p:nvPr/>
        </p:nvSpPr>
        <p:spPr>
          <a:xfrm>
            <a:off x="566928" y="4178808"/>
            <a:ext cx="11045952" cy="859536"/>
          </a:xfrm>
          <a:prstGeom prst="rect">
            <a:avLst/>
          </a:prstGeom>
          <a:solidFill>
            <a:srgbClr val="FFFCF7"/>
          </a:solidFill>
          <a:ln/>
          <a:effectLst>
            <a:outerShdw sx="100000" sy="100000" kx="0" ky="0" algn="bl" rotWithShape="0" blurRad="88900" dist="12700" dir="8100000">
              <a:srgbClr val="000000">
                <a:alpha val="7000"/>
              </a:srgbClr>
            </a:outerShdw>
          </a:effectLst>
        </p:spPr>
      </p:sp>
      <p:sp>
        <p:nvSpPr>
          <p:cNvPr id="23" name="click_05_bar"/>
          <p:cNvSpPr/>
          <p:nvPr/>
        </p:nvSpPr>
        <p:spPr>
          <a:xfrm>
            <a:off x="566928" y="4178808"/>
            <a:ext cx="73152" cy="859536"/>
          </a:xfrm>
          <a:prstGeom prst="rect">
            <a:avLst/>
          </a:prstGeom>
          <a:solidFill>
            <a:srgbClr val="0E1A2B"/>
          </a:solidFill>
          <a:ln/>
        </p:spPr>
      </p:sp>
      <p:sp>
        <p:nvSpPr>
          <p:cNvPr id="24" name="click_05_num"/>
          <p:cNvSpPr/>
          <p:nvPr/>
        </p:nvSpPr>
        <p:spPr>
          <a:xfrm>
            <a:off x="822960" y="4379976"/>
            <a:ext cx="640080" cy="457200"/>
          </a:xfrm>
          <a:prstGeom prst="rect">
            <a:avLst/>
          </a:prstGeom>
          <a:noFill/>
          <a:ln/>
        </p:spPr>
        <p:txBody>
          <a:bodyPr wrap="square" lIns="0" tIns="0" rIns="0" bIns="0" rtlCol="0" anchor="ctr"/>
          <a:lstStyle/>
          <a:p>
            <a:pPr indent="0" marL="0">
              <a:buNone/>
            </a:pPr>
            <a:r>
              <a:rPr lang="en-US" sz="2000" dirty="0">
                <a:solidFill>
                  <a:srgbClr val="B8954A"/>
                </a:solidFill>
                <a:latin typeface="Georgia" pitchFamily="34" charset="0"/>
                <a:ea typeface="Georgia" pitchFamily="34" charset="-122"/>
                <a:cs typeface="Georgia" pitchFamily="34" charset="-120"/>
              </a:rPr>
              <a:t>04</a:t>
            </a:r>
            <a:endParaRPr lang="en-US" sz="2000" dirty="0"/>
          </a:p>
        </p:txBody>
      </p:sp>
      <p:sp>
        <p:nvSpPr>
          <p:cNvPr id="25" name="click_05_t"/>
          <p:cNvSpPr/>
          <p:nvPr/>
        </p:nvSpPr>
        <p:spPr>
          <a:xfrm>
            <a:off x="1572768" y="4270248"/>
            <a:ext cx="9692640" cy="310896"/>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ICL always talks</a:t>
            </a:r>
            <a:endParaRPr lang="en-US" sz="1600" dirty="0"/>
          </a:p>
        </p:txBody>
      </p:sp>
      <p:sp>
        <p:nvSpPr>
          <p:cNvPr id="26" name="click_05_d"/>
          <p:cNvSpPr/>
          <p:nvPr/>
        </p:nvSpPr>
        <p:spPr>
          <a:xfrm>
            <a:off x="1572768" y="4581144"/>
            <a:ext cx="9692640" cy="36576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Standard neighbours are answered items. Near-miss refusals are rarely first-class demonstrations.</a:t>
            </a:r>
            <a:endParaRPr lang="en-US" sz="1400" dirty="0"/>
          </a:p>
        </p:txBody>
      </p:sp>
      <p:sp>
        <p:nvSpPr>
          <p:cNvPr id="27" name="click_06_bg"/>
          <p:cNvSpPr/>
          <p:nvPr/>
        </p:nvSpPr>
        <p:spPr>
          <a:xfrm>
            <a:off x="566928" y="5138928"/>
            <a:ext cx="11045952" cy="859536"/>
          </a:xfrm>
          <a:prstGeom prst="rect">
            <a:avLst/>
          </a:prstGeom>
          <a:solidFill>
            <a:srgbClr val="FFFCF7"/>
          </a:solidFill>
          <a:ln/>
          <a:effectLst>
            <a:outerShdw sx="100000" sy="100000" kx="0" ky="0" algn="bl" rotWithShape="0" blurRad="88900" dist="12700" dir="8100000">
              <a:srgbClr val="000000">
                <a:alpha val="7000"/>
              </a:srgbClr>
            </a:outerShdw>
          </a:effectLst>
        </p:spPr>
      </p:sp>
      <p:sp>
        <p:nvSpPr>
          <p:cNvPr id="28" name="click_06_bar"/>
          <p:cNvSpPr/>
          <p:nvPr/>
        </p:nvSpPr>
        <p:spPr>
          <a:xfrm>
            <a:off x="566928" y="5138928"/>
            <a:ext cx="73152" cy="859536"/>
          </a:xfrm>
          <a:prstGeom prst="rect">
            <a:avLst/>
          </a:prstGeom>
          <a:solidFill>
            <a:srgbClr val="0E1A2B"/>
          </a:solidFill>
          <a:ln/>
        </p:spPr>
      </p:sp>
      <p:sp>
        <p:nvSpPr>
          <p:cNvPr id="29" name="click_06_num"/>
          <p:cNvSpPr/>
          <p:nvPr/>
        </p:nvSpPr>
        <p:spPr>
          <a:xfrm>
            <a:off x="822960" y="5340096"/>
            <a:ext cx="640080" cy="457200"/>
          </a:xfrm>
          <a:prstGeom prst="rect">
            <a:avLst/>
          </a:prstGeom>
          <a:noFill/>
          <a:ln/>
        </p:spPr>
        <p:txBody>
          <a:bodyPr wrap="square" lIns="0" tIns="0" rIns="0" bIns="0" rtlCol="0" anchor="ctr"/>
          <a:lstStyle/>
          <a:p>
            <a:pPr indent="0" marL="0">
              <a:buNone/>
            </a:pPr>
            <a:r>
              <a:rPr lang="en-US" sz="2000" dirty="0">
                <a:solidFill>
                  <a:srgbClr val="B8954A"/>
                </a:solidFill>
                <a:latin typeface="Georgia" pitchFamily="34" charset="0"/>
                <a:ea typeface="Georgia" pitchFamily="34" charset="-122"/>
                <a:cs typeface="Georgia" pitchFamily="34" charset="-120"/>
              </a:rPr>
              <a:t>05</a:t>
            </a:r>
            <a:endParaRPr lang="en-US" sz="2000" dirty="0"/>
          </a:p>
        </p:txBody>
      </p:sp>
      <p:sp>
        <p:nvSpPr>
          <p:cNvPr id="30" name="click_06_t"/>
          <p:cNvSpPr/>
          <p:nvPr/>
        </p:nvSpPr>
        <p:spPr>
          <a:xfrm>
            <a:off x="1572768" y="5230368"/>
            <a:ext cx="9692640" cy="310896"/>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Agent swarm</a:t>
            </a:r>
            <a:endParaRPr lang="en-US" sz="1600" dirty="0"/>
          </a:p>
        </p:txBody>
      </p:sp>
      <p:sp>
        <p:nvSpPr>
          <p:cNvPr id="31" name="click_06_d"/>
          <p:cNvSpPr/>
          <p:nvPr/>
        </p:nvSpPr>
        <p:spPr>
          <a:xfrm>
            <a:off x="1572768" y="5541264"/>
            <a:ext cx="9692640" cy="36576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Unbounded “specialist doctors” are not evaluable in a B.Tech setting.</a:t>
            </a:r>
            <a:endParaRPr lang="en-US" sz="1400" dirty="0"/>
          </a:p>
        </p:txBody>
      </p:sp>
    </p:spTree>
  </p:cSld>
  <p:clrMapOvr>
    <a:masterClrMapping/>
  </p:clrMapOvr>
  <p:transition spd="med" advClick="1">
    <p:fade/>
  </p:transition>
  <p:timing>
    <p:tnLst>
      <p:par>
        <p:cTn id="1" dur="indefinite" restart="never" nodeType="tmRoot">
          <p:childTnLst>
            <p:seq concurrent="true" nextAc="seek">
              <p:cTn id="66"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6" fill="hold">
                      <p:stCondLst>
                        <p:cond delay="indefinite"/>
                      </p:stCondLst>
                      <p:childTnLst>
                        <p:par>
                          <p:cTn id="17"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0"/>
                                        </p:tgtEl>
                                      </p:cBhvr>
                                    </p:animEffect>
                                  </p:childTnLst>
                                </p:cTn>
                              </p:par>
                              <p:par>
                                <p:cTn id="14" presetID="10" presetClass="entr" presetSubtype="0" fill="hold" grpId="0" nodeType="withEffect">
                                  <p:stCondLst>
                                    <p:cond delay="0"/>
                                  </p:stCondLst>
                                  <p:childTnLst>
                                    <p:animEffect transition="in" filter="fade">
                                      <p:cBhvr>
                                        <p:cTn id="15" dur="450"/>
                                        <p:tgtEl>
                                          <p:spTgt spid="11"/>
                                        </p:tgtEl>
                                      </p:cBhvr>
                                    </p:animEffect>
                                  </p:childTnLst>
                                </p:cTn>
                              </p:par>
                            </p:childTnLst>
                          </p:cTn>
                        </p:par>
                      </p:childTnLst>
                    </p:cTn>
                  </p:par>
                  <p:par>
                    <p:cTn id="28" fill="hold">
                      <p:stCondLst>
                        <p:cond delay="indefinite"/>
                      </p:stCondLst>
                      <p:childTnLst>
                        <p:par>
                          <p:cTn id="29" fill="hold">
                            <p:stCondLst>
                              <p:cond delay="0"/>
                            </p:stCondLst>
                            <p:childTnLst>
                              <p:par>
                                <p:cTn id="18" presetID="10" presetClass="entr" presetSubtype="0" fill="hold" grpId="0" nodeType="clickEffect">
                                  <p:stCondLst>
                                    <p:cond delay="0"/>
                                  </p:stCondLst>
                                  <p:childTnLst>
                                    <p:animEffect transition="in" filter="fade">
                                      <p:cBhvr>
                                        <p:cTn id="19" dur="450"/>
                                        <p:tgtEl>
                                          <p:spTgt spid="12"/>
                                        </p:tgtEl>
                                      </p:cBhvr>
                                    </p:animEffect>
                                  </p:childTnLst>
                                </p:cTn>
                              </p:par>
                              <p:par>
                                <p:cTn id="20" presetID="10" presetClass="entr" presetSubtype="0" fill="hold" grpId="0" nodeType="withEffect">
                                  <p:stCondLst>
                                    <p:cond delay="0"/>
                                  </p:stCondLst>
                                  <p:childTnLst>
                                    <p:animEffect transition="in" filter="fade">
                                      <p:cBhvr>
                                        <p:cTn id="21" dur="450"/>
                                        <p:tgtEl>
                                          <p:spTgt spid="13"/>
                                        </p:tgtEl>
                                      </p:cBhvr>
                                    </p:animEffect>
                                  </p:childTnLst>
                                </p:cTn>
                              </p:par>
                              <p:par>
                                <p:cTn id="22" presetID="10" presetClass="entr" presetSubtype="0" fill="hold" grpId="0" nodeType="withEffect">
                                  <p:stCondLst>
                                    <p:cond delay="0"/>
                                  </p:stCondLst>
                                  <p:childTnLst>
                                    <p:animEffect transition="in" filter="fade">
                                      <p:cBhvr>
                                        <p:cTn id="23" dur="450"/>
                                        <p:tgtEl>
                                          <p:spTgt spid="14"/>
                                        </p:tgtEl>
                                      </p:cBhvr>
                                    </p:animEffect>
                                  </p:childTnLst>
                                </p:cTn>
                              </p:par>
                              <p:par>
                                <p:cTn id="24" presetID="10" presetClass="entr" presetSubtype="0" fill="hold" grpId="0" nodeType="withEffect">
                                  <p:stCondLst>
                                    <p:cond delay="0"/>
                                  </p:stCondLst>
                                  <p:childTnLst>
                                    <p:animEffect transition="in" filter="fade">
                                      <p:cBhvr>
                                        <p:cTn id="25" dur="450"/>
                                        <p:tgtEl>
                                          <p:spTgt spid="15"/>
                                        </p:tgtEl>
                                      </p:cBhvr>
                                    </p:animEffect>
                                  </p:childTnLst>
                                </p:cTn>
                              </p:par>
                              <p:par>
                                <p:cTn id="26" presetID="10" presetClass="entr" presetSubtype="0" fill="hold" grpId="0" nodeType="withEffect">
                                  <p:stCondLst>
                                    <p:cond delay="0"/>
                                  </p:stCondLst>
                                  <p:childTnLst>
                                    <p:animEffect transition="in" filter="fade">
                                      <p:cBhvr>
                                        <p:cTn id="27"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30" presetID="10" presetClass="entr" presetSubtype="0" fill="hold" grpId="0" nodeType="clickEffect">
                                  <p:stCondLst>
                                    <p:cond delay="0"/>
                                  </p:stCondLst>
                                  <p:childTnLst>
                                    <p:animEffect transition="in" filter="fade">
                                      <p:cBhvr>
                                        <p:cTn id="31" dur="450"/>
                                        <p:tgtEl>
                                          <p:spTgt spid="17"/>
                                        </p:tgtEl>
                                      </p:cBhvr>
                                    </p:animEffect>
                                  </p:childTnLst>
                                </p:cTn>
                              </p:par>
                              <p:par>
                                <p:cTn id="32" presetID="10" presetClass="entr" presetSubtype="0" fill="hold" grpId="0" nodeType="withEffect">
                                  <p:stCondLst>
                                    <p:cond delay="0"/>
                                  </p:stCondLst>
                                  <p:childTnLst>
                                    <p:animEffect transition="in" filter="fade">
                                      <p:cBhvr>
                                        <p:cTn id="33" dur="450"/>
                                        <p:tgtEl>
                                          <p:spTgt spid="18"/>
                                        </p:tgtEl>
                                      </p:cBhvr>
                                    </p:animEffect>
                                  </p:childTnLst>
                                </p:cTn>
                              </p:par>
                              <p:par>
                                <p:cTn id="34" presetID="10" presetClass="entr" presetSubtype="0" fill="hold" grpId="0" nodeType="withEffect">
                                  <p:stCondLst>
                                    <p:cond delay="0"/>
                                  </p:stCondLst>
                                  <p:childTnLst>
                                    <p:animEffect transition="in" filter="fade">
                                      <p:cBhvr>
                                        <p:cTn id="35" dur="450"/>
                                        <p:tgtEl>
                                          <p:spTgt spid="19"/>
                                        </p:tgtEl>
                                      </p:cBhvr>
                                    </p:animEffect>
                                  </p:childTnLst>
                                </p:cTn>
                              </p:par>
                              <p:par>
                                <p:cTn id="36" presetID="10" presetClass="entr" presetSubtype="0" fill="hold" grpId="0" nodeType="withEffect">
                                  <p:stCondLst>
                                    <p:cond delay="0"/>
                                  </p:stCondLst>
                                  <p:childTnLst>
                                    <p:animEffect transition="in" filter="fade">
                                      <p:cBhvr>
                                        <p:cTn id="37" dur="450"/>
                                        <p:tgtEl>
                                          <p:spTgt spid="20"/>
                                        </p:tgtEl>
                                      </p:cBhvr>
                                    </p:animEffect>
                                  </p:childTnLst>
                                </p:cTn>
                              </p:par>
                              <p:par>
                                <p:cTn id="38" presetID="10" presetClass="entr" presetSubtype="0" fill="hold" grpId="0" nodeType="withEffect">
                                  <p:stCondLst>
                                    <p:cond delay="0"/>
                                  </p:stCondLst>
                                  <p:childTnLst>
                                    <p:animEffect transition="in" filter="fade">
                                      <p:cBhvr>
                                        <p:cTn id="39" dur="450"/>
                                        <p:tgtEl>
                                          <p:spTgt spid="21"/>
                                        </p:tgtEl>
                                      </p:cBhvr>
                                    </p:animEffect>
                                  </p:childTnLst>
                                </p:cTn>
                              </p:par>
                            </p:childTnLst>
                          </p:cTn>
                        </p:par>
                      </p:childTnLst>
                    </p:cTn>
                  </p:par>
                  <p:par>
                    <p:cTn id="52" fill="hold">
                      <p:stCondLst>
                        <p:cond delay="indefinite"/>
                      </p:stCondLst>
                      <p:childTnLst>
                        <p:par>
                          <p:cTn id="53" fill="hold">
                            <p:stCondLst>
                              <p:cond delay="0"/>
                            </p:stCondLst>
                            <p:childTnLst>
                              <p:par>
                                <p:cTn id="42" presetID="10" presetClass="entr" presetSubtype="0" fill="hold" grpId="0" nodeType="clickEffect">
                                  <p:stCondLst>
                                    <p:cond delay="0"/>
                                  </p:stCondLst>
                                  <p:childTnLst>
                                    <p:animEffect transition="in" filter="fade">
                                      <p:cBhvr>
                                        <p:cTn id="43" dur="450"/>
                                        <p:tgtEl>
                                          <p:spTgt spid="22"/>
                                        </p:tgtEl>
                                      </p:cBhvr>
                                    </p:animEffect>
                                  </p:childTnLst>
                                </p:cTn>
                              </p:par>
                              <p:par>
                                <p:cTn id="44" presetID="10" presetClass="entr" presetSubtype="0" fill="hold" grpId="0" nodeType="withEffect">
                                  <p:stCondLst>
                                    <p:cond delay="0"/>
                                  </p:stCondLst>
                                  <p:childTnLst>
                                    <p:animEffect transition="in" filter="fade">
                                      <p:cBhvr>
                                        <p:cTn id="45" dur="450"/>
                                        <p:tgtEl>
                                          <p:spTgt spid="23"/>
                                        </p:tgtEl>
                                      </p:cBhvr>
                                    </p:animEffect>
                                  </p:childTnLst>
                                </p:cTn>
                              </p:par>
                              <p:par>
                                <p:cTn id="46" presetID="10" presetClass="entr" presetSubtype="0" fill="hold" grpId="0" nodeType="withEffect">
                                  <p:stCondLst>
                                    <p:cond delay="0"/>
                                  </p:stCondLst>
                                  <p:childTnLst>
                                    <p:animEffect transition="in" filter="fade">
                                      <p:cBhvr>
                                        <p:cTn id="47" dur="450"/>
                                        <p:tgtEl>
                                          <p:spTgt spid="24"/>
                                        </p:tgtEl>
                                      </p:cBhvr>
                                    </p:animEffect>
                                  </p:childTnLst>
                                </p:cTn>
                              </p:par>
                              <p:par>
                                <p:cTn id="48" presetID="10" presetClass="entr" presetSubtype="0" fill="hold" grpId="0" nodeType="withEffect">
                                  <p:stCondLst>
                                    <p:cond delay="0"/>
                                  </p:stCondLst>
                                  <p:childTnLst>
                                    <p:animEffect transition="in" filter="fade">
                                      <p:cBhvr>
                                        <p:cTn id="49" dur="450"/>
                                        <p:tgtEl>
                                          <p:spTgt spid="25"/>
                                        </p:tgtEl>
                                      </p:cBhvr>
                                    </p:animEffect>
                                  </p:childTnLst>
                                </p:cTn>
                              </p:par>
                              <p:par>
                                <p:cTn id="50" presetID="10" presetClass="entr" presetSubtype="0" fill="hold" grpId="0" nodeType="withEffect">
                                  <p:stCondLst>
                                    <p:cond delay="0"/>
                                  </p:stCondLst>
                                  <p:childTnLst>
                                    <p:animEffect transition="in" filter="fade">
                                      <p:cBhvr>
                                        <p:cTn id="51" dur="450"/>
                                        <p:tgtEl>
                                          <p:spTgt spid="26"/>
                                        </p:tgtEl>
                                      </p:cBhvr>
                                    </p:animEffect>
                                  </p:childTnLst>
                                </p:cTn>
                              </p:par>
                            </p:childTnLst>
                          </p:cTn>
                        </p:par>
                      </p:childTnLst>
                    </p:cTn>
                  </p:par>
                  <p:par>
                    <p:cTn id="64" fill="hold">
                      <p:stCondLst>
                        <p:cond delay="indefinite"/>
                      </p:stCondLst>
                      <p:childTnLst>
                        <p:par>
                          <p:cTn id="65" fill="hold">
                            <p:stCondLst>
                              <p:cond delay="0"/>
                            </p:stCondLst>
                            <p:childTnLst>
                              <p:par>
                                <p:cTn id="54" presetID="10" presetClass="entr" presetSubtype="0" fill="hold" grpId="0" nodeType="clickEffect">
                                  <p:stCondLst>
                                    <p:cond delay="0"/>
                                  </p:stCondLst>
                                  <p:childTnLst>
                                    <p:animEffect transition="in" filter="fade">
                                      <p:cBhvr>
                                        <p:cTn id="55" dur="450"/>
                                        <p:tgtEl>
                                          <p:spTgt spid="27"/>
                                        </p:tgtEl>
                                      </p:cBhvr>
                                    </p:animEffect>
                                  </p:childTnLst>
                                </p:cTn>
                              </p:par>
                              <p:par>
                                <p:cTn id="56" presetID="10" presetClass="entr" presetSubtype="0" fill="hold" grpId="0" nodeType="withEffect">
                                  <p:stCondLst>
                                    <p:cond delay="0"/>
                                  </p:stCondLst>
                                  <p:childTnLst>
                                    <p:animEffect transition="in" filter="fade">
                                      <p:cBhvr>
                                        <p:cTn id="57" dur="450"/>
                                        <p:tgtEl>
                                          <p:spTgt spid="28"/>
                                        </p:tgtEl>
                                      </p:cBhvr>
                                    </p:animEffect>
                                  </p:childTnLst>
                                </p:cTn>
                              </p:par>
                              <p:par>
                                <p:cTn id="58" presetID="10" presetClass="entr" presetSubtype="0" fill="hold" grpId="0" nodeType="withEffect">
                                  <p:stCondLst>
                                    <p:cond delay="0"/>
                                  </p:stCondLst>
                                  <p:childTnLst>
                                    <p:animEffect transition="in" filter="fade">
                                      <p:cBhvr>
                                        <p:cTn id="59" dur="450"/>
                                        <p:tgtEl>
                                          <p:spTgt spid="29"/>
                                        </p:tgtEl>
                                      </p:cBhvr>
                                    </p:animEffect>
                                  </p:childTnLst>
                                </p:cTn>
                              </p:par>
                              <p:par>
                                <p:cTn id="60" presetID="10" presetClass="entr" presetSubtype="0" fill="hold" grpId="0" nodeType="withEffect">
                                  <p:stCondLst>
                                    <p:cond delay="0"/>
                                  </p:stCondLst>
                                  <p:childTnLst>
                                    <p:animEffect transition="in" filter="fade">
                                      <p:cBhvr>
                                        <p:cTn id="61" dur="450"/>
                                        <p:tgtEl>
                                          <p:spTgt spid="30"/>
                                        </p:tgtEl>
                                      </p:cBhvr>
                                    </p:animEffect>
                                  </p:childTnLst>
                                </p:cTn>
                              </p:par>
                              <p:par>
                                <p:cTn id="62" presetID="10" presetClass="entr" presetSubtype="0" fill="hold" grpId="0" nodeType="withEffect">
                                  <p:stCondLst>
                                    <p:cond delay="0"/>
                                  </p:stCondLst>
                                  <p:childTnLst>
                                    <p:animEffect transition="in" filter="fade">
                                      <p:cBhvr>
                                        <p:cTn id="63"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Lst>
  </p:timing>
</p:sld>
</file>

<file path=ppt/slides/slide5.xml><?xml version="1.0" encoding="utf-8"?>
<p:sld xmlns:a="http://schemas.openxmlformats.org/drawingml/2006/main" xmlns:p="http://schemas.openxmlformats.org/presentationml/2006/main">
  <p:cSld name="Slide 5">
    <p:bg>
      <p:bgPr>
        <a:solidFill>
          <a:srgbClr val="F7F4EE"/>
        </a:solidFill>
      </p:bgPr>
    </p:bg>
    <p:spTree>
      <p:nvGrpSpPr>
        <p:cNvPr id="1" name=""/>
        <p:cNvGrpSpPr/>
        <p:nvPr/>
      </p:nvGrpSpPr>
      <p:grpSpPr>
        <a:xfrm>
          <a:off x="0" y="0"/>
          <a:ext cx="0" cy="0"/>
          <a:chOff x="0" y="0"/>
          <a:chExt cx="0" cy="0"/>
        </a:xfrm>
      </p:grpSpPr>
      <p:sp>
        <p:nvSpPr>
          <p:cNvPr id="2" name="static_h"/>
          <p:cNvSpPr/>
          <p:nvPr/>
        </p:nvSpPr>
        <p:spPr>
          <a:xfrm>
            <a:off x="566928" y="256032"/>
            <a:ext cx="7680960" cy="256032"/>
          </a:xfrm>
          <a:prstGeom prst="rect">
            <a:avLst/>
          </a:prstGeom>
          <a:noFill/>
          <a:ln/>
        </p:spPr>
        <p:txBody>
          <a:bodyPr wrap="square" lIns="0" tIns="0" rIns="0" bIns="0" rtlCol="0" anchor="ctr"/>
          <a:lstStyle/>
          <a:p>
            <a:pPr indent="0" marL="0">
              <a:buNone/>
            </a:pPr>
            <a:r>
              <a:rPr lang="en-US" sz="1100" spc="220" kern="0" dirty="0">
                <a:solidFill>
                  <a:srgbClr val="6B6560"/>
                </a:solidFill>
                <a:latin typeface="Calibri" pitchFamily="34" charset="0"/>
                <a:ea typeface="Calibri" pitchFamily="34" charset="-122"/>
                <a:cs typeface="Calibri" pitchFamily="34" charset="-120"/>
              </a:rPr>
              <a:t>04  ·  PROPOSED SYSTEM</a:t>
            </a:r>
            <a:endParaRPr lang="en-US" sz="1100" dirty="0"/>
          </a:p>
        </p:txBody>
      </p:sp>
      <p:sp>
        <p:nvSpPr>
          <p:cNvPr id="3" name="static_p"/>
          <p:cNvSpPr/>
          <p:nvPr/>
        </p:nvSpPr>
        <p:spPr>
          <a:xfrm>
            <a:off x="10161727" y="256032"/>
            <a:ext cx="1463040"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05  /  10</a:t>
            </a:r>
            <a:endParaRPr lang="en-US" sz="1100" dirty="0"/>
          </a:p>
        </p:txBody>
      </p:sp>
      <p:sp>
        <p:nvSpPr>
          <p:cNvPr id="4" name="static_rule"/>
          <p:cNvSpPr/>
          <p:nvPr/>
        </p:nvSpPr>
        <p:spPr>
          <a:xfrm>
            <a:off x="566928" y="566928"/>
            <a:ext cx="11057839" cy="13716"/>
          </a:xfrm>
          <a:prstGeom prst="rect">
            <a:avLst/>
          </a:prstGeom>
          <a:solidFill>
            <a:srgbClr val="D9D2C5"/>
          </a:solidFill>
          <a:ln/>
        </p:spPr>
      </p:sp>
      <p:sp>
        <p:nvSpPr>
          <p:cNvPr id="5" name="click_01_title"/>
          <p:cNvSpPr/>
          <p:nvPr/>
        </p:nvSpPr>
        <p:spPr>
          <a:xfrm>
            <a:off x="566928" y="713232"/>
            <a:ext cx="11057839" cy="475488"/>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Named tools only. Then a sentence an official span entails.</a:t>
            </a:r>
            <a:endParaRPr lang="en-US" sz="2600" dirty="0"/>
          </a:p>
        </p:txBody>
      </p:sp>
      <p:sp>
        <p:nvSpPr>
          <p:cNvPr id="6" name="static_f"/>
          <p:cNvSpPr/>
          <p:nvPr/>
        </p:nvSpPr>
        <p:spPr>
          <a:xfrm>
            <a:off x="566928" y="6528816"/>
            <a:ext cx="11057839" cy="219456"/>
          </a:xfrm>
          <a:prstGeom prst="rect">
            <a:avLst/>
          </a:prstGeom>
          <a:noFill/>
          <a:ln/>
        </p:spPr>
        <p:txBody>
          <a:bodyPr wrap="square" lIns="0" tIns="0" rIns="0" bIns="0" rtlCol="0" anchor="ctr"/>
          <a:lstStyle/>
          <a:p>
            <a:pPr indent="0" marL="0">
              <a:buNone/>
            </a:pPr>
            <a:r>
              <a:rPr lang="en-US" sz="10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000" dirty="0"/>
          </a:p>
        </p:txBody>
      </p:sp>
      <p:sp>
        <p:nvSpPr>
          <p:cNvPr id="7" name="click_02_bg"/>
          <p:cNvSpPr/>
          <p:nvPr/>
        </p:nvSpPr>
        <p:spPr>
          <a:xfrm>
            <a:off x="566928" y="1335024"/>
            <a:ext cx="3584448" cy="352044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8" name="click_02_bar"/>
          <p:cNvSpPr/>
          <p:nvPr/>
        </p:nvSpPr>
        <p:spPr>
          <a:xfrm>
            <a:off x="566928" y="1335024"/>
            <a:ext cx="73152" cy="3520440"/>
          </a:xfrm>
          <a:prstGeom prst="rect">
            <a:avLst/>
          </a:prstGeom>
          <a:solidFill>
            <a:srgbClr val="0E1A2B"/>
          </a:solidFill>
          <a:ln/>
        </p:spPr>
      </p:sp>
      <p:sp>
        <p:nvSpPr>
          <p:cNvPr id="9" name="click_02_k"/>
          <p:cNvSpPr/>
          <p:nvPr/>
        </p:nvSpPr>
        <p:spPr>
          <a:xfrm>
            <a:off x="822960" y="1499616"/>
            <a:ext cx="3108960" cy="256032"/>
          </a:xfrm>
          <a:prstGeom prst="rect">
            <a:avLst/>
          </a:prstGeom>
          <a:noFill/>
          <a:ln/>
        </p:spPr>
        <p:txBody>
          <a:bodyPr wrap="square" lIns="0" tIns="0" rIns="0" bIns="0" rtlCol="0" anchor="ctr"/>
          <a:lstStyle/>
          <a:p>
            <a:pPr indent="0" marL="0">
              <a:buNone/>
            </a:pPr>
            <a:r>
              <a:rPr lang="en-US" sz="1100" spc="130" kern="0" dirty="0">
                <a:solidFill>
                  <a:srgbClr val="B8954A"/>
                </a:solidFill>
                <a:latin typeface="Calibri" pitchFamily="34" charset="0"/>
                <a:ea typeface="Calibri" pitchFamily="34" charset="-122"/>
                <a:cs typeface="Calibri" pitchFamily="34" charset="-120"/>
              </a:rPr>
              <a:t>TOOLS</a:t>
            </a:r>
            <a:endParaRPr lang="en-US" sz="1100" dirty="0"/>
          </a:p>
        </p:txBody>
      </p:sp>
      <p:sp>
        <p:nvSpPr>
          <p:cNvPr id="10" name="click_02_h"/>
          <p:cNvSpPr/>
          <p:nvPr/>
        </p:nvSpPr>
        <p:spPr>
          <a:xfrm>
            <a:off x="822960" y="1828800"/>
            <a:ext cx="3108960" cy="640080"/>
          </a:xfrm>
          <a:prstGeom prst="rect">
            <a:avLst/>
          </a:prstGeom>
          <a:noFill/>
          <a:ln/>
        </p:spPr>
        <p:txBody>
          <a:bodyPr wrap="square" lIns="0" tIns="0" rIns="0" bIns="0" rtlCol="0" anchor="ctr"/>
          <a:lstStyle/>
          <a:p>
            <a:pPr indent="0" marL="0">
              <a:buNone/>
            </a:pPr>
            <a:r>
              <a:rPr lang="en-US" sz="1800" dirty="0">
                <a:solidFill>
                  <a:srgbClr val="1C1917"/>
                </a:solidFill>
                <a:latin typeface="Georgia" pitchFamily="34" charset="0"/>
                <a:ea typeface="Georgia" pitchFamily="34" charset="-122"/>
                <a:cs typeface="Georgia" pitchFamily="34" charset="-120"/>
              </a:rPr>
              <a:t>Frozen JSON functions</a:t>
            </a:r>
            <a:endParaRPr lang="en-US" sz="1800" dirty="0"/>
          </a:p>
        </p:txBody>
      </p:sp>
      <p:sp>
        <p:nvSpPr>
          <p:cNvPr id="11" name="click_02_t"/>
          <p:cNvSpPr/>
          <p:nvPr/>
        </p:nvSpPr>
        <p:spPr>
          <a:xfrm>
            <a:off x="822960" y="2542032"/>
            <a:ext cx="3108960" cy="201168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Each specialist is a function with a schema. The host executes it. Extra tools later join the same contract — they do not become chatting agents.</a:t>
            </a:r>
            <a:endParaRPr lang="en-US" sz="1400" dirty="0"/>
          </a:p>
        </p:txBody>
      </p:sp>
      <p:sp>
        <p:nvSpPr>
          <p:cNvPr id="12" name="click_03_bg"/>
          <p:cNvSpPr/>
          <p:nvPr/>
        </p:nvSpPr>
        <p:spPr>
          <a:xfrm>
            <a:off x="4297680" y="1335024"/>
            <a:ext cx="3584448" cy="352044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13" name="click_03_bar"/>
          <p:cNvSpPr/>
          <p:nvPr/>
        </p:nvSpPr>
        <p:spPr>
          <a:xfrm>
            <a:off x="4297680" y="1335024"/>
            <a:ext cx="73152" cy="3520440"/>
          </a:xfrm>
          <a:prstGeom prst="rect">
            <a:avLst/>
          </a:prstGeom>
          <a:solidFill>
            <a:srgbClr val="0E1A2B"/>
          </a:solidFill>
          <a:ln/>
        </p:spPr>
      </p:sp>
      <p:sp>
        <p:nvSpPr>
          <p:cNvPr id="14" name="click_03_k"/>
          <p:cNvSpPr/>
          <p:nvPr/>
        </p:nvSpPr>
        <p:spPr>
          <a:xfrm>
            <a:off x="4553712" y="1499616"/>
            <a:ext cx="3108960" cy="256032"/>
          </a:xfrm>
          <a:prstGeom prst="rect">
            <a:avLst/>
          </a:prstGeom>
          <a:noFill/>
          <a:ln/>
        </p:spPr>
        <p:txBody>
          <a:bodyPr wrap="square" lIns="0" tIns="0" rIns="0" bIns="0" rtlCol="0" anchor="ctr"/>
          <a:lstStyle/>
          <a:p>
            <a:pPr indent="0" marL="0">
              <a:buNone/>
            </a:pPr>
            <a:r>
              <a:rPr lang="en-US" sz="1100" spc="130" kern="0" dirty="0">
                <a:solidFill>
                  <a:srgbClr val="B8954A"/>
                </a:solidFill>
                <a:latin typeface="Calibri" pitchFamily="34" charset="0"/>
                <a:ea typeface="Calibri" pitchFamily="34" charset="-122"/>
                <a:cs typeface="Calibri" pitchFamily="34" charset="-120"/>
              </a:rPr>
              <a:t>ROUTER + WRITER</a:t>
            </a:r>
            <a:endParaRPr lang="en-US" sz="1100" dirty="0"/>
          </a:p>
        </p:txBody>
      </p:sp>
      <p:sp>
        <p:nvSpPr>
          <p:cNvPr id="15" name="click_03_h"/>
          <p:cNvSpPr/>
          <p:nvPr/>
        </p:nvSpPr>
        <p:spPr>
          <a:xfrm>
            <a:off x="4553712" y="1828800"/>
            <a:ext cx="3108960" cy="640080"/>
          </a:xfrm>
          <a:prstGeom prst="rect">
            <a:avLst/>
          </a:prstGeom>
          <a:noFill/>
          <a:ln/>
        </p:spPr>
        <p:txBody>
          <a:bodyPr wrap="square" lIns="0" tIns="0" rIns="0" bIns="0" rtlCol="0" anchor="ctr"/>
          <a:lstStyle/>
          <a:p>
            <a:pPr indent="0" marL="0">
              <a:buNone/>
            </a:pPr>
            <a:r>
              <a:rPr lang="en-US" sz="1800" dirty="0">
                <a:solidFill>
                  <a:srgbClr val="1C1917"/>
                </a:solidFill>
                <a:latin typeface="Georgia" pitchFamily="34" charset="0"/>
                <a:ea typeface="Georgia" pitchFamily="34" charset="-122"/>
                <a:cs typeface="Georgia" pitchFamily="34" charset="-120"/>
              </a:rPr>
              <a:t>Local open-weight LLM</a:t>
            </a:r>
            <a:endParaRPr lang="en-US" sz="1800" dirty="0"/>
          </a:p>
        </p:txBody>
      </p:sp>
      <p:sp>
        <p:nvSpPr>
          <p:cNvPr id="16" name="click_03_t"/>
          <p:cNvSpPr/>
          <p:nvPr/>
        </p:nvSpPr>
        <p:spPr>
          <a:xfrm>
            <a:off x="4553712" y="2542032"/>
            <a:ext cx="3108960" cy="201168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Qwen-class weights are loaded, not pretrained, not fine-tuned into a doctor. GEPA rewrites prompts offline, then is frozen.</a:t>
            </a:r>
            <a:endParaRPr lang="en-US" sz="1400" dirty="0"/>
          </a:p>
        </p:txBody>
      </p:sp>
      <p:sp>
        <p:nvSpPr>
          <p:cNvPr id="17" name="click_04_bg"/>
          <p:cNvSpPr/>
          <p:nvPr/>
        </p:nvSpPr>
        <p:spPr>
          <a:xfrm>
            <a:off x="8028432" y="1335024"/>
            <a:ext cx="3584448" cy="352044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18" name="click_04_bar"/>
          <p:cNvSpPr/>
          <p:nvPr/>
        </p:nvSpPr>
        <p:spPr>
          <a:xfrm>
            <a:off x="8028432" y="1335024"/>
            <a:ext cx="73152" cy="3520440"/>
          </a:xfrm>
          <a:prstGeom prst="rect">
            <a:avLst/>
          </a:prstGeom>
          <a:solidFill>
            <a:srgbClr val="2F5D50"/>
          </a:solidFill>
          <a:ln/>
        </p:spPr>
      </p:sp>
      <p:sp>
        <p:nvSpPr>
          <p:cNvPr id="19" name="click_04_k"/>
          <p:cNvSpPr/>
          <p:nvPr/>
        </p:nvSpPr>
        <p:spPr>
          <a:xfrm>
            <a:off x="8284464" y="1499616"/>
            <a:ext cx="3108960" cy="256032"/>
          </a:xfrm>
          <a:prstGeom prst="rect">
            <a:avLst/>
          </a:prstGeom>
          <a:noFill/>
          <a:ln/>
        </p:spPr>
        <p:txBody>
          <a:bodyPr wrap="square" lIns="0" tIns="0" rIns="0" bIns="0" rtlCol="0" anchor="ctr"/>
          <a:lstStyle/>
          <a:p>
            <a:pPr indent="0" marL="0">
              <a:buNone/>
            </a:pPr>
            <a:r>
              <a:rPr lang="en-US" sz="1100" spc="130" kern="0" dirty="0">
                <a:solidFill>
                  <a:srgbClr val="B8954A"/>
                </a:solidFill>
                <a:latin typeface="Calibri" pitchFamily="34" charset="0"/>
                <a:ea typeface="Calibri" pitchFamily="34" charset="-122"/>
                <a:cs typeface="Calibri" pitchFamily="34" charset="-120"/>
              </a:rPr>
              <a:t>VERIFIER</a:t>
            </a:r>
            <a:endParaRPr lang="en-US" sz="1100" dirty="0"/>
          </a:p>
        </p:txBody>
      </p:sp>
      <p:sp>
        <p:nvSpPr>
          <p:cNvPr id="20" name="click_04_h"/>
          <p:cNvSpPr/>
          <p:nvPr/>
        </p:nvSpPr>
        <p:spPr>
          <a:xfrm>
            <a:off x="8284464" y="1828800"/>
            <a:ext cx="3108960" cy="640080"/>
          </a:xfrm>
          <a:prstGeom prst="rect">
            <a:avLst/>
          </a:prstGeom>
          <a:noFill/>
          <a:ln/>
        </p:spPr>
        <p:txBody>
          <a:bodyPr wrap="square" lIns="0" tIns="0" rIns="0" bIns="0" rtlCol="0" anchor="ctr"/>
          <a:lstStyle/>
          <a:p>
            <a:pPr indent="0" marL="0">
              <a:buNone/>
            </a:pPr>
            <a:r>
              <a:rPr lang="en-US" sz="1800" dirty="0">
                <a:solidFill>
                  <a:srgbClr val="1C1917"/>
                </a:solidFill>
                <a:latin typeface="Georgia" pitchFamily="34" charset="0"/>
                <a:ea typeface="Georgia" pitchFamily="34" charset="-122"/>
                <a:cs typeface="Georgia" pitchFamily="34" charset="-120"/>
              </a:rPr>
              <a:t>Fail-closed code</a:t>
            </a:r>
            <a:endParaRPr lang="en-US" sz="1800" dirty="0"/>
          </a:p>
        </p:txBody>
      </p:sp>
      <p:sp>
        <p:nvSpPr>
          <p:cNvPr id="21" name="click_04_t"/>
          <p:cNvSpPr/>
          <p:nvPr/>
        </p:nvSpPr>
        <p:spPr>
          <a:xfrm>
            <a:off x="8284464" y="2542032"/>
            <a:ext cx="3108960" cy="201168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Three card statuses only: grounded, insufficient, out_of_scope. A sentence must be entailed by an STW box, NLEM row, or CDSCO row.</a:t>
            </a:r>
            <a:endParaRPr lang="en-US" sz="1400" dirty="0"/>
          </a:p>
        </p:txBody>
      </p:sp>
      <p:sp>
        <p:nvSpPr>
          <p:cNvPr id="22" name="click_05_band"/>
          <p:cNvSpPr/>
          <p:nvPr/>
        </p:nvSpPr>
        <p:spPr>
          <a:xfrm>
            <a:off x="566928" y="5029200"/>
            <a:ext cx="11045952" cy="1280160"/>
          </a:xfrm>
          <a:prstGeom prst="rect">
            <a:avLst/>
          </a:prstGeom>
          <a:solidFill>
            <a:srgbClr val="FFFCF7"/>
          </a:solidFill>
          <a:ln w="15875">
            <a:solidFill>
              <a:srgbClr val="B8954A"/>
            </a:solidFill>
            <a:prstDash val="solid"/>
          </a:ln>
        </p:spPr>
      </p:sp>
      <p:sp>
        <p:nvSpPr>
          <p:cNvPr id="23" name="click_05_bandt"/>
          <p:cNvSpPr/>
          <p:nvPr/>
        </p:nvSpPr>
        <p:spPr>
          <a:xfrm>
            <a:off x="896112" y="5230368"/>
            <a:ext cx="10424160" cy="868680"/>
          </a:xfrm>
          <a:prstGeom prst="rect">
            <a:avLst/>
          </a:prstGeom>
          <a:noFill/>
          <a:ln/>
        </p:spPr>
        <p:txBody>
          <a:bodyPr wrap="square" lIns="0" tIns="0" rIns="0" bIns="0" rtlCol="0" anchor="ctr"/>
          <a:lstStyle/>
          <a:p>
            <a:pPr indent="0" marL="0">
              <a:buNone/>
            </a:pPr>
            <a:r>
              <a:rPr lang="en-US" sz="1600" dirty="0">
                <a:solidFill>
                  <a:srgbClr val="16324F"/>
                </a:solidFill>
                <a:latin typeface="Calibri" pitchFamily="34" charset="0"/>
                <a:ea typeface="Calibri" pitchFamily="34" charset="-122"/>
                <a:cs typeface="Calibri" pitchFamily="34" charset="-120"/>
              </a:rPr>
              <a:t>Product  ·  a watermarked answer card. Not a diagnosis. Not software as a medical device. Not a hospital HIS.</a:t>
            </a:r>
            <a:endParaRPr lang="en-US" sz="1600" dirty="0"/>
          </a:p>
        </p:txBody>
      </p:sp>
    </p:spTree>
  </p:cSld>
  <p:clrMapOvr>
    <a:masterClrMapping/>
  </p:clrMapOvr>
  <p:transition spd="med" advClick="1">
    <p:fade/>
  </p:transition>
  <p:timing>
    <p:tnLst>
      <p:par>
        <p:cTn id="1" dur="indefinite" restart="never" nodeType="tmRoot">
          <p:childTnLst>
            <p:seq concurrent="true" nextAc="seek">
              <p:cTn id="48"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6" fill="hold">
                      <p:stCondLst>
                        <p:cond delay="indefinite"/>
                      </p:stCondLst>
                      <p:childTnLst>
                        <p:par>
                          <p:cTn id="17"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0"/>
                                        </p:tgtEl>
                                      </p:cBhvr>
                                    </p:animEffect>
                                  </p:childTnLst>
                                </p:cTn>
                              </p:par>
                              <p:par>
                                <p:cTn id="14" presetID="10" presetClass="entr" presetSubtype="0" fill="hold" grpId="0" nodeType="withEffect">
                                  <p:stCondLst>
                                    <p:cond delay="0"/>
                                  </p:stCondLst>
                                  <p:childTnLst>
                                    <p:animEffect transition="in" filter="fade">
                                      <p:cBhvr>
                                        <p:cTn id="15" dur="450"/>
                                        <p:tgtEl>
                                          <p:spTgt spid="11"/>
                                        </p:tgtEl>
                                      </p:cBhvr>
                                    </p:animEffect>
                                  </p:childTnLst>
                                </p:cTn>
                              </p:par>
                            </p:childTnLst>
                          </p:cTn>
                        </p:par>
                      </p:childTnLst>
                    </p:cTn>
                  </p:par>
                  <p:par>
                    <p:cTn id="28" fill="hold">
                      <p:stCondLst>
                        <p:cond delay="indefinite"/>
                      </p:stCondLst>
                      <p:childTnLst>
                        <p:par>
                          <p:cTn id="29" fill="hold">
                            <p:stCondLst>
                              <p:cond delay="0"/>
                            </p:stCondLst>
                            <p:childTnLst>
                              <p:par>
                                <p:cTn id="18" presetID="10" presetClass="entr" presetSubtype="0" fill="hold" grpId="0" nodeType="clickEffect">
                                  <p:stCondLst>
                                    <p:cond delay="0"/>
                                  </p:stCondLst>
                                  <p:childTnLst>
                                    <p:animEffect transition="in" filter="fade">
                                      <p:cBhvr>
                                        <p:cTn id="19" dur="450"/>
                                        <p:tgtEl>
                                          <p:spTgt spid="12"/>
                                        </p:tgtEl>
                                      </p:cBhvr>
                                    </p:animEffect>
                                  </p:childTnLst>
                                </p:cTn>
                              </p:par>
                              <p:par>
                                <p:cTn id="20" presetID="10" presetClass="entr" presetSubtype="0" fill="hold" grpId="0" nodeType="withEffect">
                                  <p:stCondLst>
                                    <p:cond delay="0"/>
                                  </p:stCondLst>
                                  <p:childTnLst>
                                    <p:animEffect transition="in" filter="fade">
                                      <p:cBhvr>
                                        <p:cTn id="21" dur="450"/>
                                        <p:tgtEl>
                                          <p:spTgt spid="13"/>
                                        </p:tgtEl>
                                      </p:cBhvr>
                                    </p:animEffect>
                                  </p:childTnLst>
                                </p:cTn>
                              </p:par>
                              <p:par>
                                <p:cTn id="22" presetID="10" presetClass="entr" presetSubtype="0" fill="hold" grpId="0" nodeType="withEffect">
                                  <p:stCondLst>
                                    <p:cond delay="0"/>
                                  </p:stCondLst>
                                  <p:childTnLst>
                                    <p:animEffect transition="in" filter="fade">
                                      <p:cBhvr>
                                        <p:cTn id="23" dur="450"/>
                                        <p:tgtEl>
                                          <p:spTgt spid="14"/>
                                        </p:tgtEl>
                                      </p:cBhvr>
                                    </p:animEffect>
                                  </p:childTnLst>
                                </p:cTn>
                              </p:par>
                              <p:par>
                                <p:cTn id="24" presetID="10" presetClass="entr" presetSubtype="0" fill="hold" grpId="0" nodeType="withEffect">
                                  <p:stCondLst>
                                    <p:cond delay="0"/>
                                  </p:stCondLst>
                                  <p:childTnLst>
                                    <p:animEffect transition="in" filter="fade">
                                      <p:cBhvr>
                                        <p:cTn id="25" dur="450"/>
                                        <p:tgtEl>
                                          <p:spTgt spid="15"/>
                                        </p:tgtEl>
                                      </p:cBhvr>
                                    </p:animEffect>
                                  </p:childTnLst>
                                </p:cTn>
                              </p:par>
                              <p:par>
                                <p:cTn id="26" presetID="10" presetClass="entr" presetSubtype="0" fill="hold" grpId="0" nodeType="withEffect">
                                  <p:stCondLst>
                                    <p:cond delay="0"/>
                                  </p:stCondLst>
                                  <p:childTnLst>
                                    <p:animEffect transition="in" filter="fade">
                                      <p:cBhvr>
                                        <p:cTn id="27"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30" presetID="10" presetClass="entr" presetSubtype="0" fill="hold" grpId="0" nodeType="clickEffect">
                                  <p:stCondLst>
                                    <p:cond delay="0"/>
                                  </p:stCondLst>
                                  <p:childTnLst>
                                    <p:animEffect transition="in" filter="fade">
                                      <p:cBhvr>
                                        <p:cTn id="31" dur="450"/>
                                        <p:tgtEl>
                                          <p:spTgt spid="17"/>
                                        </p:tgtEl>
                                      </p:cBhvr>
                                    </p:animEffect>
                                  </p:childTnLst>
                                </p:cTn>
                              </p:par>
                              <p:par>
                                <p:cTn id="32" presetID="10" presetClass="entr" presetSubtype="0" fill="hold" grpId="0" nodeType="withEffect">
                                  <p:stCondLst>
                                    <p:cond delay="0"/>
                                  </p:stCondLst>
                                  <p:childTnLst>
                                    <p:animEffect transition="in" filter="fade">
                                      <p:cBhvr>
                                        <p:cTn id="33" dur="450"/>
                                        <p:tgtEl>
                                          <p:spTgt spid="18"/>
                                        </p:tgtEl>
                                      </p:cBhvr>
                                    </p:animEffect>
                                  </p:childTnLst>
                                </p:cTn>
                              </p:par>
                              <p:par>
                                <p:cTn id="34" presetID="10" presetClass="entr" presetSubtype="0" fill="hold" grpId="0" nodeType="withEffect">
                                  <p:stCondLst>
                                    <p:cond delay="0"/>
                                  </p:stCondLst>
                                  <p:childTnLst>
                                    <p:animEffect transition="in" filter="fade">
                                      <p:cBhvr>
                                        <p:cTn id="35" dur="450"/>
                                        <p:tgtEl>
                                          <p:spTgt spid="19"/>
                                        </p:tgtEl>
                                      </p:cBhvr>
                                    </p:animEffect>
                                  </p:childTnLst>
                                </p:cTn>
                              </p:par>
                              <p:par>
                                <p:cTn id="36" presetID="10" presetClass="entr" presetSubtype="0" fill="hold" grpId="0" nodeType="withEffect">
                                  <p:stCondLst>
                                    <p:cond delay="0"/>
                                  </p:stCondLst>
                                  <p:childTnLst>
                                    <p:animEffect transition="in" filter="fade">
                                      <p:cBhvr>
                                        <p:cTn id="37" dur="450"/>
                                        <p:tgtEl>
                                          <p:spTgt spid="20"/>
                                        </p:tgtEl>
                                      </p:cBhvr>
                                    </p:animEffect>
                                  </p:childTnLst>
                                </p:cTn>
                              </p:par>
                              <p:par>
                                <p:cTn id="38" presetID="10" presetClass="entr" presetSubtype="0" fill="hold" grpId="0" nodeType="withEffect">
                                  <p:stCondLst>
                                    <p:cond delay="0"/>
                                  </p:stCondLst>
                                  <p:childTnLst>
                                    <p:animEffect transition="in" filter="fade">
                                      <p:cBhvr>
                                        <p:cTn id="39" dur="450"/>
                                        <p:tgtEl>
                                          <p:spTgt spid="21"/>
                                        </p:tgtEl>
                                      </p:cBhvr>
                                    </p:animEffect>
                                  </p:childTnLst>
                                </p:cTn>
                              </p:par>
                            </p:childTnLst>
                          </p:cTn>
                        </p:par>
                      </p:childTnLst>
                    </p:cTn>
                  </p:par>
                  <p:par>
                    <p:cTn id="46" fill="hold">
                      <p:stCondLst>
                        <p:cond delay="indefinite"/>
                      </p:stCondLst>
                      <p:childTnLst>
                        <p:par>
                          <p:cTn id="47" fill="hold">
                            <p:stCondLst>
                              <p:cond delay="0"/>
                            </p:stCondLst>
                            <p:childTnLst>
                              <p:par>
                                <p:cTn id="42" presetID="10" presetClass="entr" presetSubtype="0" fill="hold" grpId="0" nodeType="clickEffect">
                                  <p:stCondLst>
                                    <p:cond delay="0"/>
                                  </p:stCondLst>
                                  <p:childTnLst>
                                    <p:animEffect transition="in" filter="fade">
                                      <p:cBhvr>
                                        <p:cTn id="43" dur="450"/>
                                        <p:tgtEl>
                                          <p:spTgt spid="22"/>
                                        </p:tgtEl>
                                      </p:cBhvr>
                                    </p:animEffect>
                                  </p:childTnLst>
                                </p:cTn>
                              </p:par>
                              <p:par>
                                <p:cTn id="44" presetID="10" presetClass="entr" presetSubtype="0" fill="hold" grpId="0" nodeType="withEffect">
                                  <p:stCondLst>
                                    <p:cond delay="0"/>
                                  </p:stCondLst>
                                  <p:childTnLst>
                                    <p:animEffect transition="in" filter="fade">
                                      <p:cBhvr>
                                        <p:cTn id="45"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6.xml><?xml version="1.0" encoding="utf-8"?>
<p:sld xmlns:a="http://schemas.openxmlformats.org/drawingml/2006/main" xmlns:ns2="http://schemas.microsoft.com/office/powerpoint/2010/main" xmlns:p="http://schemas.openxmlformats.org/presentationml/2006/main">
  <p:cSld name="Slide 6">
    <p:bg>
      <p:bgPr>
        <a:solidFill>
          <a:srgbClr val="F7F4EE"/>
        </a:solidFill>
      </p:bgPr>
    </p:bg>
    <p:spTree>
      <p:nvGrpSpPr>
        <p:cNvPr id="1" name=""/>
        <p:cNvGrpSpPr/>
        <p:nvPr/>
      </p:nvGrpSpPr>
      <p:grpSpPr>
        <a:xfrm>
          <a:off x="0" y="0"/>
          <a:ext cx="0" cy="0"/>
          <a:chOff x="0" y="0"/>
          <a:chExt cx="0" cy="0"/>
        </a:xfrm>
      </p:grpSpPr>
      <p:sp>
        <p:nvSpPr>
          <p:cNvPr id="2" name="static_h"/>
          <p:cNvSpPr/>
          <p:nvPr/>
        </p:nvSpPr>
        <p:spPr>
          <a:xfrm>
            <a:off x="566928" y="256032"/>
            <a:ext cx="7680960" cy="256032"/>
          </a:xfrm>
          <a:prstGeom prst="rect">
            <a:avLst/>
          </a:prstGeom>
          <a:noFill/>
          <a:ln/>
        </p:spPr>
        <p:txBody>
          <a:bodyPr wrap="square" lIns="0" tIns="0" rIns="0" bIns="0" rtlCol="0" anchor="ctr"/>
          <a:lstStyle/>
          <a:p>
            <a:pPr indent="0" marL="0">
              <a:buNone/>
            </a:pPr>
            <a:r>
              <a:rPr lang="en-US" sz="1100" spc="220" kern="0" dirty="0">
                <a:solidFill>
                  <a:srgbClr val="6B6560"/>
                </a:solidFill>
                <a:latin typeface="Calibri" pitchFamily="34" charset="0"/>
                <a:ea typeface="Calibri" pitchFamily="34" charset="-122"/>
                <a:cs typeface="Calibri" pitchFamily="34" charset="-120"/>
              </a:rPr>
              <a:t>05  ·  PHASE-1 TOOL CATALOGUE</a:t>
            </a:r>
            <a:endParaRPr lang="en-US" sz="1100" dirty="0"/>
          </a:p>
        </p:txBody>
      </p:sp>
      <p:sp>
        <p:nvSpPr>
          <p:cNvPr id="3" name="static_p"/>
          <p:cNvSpPr/>
          <p:nvPr/>
        </p:nvSpPr>
        <p:spPr>
          <a:xfrm>
            <a:off x="10161727" y="256032"/>
            <a:ext cx="1463040"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06  /  10</a:t>
            </a:r>
            <a:endParaRPr lang="en-US" sz="1100" dirty="0"/>
          </a:p>
        </p:txBody>
      </p:sp>
      <p:sp>
        <p:nvSpPr>
          <p:cNvPr id="4" name="static_rule"/>
          <p:cNvSpPr/>
          <p:nvPr/>
        </p:nvSpPr>
        <p:spPr>
          <a:xfrm>
            <a:off x="566928" y="566928"/>
            <a:ext cx="11057839" cy="13716"/>
          </a:xfrm>
          <a:prstGeom prst="rect">
            <a:avLst/>
          </a:prstGeom>
          <a:solidFill>
            <a:srgbClr val="D9D2C5"/>
          </a:solidFill>
          <a:ln/>
        </p:spPr>
      </p:sp>
      <p:sp>
        <p:nvSpPr>
          <p:cNvPr id="5" name="click_01_title"/>
          <p:cNvSpPr/>
          <p:nvPr/>
        </p:nvSpPr>
        <p:spPr>
          <a:xfrm>
            <a:off x="566928" y="713232"/>
            <a:ext cx="11057839" cy="475488"/>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Closed names the model may emit. The host runs them.</a:t>
            </a:r>
            <a:endParaRPr lang="en-US" sz="2600" dirty="0"/>
          </a:p>
        </p:txBody>
      </p:sp>
      <p:sp>
        <p:nvSpPr>
          <p:cNvPr id="6" name="static_f"/>
          <p:cNvSpPr/>
          <p:nvPr/>
        </p:nvSpPr>
        <p:spPr>
          <a:xfrm>
            <a:off x="566928" y="6528816"/>
            <a:ext cx="11057839" cy="219456"/>
          </a:xfrm>
          <a:prstGeom prst="rect">
            <a:avLst/>
          </a:prstGeom>
          <a:noFill/>
          <a:ln/>
        </p:spPr>
        <p:txBody>
          <a:bodyPr wrap="square" lIns="0" tIns="0" rIns="0" bIns="0" rtlCol="0" anchor="ctr"/>
          <a:lstStyle/>
          <a:p>
            <a:pPr indent="0" marL="0">
              <a:buNone/>
            </a:pPr>
            <a:r>
              <a:rPr lang="en-US" sz="10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000" dirty="0"/>
          </a:p>
        </p:txBody>
      </p:sp>
      <p:graphicFrame>
        <p:nvGraphicFramePr>
          <p:cNvPr id="7" name="click_02_table"/>
          <p:cNvGraphicFramePr>
            <a:graphicFrameLocks noGrp="1"/>
          </p:cNvGraphicFramePr>
          <p:nvPr>
            <p:extLst>
              <p:ext uri="{D42A27DB-BD31-4B8C-83A1-F6EECF244321}">
                <ns2:modId val="1579011935"/>
              </p:ext>
            </p:extLst>
          </p:nvPr>
        </p:nvGraphicFramePr>
        <p:xfrm>
          <a:off x="566928" y="1298448"/>
          <a:ext cx="11045952" cy="4160520"/>
        </p:xfrm>
        <a:graphic>
          <a:graphicData uri="http://schemas.openxmlformats.org/drawingml/2006/table">
            <a:tbl>
              <a:tblPr/>
              <a:tblGrid>
                <a:gridCol w="1965960"/>
                <a:gridCol w="2148840"/>
                <a:gridCol w="4160520"/>
                <a:gridCol w="2770632"/>
              </a:tblGrid>
              <a:tr h="520065">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0E1A2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Kind</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0E1A2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the host runs</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0E1A2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JSON out</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0E1A2B"/>
                    </a:solidFill>
                  </a:tcPr>
                </a:tc>
              </a:tr>
              <a:tr h="520065">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cxr_tool</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Trained specialist</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Frozen CheXpert CNN (DenseNet-121 / EfficientNet)</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findings[], scores[], unreadable?</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r>
              <a:tr h="520065">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skin_tool</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Trained specialist</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Frozen HAM10000 / ISIC net</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class, score, dataset</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r>
              <a:tr h="520065">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document_tool</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Trained specialist</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OCR / KIE on pack or lab PDF</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batch / brand / analyte, unreadable?</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r>
              <a:tr h="520065">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nlem_lookup</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Lookup</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NLEM 2022 table</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in list / not in list</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r>
              <a:tr h="520065">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cdsco_lookup</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Lookup</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Dated NSQ snapshot</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match / not in list (not “safe”)</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r>
              <a:tr h="520065">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stw_retrieve</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Lookup</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ColPali-class on STW page images</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page id, box ids</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EF2F6"/>
                    </a:solidFill>
                  </a:tcPr>
                </a:tc>
              </a:tr>
              <a:tr h="520065">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out_of_scope</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Refuse</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No specialist is run</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c>
                  <a:txBody>
                    <a:bodyPr/>
                    <a:lstStyle/>
                    <a:p>
                      <a:pPr algn="l" indent="0" marL="0">
                        <a:buNone/>
                      </a:pPr>
                      <a:r>
                        <a:rPr lang="en-US" sz="1200" dirty="0">
                          <a:solidFill>
                            <a:srgbClr val="1C1917"/>
                          </a:solidFill>
                          <a:latin typeface="Calibri" pitchFamily="34" charset="0"/>
                          <a:ea typeface="Calibri" pitchFamily="34" charset="-122"/>
                          <a:cs typeface="Calibri" pitchFamily="34" charset="-120"/>
                        </a:rPr>
                        <a:t>status = out_of_scope</a:t>
                      </a:r>
                      <a:endParaRPr lang="en-US" sz="12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CF7"/>
                    </a:solidFill>
                  </a:tcPr>
                </a:tc>
              </a:tr>
            </a:tbl>
          </a:graphicData>
        </a:graphic>
      </p:graphicFrame>
      <p:sp>
        <p:nvSpPr>
          <p:cNvPr id="8" name="click_03_note"/>
          <p:cNvSpPr/>
          <p:nvPr/>
        </p:nvSpPr>
        <p:spPr>
          <a:xfrm>
            <a:off x="566928" y="5559552"/>
            <a:ext cx="11045952" cy="77724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Further tools, if added later, use the same four columns. They are not extra chatting doctors. Imaging nets are trained and frozen by the student. The large language model is not.</a:t>
            </a:r>
            <a:endParaRPr lang="en-US" sz="1400" dirty="0"/>
          </a:p>
        </p:txBody>
      </p:sp>
    </p:spTree>
  </p:cSld>
  <p:clrMapOvr>
    <a:masterClrMapping/>
  </p:clrMapOvr>
  <p:transition spd="med" advClick="1">
    <p:fade/>
  </p:transition>
  <p:timing>
    <p:tnLst>
      <p:par>
        <p:cTn id="1" dur="indefinite" restart="never" nodeType="tmRoot">
          <p:childTnLst>
            <p:seq concurrent="true" nextAc="seek">
              <p:cTn id="14"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childTnLst>
                          </p:cTn>
                        </p:par>
                      </p:childTnLst>
                    </p:cTn>
                  </p:par>
                  <p:par>
                    <p:cTn id="12" fill="hold">
                      <p:stCondLst>
                        <p:cond delay="indefinite"/>
                      </p:stCondLst>
                      <p:childTnLst>
                        <p:par>
                          <p:cTn id="13" fill="hold">
                            <p:stCondLst>
                              <p:cond delay="0"/>
                            </p:stCondLst>
                            <p:childTnLst>
                              <p:par>
                                <p:cTn id="10" presetID="10" presetClass="entr" presetSubtype="0" fill="hold" grpId="0" nodeType="clickEffect">
                                  <p:stCondLst>
                                    <p:cond delay="0"/>
                                  </p:stCondLst>
                                  <p:childTnLst>
                                    <p:animEffect transition="in" filter="fade">
                                      <p:cBhvr>
                                        <p:cTn id="11"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7.xml><?xml version="1.0" encoding="utf-8"?>
<p:sld xmlns:a="http://schemas.openxmlformats.org/drawingml/2006/main" xmlns:p="http://schemas.openxmlformats.org/presentationml/2006/main" xmlns:r="http://schemas.openxmlformats.org/officeDocument/2006/relationships">
  <p:cSld name="Slide 7">
    <p:bg>
      <p:bgPr>
        <a:solidFill>
          <a:srgbClr val="F7F4EE"/>
        </a:solidFill>
      </p:bgPr>
    </p:bg>
    <p:spTree>
      <p:nvGrpSpPr>
        <p:cNvPr id="1" name=""/>
        <p:cNvGrpSpPr/>
        <p:nvPr/>
      </p:nvGrpSpPr>
      <p:grpSpPr>
        <a:xfrm>
          <a:off x="0" y="0"/>
          <a:ext cx="0" cy="0"/>
          <a:chOff x="0" y="0"/>
          <a:chExt cx="0" cy="0"/>
        </a:xfrm>
      </p:grpSpPr>
      <p:sp>
        <p:nvSpPr>
          <p:cNvPr id="2" name="static_h"/>
          <p:cNvSpPr/>
          <p:nvPr/>
        </p:nvSpPr>
        <p:spPr>
          <a:xfrm>
            <a:off x="566928" y="256032"/>
            <a:ext cx="7680960" cy="256032"/>
          </a:xfrm>
          <a:prstGeom prst="rect">
            <a:avLst/>
          </a:prstGeom>
          <a:noFill/>
          <a:ln/>
        </p:spPr>
        <p:txBody>
          <a:bodyPr wrap="square" lIns="0" tIns="0" rIns="0" bIns="0" rtlCol="0" anchor="ctr"/>
          <a:lstStyle/>
          <a:p>
            <a:pPr indent="0" marL="0">
              <a:buNone/>
            </a:pPr>
            <a:r>
              <a:rPr lang="en-US" sz="1100" spc="220" kern="0" dirty="0">
                <a:solidFill>
                  <a:srgbClr val="6B6560"/>
                </a:solidFill>
                <a:latin typeface="Calibri" pitchFamily="34" charset="0"/>
                <a:ea typeface="Calibri" pitchFamily="34" charset="-122"/>
                <a:cs typeface="Calibri" pitchFamily="34" charset="-120"/>
              </a:rPr>
              <a:t>06  ·  SERVE-TIME WORKFLOW</a:t>
            </a:r>
            <a:endParaRPr lang="en-US" sz="1100" dirty="0"/>
          </a:p>
        </p:txBody>
      </p:sp>
      <p:sp>
        <p:nvSpPr>
          <p:cNvPr id="3" name="static_p"/>
          <p:cNvSpPr/>
          <p:nvPr/>
        </p:nvSpPr>
        <p:spPr>
          <a:xfrm>
            <a:off x="10161727" y="256032"/>
            <a:ext cx="1463040"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07  /  10</a:t>
            </a:r>
            <a:endParaRPr lang="en-US" sz="1100" dirty="0"/>
          </a:p>
        </p:txBody>
      </p:sp>
      <p:sp>
        <p:nvSpPr>
          <p:cNvPr id="4" name="static_rule"/>
          <p:cNvSpPr/>
          <p:nvPr/>
        </p:nvSpPr>
        <p:spPr>
          <a:xfrm>
            <a:off x="566928" y="566928"/>
            <a:ext cx="11057839" cy="13716"/>
          </a:xfrm>
          <a:prstGeom prst="rect">
            <a:avLst/>
          </a:prstGeom>
          <a:solidFill>
            <a:srgbClr val="D9D2C5"/>
          </a:solidFill>
          <a:ln/>
        </p:spPr>
      </p:sp>
      <p:sp>
        <p:nvSpPr>
          <p:cNvPr id="5" name="click_01_title"/>
          <p:cNvSpPr/>
          <p:nvPr/>
        </p:nvSpPr>
        <p:spPr>
          <a:xfrm>
            <a:off x="566928" y="713232"/>
            <a:ext cx="11057839" cy="475488"/>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Question in. One tool call. Official span. Then a card — or silence.</a:t>
            </a:r>
            <a:endParaRPr lang="en-US" sz="2600" dirty="0"/>
          </a:p>
        </p:txBody>
      </p:sp>
      <p:sp>
        <p:nvSpPr>
          <p:cNvPr id="6" name="static_f"/>
          <p:cNvSpPr/>
          <p:nvPr/>
        </p:nvSpPr>
        <p:spPr>
          <a:xfrm>
            <a:off x="566928" y="6528816"/>
            <a:ext cx="11057839" cy="219456"/>
          </a:xfrm>
          <a:prstGeom prst="rect">
            <a:avLst/>
          </a:prstGeom>
          <a:noFill/>
          <a:ln/>
        </p:spPr>
        <p:txBody>
          <a:bodyPr wrap="square" lIns="0" tIns="0" rIns="0" bIns="0" rtlCol="0" anchor="ctr"/>
          <a:lstStyle/>
          <a:p>
            <a:pPr indent="0" marL="0">
              <a:buNone/>
            </a:pPr>
            <a:r>
              <a:rPr lang="en-US" sz="10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000" dirty="0"/>
          </a:p>
        </p:txBody>
      </p:sp>
      <p:pic>
        <p:nvPicPr>
          <p:cNvPr id="7" name="click_02_fig" descr="C:\Users\prana\OneDrive\Desktop\COLLEGE PROJECTS\Major_Project\synopsis\assets\fig4_1_workflow.png">    </p:cNvPr>
          <p:cNvPicPr>
            <a:picLocks noChangeAspect="1"/>
          </p:cNvPicPr>
          <p:nvPr/>
        </p:nvPicPr>
        <p:blipFill>
          <a:blip r:embed="rId1"/>
          <a:stretch>
            <a:fillRect/>
          </a:stretch>
        </p:blipFill>
        <p:spPr>
          <a:xfrm>
            <a:off x="1203808" y="1261872"/>
            <a:ext cx="9784080" cy="4794199"/>
          </a:xfrm>
          <a:prstGeom prst="rect">
            <a:avLst/>
          </a:prstGeom>
        </p:spPr>
      </p:pic>
    </p:spTree>
  </p:cSld>
  <p:clrMapOvr>
    <a:masterClrMapping/>
  </p:clrMapOvr>
  <p:transition spd="med" advClick="1">
    <p:fade/>
  </p:transition>
  <p:timing>
    <p:tnLst>
      <p:par>
        <p:cTn id="1" dur="indefinite" restart="never" nodeType="tmRoot">
          <p:childTnLst>
            <p:seq concurrent="true" nextAc="seek">
              <p:cTn id="10"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8.xml><?xml version="1.0" encoding="utf-8"?>
<p:sld xmlns:a="http://schemas.openxmlformats.org/drawingml/2006/main" xmlns:p="http://schemas.openxmlformats.org/presentationml/2006/main" xmlns:r="http://schemas.openxmlformats.org/officeDocument/2006/relationships">
  <p:cSld name="Slide 8">
    <p:bg>
      <p:bgPr>
        <a:solidFill>
          <a:srgbClr val="F7F4EE"/>
        </a:solidFill>
      </p:bgPr>
    </p:bg>
    <p:spTree>
      <p:nvGrpSpPr>
        <p:cNvPr id="1" name=""/>
        <p:cNvGrpSpPr/>
        <p:nvPr/>
      </p:nvGrpSpPr>
      <p:grpSpPr>
        <a:xfrm>
          <a:off x="0" y="0"/>
          <a:ext cx="0" cy="0"/>
          <a:chOff x="0" y="0"/>
          <a:chExt cx="0" cy="0"/>
        </a:xfrm>
      </p:grpSpPr>
      <p:sp>
        <p:nvSpPr>
          <p:cNvPr id="2" name="static_h"/>
          <p:cNvSpPr/>
          <p:nvPr/>
        </p:nvSpPr>
        <p:spPr>
          <a:xfrm>
            <a:off x="566928" y="256032"/>
            <a:ext cx="7680960" cy="256032"/>
          </a:xfrm>
          <a:prstGeom prst="rect">
            <a:avLst/>
          </a:prstGeom>
          <a:noFill/>
          <a:ln/>
        </p:spPr>
        <p:txBody>
          <a:bodyPr wrap="square" lIns="0" tIns="0" rIns="0" bIns="0" rtlCol="0" anchor="ctr"/>
          <a:lstStyle/>
          <a:p>
            <a:pPr indent="0" marL="0">
              <a:buNone/>
            </a:pPr>
            <a:r>
              <a:rPr lang="en-US" sz="1100" spc="220" kern="0" dirty="0">
                <a:solidFill>
                  <a:srgbClr val="6B6560"/>
                </a:solidFill>
                <a:latin typeface="Calibri" pitchFamily="34" charset="0"/>
                <a:ea typeface="Calibri" pitchFamily="34" charset="-122"/>
                <a:cs typeface="Calibri" pitchFamily="34" charset="-120"/>
              </a:rPr>
              <a:t>07  ·  METHODOLOGY</a:t>
            </a:r>
            <a:endParaRPr lang="en-US" sz="1100" dirty="0"/>
          </a:p>
        </p:txBody>
      </p:sp>
      <p:sp>
        <p:nvSpPr>
          <p:cNvPr id="3" name="static_p"/>
          <p:cNvSpPr/>
          <p:nvPr/>
        </p:nvSpPr>
        <p:spPr>
          <a:xfrm>
            <a:off x="10161727" y="256032"/>
            <a:ext cx="1463040"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08  /  10</a:t>
            </a:r>
            <a:endParaRPr lang="en-US" sz="1100" dirty="0"/>
          </a:p>
        </p:txBody>
      </p:sp>
      <p:sp>
        <p:nvSpPr>
          <p:cNvPr id="4" name="static_rule"/>
          <p:cNvSpPr/>
          <p:nvPr/>
        </p:nvSpPr>
        <p:spPr>
          <a:xfrm>
            <a:off x="566928" y="566928"/>
            <a:ext cx="11057839" cy="13716"/>
          </a:xfrm>
          <a:prstGeom prst="rect">
            <a:avLst/>
          </a:prstGeom>
          <a:solidFill>
            <a:srgbClr val="D9D2C5"/>
          </a:solidFill>
          <a:ln/>
        </p:spPr>
      </p:sp>
      <p:sp>
        <p:nvSpPr>
          <p:cNvPr id="5" name="click_01_title"/>
          <p:cNvSpPr/>
          <p:nvPr/>
        </p:nvSpPr>
        <p:spPr>
          <a:xfrm>
            <a:off x="566928" y="713232"/>
            <a:ext cx="11057839" cy="475488"/>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Replicate the tools. Then evolve the prompts. Do not mix the two.</a:t>
            </a:r>
            <a:endParaRPr lang="en-US" sz="2600" dirty="0"/>
          </a:p>
        </p:txBody>
      </p:sp>
      <p:sp>
        <p:nvSpPr>
          <p:cNvPr id="6" name="static_f"/>
          <p:cNvSpPr/>
          <p:nvPr/>
        </p:nvSpPr>
        <p:spPr>
          <a:xfrm>
            <a:off x="566928" y="6528816"/>
            <a:ext cx="11057839" cy="219456"/>
          </a:xfrm>
          <a:prstGeom prst="rect">
            <a:avLst/>
          </a:prstGeom>
          <a:noFill/>
          <a:ln/>
        </p:spPr>
        <p:txBody>
          <a:bodyPr wrap="square" lIns="0" tIns="0" rIns="0" bIns="0" rtlCol="0" anchor="ctr"/>
          <a:lstStyle/>
          <a:p>
            <a:pPr indent="0" marL="0">
              <a:buNone/>
            </a:pPr>
            <a:r>
              <a:rPr lang="en-US" sz="10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000" dirty="0"/>
          </a:p>
        </p:txBody>
      </p:sp>
      <p:sp>
        <p:nvSpPr>
          <p:cNvPr id="7" name="click_02_bg"/>
          <p:cNvSpPr/>
          <p:nvPr/>
        </p:nvSpPr>
        <p:spPr>
          <a:xfrm>
            <a:off x="566928" y="1298448"/>
            <a:ext cx="5376672" cy="278892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8" name="click_02_bar"/>
          <p:cNvSpPr/>
          <p:nvPr/>
        </p:nvSpPr>
        <p:spPr>
          <a:xfrm>
            <a:off x="566928" y="1298448"/>
            <a:ext cx="73152" cy="2788920"/>
          </a:xfrm>
          <a:prstGeom prst="rect">
            <a:avLst/>
          </a:prstGeom>
          <a:solidFill>
            <a:srgbClr val="0E1A2B"/>
          </a:solidFill>
          <a:ln/>
        </p:spPr>
      </p:sp>
      <p:sp>
        <p:nvSpPr>
          <p:cNvPr id="9" name="click_02_h"/>
          <p:cNvSpPr/>
          <p:nvPr/>
        </p:nvSpPr>
        <p:spPr>
          <a:xfrm>
            <a:off x="822960" y="1426464"/>
            <a:ext cx="4937760" cy="256032"/>
          </a:xfrm>
          <a:prstGeom prst="rect">
            <a:avLst/>
          </a:prstGeom>
          <a:noFill/>
          <a:ln/>
        </p:spPr>
        <p:txBody>
          <a:bodyPr wrap="square" lIns="0" tIns="0" rIns="0" bIns="0" rtlCol="0" anchor="ctr"/>
          <a:lstStyle/>
          <a:p>
            <a:pPr indent="0" marL="0">
              <a:buNone/>
            </a:pPr>
            <a:r>
              <a:rPr lang="en-US" sz="1100" spc="110" kern="0" dirty="0">
                <a:solidFill>
                  <a:srgbClr val="B8954A"/>
                </a:solidFill>
                <a:latin typeface="Calibri" pitchFamily="34" charset="0"/>
                <a:ea typeface="Calibri" pitchFamily="34" charset="-122"/>
                <a:cs typeface="Calibri" pitchFamily="34" charset="-120"/>
              </a:rPr>
              <a:t>BASELINE  ·  what we train</a:t>
            </a:r>
            <a:endParaRPr lang="en-US" sz="1100" dirty="0"/>
          </a:p>
        </p:txBody>
      </p:sp>
      <p:sp>
        <p:nvSpPr>
          <p:cNvPr id="10" name="click_02_b"/>
          <p:cNvSpPr/>
          <p:nvPr/>
        </p:nvSpPr>
        <p:spPr>
          <a:xfrm>
            <a:off x="822960" y="1783080"/>
            <a:ext cx="4937760" cy="20574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3F3A36"/>
                </a:solidFill>
                <a:latin typeface="Calibri" pitchFamily="34" charset="0"/>
                <a:ea typeface="Calibri" pitchFamily="34" charset="-122"/>
                <a:cs typeface="Calibri" pitchFamily="34" charset="-120"/>
              </a:rPr>
              <a:t>CheXpert CXR net, patient-level splits, U-ones / U-zeros reported honestly against Irvin et al.</a:t>
            </a:r>
            <a:endParaRPr lang="en-US" sz="1300" dirty="0"/>
          </a:p>
          <a:p>
            <a:pPr marL="342900" indent="-342900">
              <a:spcAft>
                <a:spcPts val="600"/>
              </a:spcAft>
              <a:buSzPct val="100000"/>
              <a:buChar char="•"/>
            </a:pPr>
            <a:r>
              <a:rPr lang="en-US" sz="1300" dirty="0">
                <a:solidFill>
                  <a:srgbClr val="3F3A36"/>
                </a:solidFill>
                <a:latin typeface="Calibri" pitchFamily="34" charset="0"/>
                <a:ea typeface="Calibri" pitchFamily="34" charset="-122"/>
                <a:cs typeface="Calibri" pitchFamily="34" charset="-120"/>
              </a:rPr>
              <a:t>HAM10000 / ISIC skin net, split by lesion_id.</a:t>
            </a:r>
            <a:endParaRPr lang="en-US" sz="1300" dirty="0"/>
          </a:p>
          <a:p>
            <a:pPr marL="342900" indent="-342900">
              <a:spcAft>
                <a:spcPts val="600"/>
              </a:spcAft>
              <a:buSzPct val="100000"/>
              <a:buChar char="•"/>
            </a:pPr>
            <a:r>
              <a:rPr lang="en-US" sz="1300" dirty="0">
                <a:solidFill>
                  <a:srgbClr val="3F3A36"/>
                </a:solidFill>
                <a:latin typeface="Calibri" pitchFamily="34" charset="0"/>
                <a:ea typeface="Calibri" pitchFamily="34" charset="-122"/>
                <a:cs typeface="Calibri" pitchFamily="34" charset="-120"/>
              </a:rPr>
              <a:t>Document OCR/KIE; synthetic packs + self-collected OTC photos. No patient Rx.</a:t>
            </a:r>
            <a:endParaRPr lang="en-US" sz="1300" dirty="0"/>
          </a:p>
        </p:txBody>
      </p:sp>
      <p:sp>
        <p:nvSpPr>
          <p:cNvPr id="11" name="click_03_bg"/>
          <p:cNvSpPr/>
          <p:nvPr/>
        </p:nvSpPr>
        <p:spPr>
          <a:xfrm>
            <a:off x="6236208" y="1298448"/>
            <a:ext cx="5376672" cy="278892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12" name="click_03_bar"/>
          <p:cNvSpPr/>
          <p:nvPr/>
        </p:nvSpPr>
        <p:spPr>
          <a:xfrm>
            <a:off x="6236208" y="1298448"/>
            <a:ext cx="73152" cy="2788920"/>
          </a:xfrm>
          <a:prstGeom prst="rect">
            <a:avLst/>
          </a:prstGeom>
          <a:solidFill>
            <a:srgbClr val="2F5D50"/>
          </a:solidFill>
          <a:ln/>
        </p:spPr>
      </p:sp>
      <p:sp>
        <p:nvSpPr>
          <p:cNvPr id="13" name="click_03_h"/>
          <p:cNvSpPr/>
          <p:nvPr/>
        </p:nvSpPr>
        <p:spPr>
          <a:xfrm>
            <a:off x="6492240" y="1426464"/>
            <a:ext cx="4937760" cy="256032"/>
          </a:xfrm>
          <a:prstGeom prst="rect">
            <a:avLst/>
          </a:prstGeom>
          <a:noFill/>
          <a:ln/>
        </p:spPr>
        <p:txBody>
          <a:bodyPr wrap="square" lIns="0" tIns="0" rIns="0" bIns="0" rtlCol="0" anchor="ctr"/>
          <a:lstStyle/>
          <a:p>
            <a:pPr indent="0" marL="0">
              <a:buNone/>
            </a:pPr>
            <a:r>
              <a:rPr lang="en-US" sz="1100" spc="110" kern="0" dirty="0">
                <a:solidFill>
                  <a:srgbClr val="B8954A"/>
                </a:solidFill>
                <a:latin typeface="Calibri" pitchFamily="34" charset="0"/>
                <a:ea typeface="Calibri" pitchFamily="34" charset="-122"/>
                <a:cs typeface="Calibri" pitchFamily="34" charset="-120"/>
              </a:rPr>
              <a:t>ENHANCEMENT  ·  what we freeze as text</a:t>
            </a:r>
            <a:endParaRPr lang="en-US" sz="1100" dirty="0"/>
          </a:p>
        </p:txBody>
      </p:sp>
      <p:sp>
        <p:nvSpPr>
          <p:cNvPr id="14" name="click_03_b"/>
          <p:cNvSpPr/>
          <p:nvPr/>
        </p:nvSpPr>
        <p:spPr>
          <a:xfrm>
            <a:off x="6492240" y="1783080"/>
            <a:ext cx="4937760" cy="20574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3F3A36"/>
                </a:solidFill>
                <a:latin typeface="Calibri" pitchFamily="34" charset="0"/>
                <a:ea typeface="Calibri" pitchFamily="34" charset="-122"/>
                <a:cs typeface="Calibri" pitchFamily="34" charset="-120"/>
              </a:rPr>
              <a:t>Visual STW retrieve (ColPali-class). Student box IDs on pages actually used.</a:t>
            </a:r>
            <a:endParaRPr lang="en-US" sz="1300" dirty="0"/>
          </a:p>
          <a:p>
            <a:pPr marL="342900" indent="-342900">
              <a:spcAft>
                <a:spcPts val="600"/>
              </a:spcAft>
              <a:buSzPct val="100000"/>
              <a:buChar char="•"/>
            </a:pPr>
            <a:r>
              <a:rPr lang="en-US" sz="1300" dirty="0">
                <a:solidFill>
                  <a:srgbClr val="3F3A36"/>
                </a:solidFill>
                <a:latin typeface="Calibri" pitchFamily="34" charset="0"/>
                <a:ea typeface="Calibri" pitchFamily="34" charset="-122"/>
                <a:cs typeface="Calibri" pitchFamily="34" charset="-120"/>
              </a:rPr>
              <a:t>In-context demonstrations that include near-miss refusals.</a:t>
            </a:r>
            <a:endParaRPr lang="en-US" sz="1300" dirty="0"/>
          </a:p>
          <a:p>
            <a:pPr marL="342900" indent="-342900">
              <a:spcAft>
                <a:spcPts val="600"/>
              </a:spcAft>
              <a:buSzPct val="100000"/>
              <a:buChar char="•"/>
            </a:pPr>
            <a:r>
              <a:rPr lang="en-US" sz="1300" dirty="0">
                <a:solidFill>
                  <a:srgbClr val="3F3A36"/>
                </a:solidFill>
                <a:latin typeface="Calibri" pitchFamily="34" charset="0"/>
                <a:ea typeface="Calibri" pitchFamily="34" charset="-122"/>
                <a:cs typeface="Calibri" pitchFamily="34" charset="-120"/>
              </a:rPr>
              <a:t>GEPA on train only. Best Pareto prompt is frozen. No genetic search per user.</a:t>
            </a:r>
            <a:endParaRPr lang="en-US" sz="1300" dirty="0"/>
          </a:p>
        </p:txBody>
      </p:sp>
      <p:pic>
        <p:nvPicPr>
          <p:cNvPr id="15" name="click_04_fig" descr="C:\Users\prana\OneDrive\Desktop\COLLEGE PROJECTS\Major_Project\synopsis\assets\fig4_3_pipeline.png">    </p:cNvPr>
          <p:cNvPicPr>
            <a:picLocks noChangeAspect="1"/>
          </p:cNvPicPr>
          <p:nvPr/>
        </p:nvPicPr>
        <p:blipFill>
          <a:blip r:embed="rId1"/>
          <a:stretch>
            <a:fillRect/>
          </a:stretch>
        </p:blipFill>
        <p:spPr>
          <a:xfrm>
            <a:off x="1706728" y="4224528"/>
            <a:ext cx="8778240" cy="2282342"/>
          </a:xfrm>
          <a:prstGeom prst="rect">
            <a:avLst/>
          </a:prstGeom>
        </p:spPr>
      </p:pic>
    </p:spTree>
  </p:cSld>
  <p:clrMapOvr>
    <a:masterClrMapping/>
  </p:clrMapOvr>
  <p:transition spd="med" advClick="1">
    <p:fade/>
  </p:transition>
  <p:timing>
    <p:tnLst>
      <p:par>
        <p:cTn id="1" dur="indefinite" restart="never" nodeType="tmRoot">
          <p:childTnLst>
            <p:seq concurrent="true" nextAc="seek">
              <p:cTn id="30"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4" fill="hold">
                      <p:stCondLst>
                        <p:cond delay="indefinite"/>
                      </p:stCondLst>
                      <p:childTnLst>
                        <p:par>
                          <p:cTn id="15"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0"/>
                                        </p:tgtEl>
                                      </p:cBhvr>
                                    </p:animEffect>
                                  </p:childTnLst>
                                </p:cTn>
                              </p:par>
                            </p:childTnLst>
                          </p:cTn>
                        </p:par>
                      </p:childTnLst>
                    </p:cTn>
                  </p:par>
                  <p:par>
                    <p:cTn id="24" fill="hold">
                      <p:stCondLst>
                        <p:cond delay="indefinite"/>
                      </p:stCondLst>
                      <p:childTnLst>
                        <p:par>
                          <p:cTn id="25" fill="hold">
                            <p:stCondLst>
                              <p:cond delay="0"/>
                            </p:stCondLst>
                            <p:childTnLst>
                              <p:par>
                                <p:cTn id="16" presetID="10" presetClass="entr" presetSubtype="0" fill="hold" grpId="0" nodeType="clickEffect">
                                  <p:stCondLst>
                                    <p:cond delay="0"/>
                                  </p:stCondLst>
                                  <p:childTnLst>
                                    <p:animEffect transition="in" filter="fade">
                                      <p:cBhvr>
                                        <p:cTn id="17" dur="450"/>
                                        <p:tgtEl>
                                          <p:spTgt spid="11"/>
                                        </p:tgtEl>
                                      </p:cBhvr>
                                    </p:animEffect>
                                  </p:childTnLst>
                                </p:cTn>
                              </p:par>
                              <p:par>
                                <p:cTn id="18" presetID="10" presetClass="entr" presetSubtype="0" fill="hold" grpId="0" nodeType="withEffect">
                                  <p:stCondLst>
                                    <p:cond delay="0"/>
                                  </p:stCondLst>
                                  <p:childTnLst>
                                    <p:animEffect transition="in" filter="fade">
                                      <p:cBhvr>
                                        <p:cTn id="19" dur="450"/>
                                        <p:tgtEl>
                                          <p:spTgt spid="12"/>
                                        </p:tgtEl>
                                      </p:cBhvr>
                                    </p:animEffect>
                                  </p:childTnLst>
                                </p:cTn>
                              </p:par>
                              <p:par>
                                <p:cTn id="20" presetID="10" presetClass="entr" presetSubtype="0" fill="hold" grpId="0" nodeType="withEffect">
                                  <p:stCondLst>
                                    <p:cond delay="0"/>
                                  </p:stCondLst>
                                  <p:childTnLst>
                                    <p:animEffect transition="in" filter="fade">
                                      <p:cBhvr>
                                        <p:cTn id="21" dur="450"/>
                                        <p:tgtEl>
                                          <p:spTgt spid="13"/>
                                        </p:tgtEl>
                                      </p:cBhvr>
                                    </p:animEffect>
                                  </p:childTnLst>
                                </p:cTn>
                              </p:par>
                              <p:par>
                                <p:cTn id="22" presetID="10" presetClass="entr" presetSubtype="0" fill="hold" grpId="0" nodeType="withEffect">
                                  <p:stCondLst>
                                    <p:cond delay="0"/>
                                  </p:stCondLst>
                                  <p:childTnLst>
                                    <p:animEffect transition="in" filter="fade">
                                      <p:cBhvr>
                                        <p:cTn id="23" dur="450"/>
                                        <p:tgtEl>
                                          <p:spTgt spid="14"/>
                                        </p:tgtEl>
                                      </p:cBhvr>
                                    </p:animEffect>
                                  </p:childTnLst>
                                </p:cTn>
                              </p:par>
                            </p:childTnLst>
                          </p:cTn>
                        </p:par>
                      </p:childTnLst>
                    </p:cTn>
                  </p:par>
                  <p:par>
                    <p:cTn id="28" fill="hold">
                      <p:stCondLst>
                        <p:cond delay="indefinite"/>
                      </p:stCondLst>
                      <p:childTnLst>
                        <p:par>
                          <p:cTn id="29" fill="hold">
                            <p:stCondLst>
                              <p:cond delay="0"/>
                            </p:stCondLst>
                            <p:childTnLst>
                              <p:par>
                                <p:cTn id="26" presetID="10" presetClass="entr" presetSubtype="0" fill="hold" grpId="0" nodeType="clickEffect">
                                  <p:stCondLst>
                                    <p:cond delay="0"/>
                                  </p:stCondLst>
                                  <p:childTnLst>
                                    <p:animEffect transition="in" filter="fade">
                                      <p:cBhvr>
                                        <p:cTn id="27"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Lst>
  </p:timing>
</p:sld>
</file>

<file path=ppt/slides/slide9.xml><?xml version="1.0" encoding="utf-8"?>
<p:sld xmlns:a="http://schemas.openxmlformats.org/drawingml/2006/main" xmlns:p="http://schemas.openxmlformats.org/presentationml/2006/main">
  <p:cSld name="Slide 9">
    <p:bg>
      <p:bgPr>
        <a:solidFill>
          <a:srgbClr val="F7F4EE"/>
        </a:solidFill>
      </p:bgPr>
    </p:bg>
    <p:spTree>
      <p:nvGrpSpPr>
        <p:cNvPr id="1" name=""/>
        <p:cNvGrpSpPr/>
        <p:nvPr/>
      </p:nvGrpSpPr>
      <p:grpSpPr>
        <a:xfrm>
          <a:off x="0" y="0"/>
          <a:ext cx="0" cy="0"/>
          <a:chOff x="0" y="0"/>
          <a:chExt cx="0" cy="0"/>
        </a:xfrm>
      </p:grpSpPr>
      <p:sp>
        <p:nvSpPr>
          <p:cNvPr id="2" name="static_h"/>
          <p:cNvSpPr/>
          <p:nvPr/>
        </p:nvSpPr>
        <p:spPr>
          <a:xfrm>
            <a:off x="566928" y="256032"/>
            <a:ext cx="7680960" cy="256032"/>
          </a:xfrm>
          <a:prstGeom prst="rect">
            <a:avLst/>
          </a:prstGeom>
          <a:noFill/>
          <a:ln/>
        </p:spPr>
        <p:txBody>
          <a:bodyPr wrap="square" lIns="0" tIns="0" rIns="0" bIns="0" rtlCol="0" anchor="ctr"/>
          <a:lstStyle/>
          <a:p>
            <a:pPr indent="0" marL="0">
              <a:buNone/>
            </a:pPr>
            <a:r>
              <a:rPr lang="en-US" sz="1100" spc="220" kern="0" dirty="0">
                <a:solidFill>
                  <a:srgbClr val="6B6560"/>
                </a:solidFill>
                <a:latin typeface="Calibri" pitchFamily="34" charset="0"/>
                <a:ea typeface="Calibri" pitchFamily="34" charset="-122"/>
                <a:cs typeface="Calibri" pitchFamily="34" charset="-120"/>
              </a:rPr>
              <a:t>08  ·  EVALUATION</a:t>
            </a:r>
            <a:endParaRPr lang="en-US" sz="1100" dirty="0"/>
          </a:p>
        </p:txBody>
      </p:sp>
      <p:sp>
        <p:nvSpPr>
          <p:cNvPr id="3" name="static_p"/>
          <p:cNvSpPr/>
          <p:nvPr/>
        </p:nvSpPr>
        <p:spPr>
          <a:xfrm>
            <a:off x="10161727" y="256032"/>
            <a:ext cx="1463040"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09  /  10</a:t>
            </a:r>
            <a:endParaRPr lang="en-US" sz="1100" dirty="0"/>
          </a:p>
        </p:txBody>
      </p:sp>
      <p:sp>
        <p:nvSpPr>
          <p:cNvPr id="4" name="static_rule"/>
          <p:cNvSpPr/>
          <p:nvPr/>
        </p:nvSpPr>
        <p:spPr>
          <a:xfrm>
            <a:off x="566928" y="566928"/>
            <a:ext cx="11057839" cy="13716"/>
          </a:xfrm>
          <a:prstGeom prst="rect">
            <a:avLst/>
          </a:prstGeom>
          <a:solidFill>
            <a:srgbClr val="D9D2C5"/>
          </a:solidFill>
          <a:ln/>
        </p:spPr>
      </p:sp>
      <p:sp>
        <p:nvSpPr>
          <p:cNvPr id="5" name="click_01_title"/>
          <p:cNvSpPr/>
          <p:nvPr/>
        </p:nvSpPr>
        <p:spPr>
          <a:xfrm>
            <a:off x="566928" y="713232"/>
            <a:ext cx="11057839" cy="475488"/>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What will be measured. Nothing is claimed as a result today.</a:t>
            </a:r>
            <a:endParaRPr lang="en-US" sz="2600" dirty="0"/>
          </a:p>
        </p:txBody>
      </p:sp>
      <p:sp>
        <p:nvSpPr>
          <p:cNvPr id="6" name="static_f"/>
          <p:cNvSpPr/>
          <p:nvPr/>
        </p:nvSpPr>
        <p:spPr>
          <a:xfrm>
            <a:off x="566928" y="6528816"/>
            <a:ext cx="11057839" cy="219456"/>
          </a:xfrm>
          <a:prstGeom prst="rect">
            <a:avLst/>
          </a:prstGeom>
          <a:noFill/>
          <a:ln/>
        </p:spPr>
        <p:txBody>
          <a:bodyPr wrap="square" lIns="0" tIns="0" rIns="0" bIns="0" rtlCol="0" anchor="ctr"/>
          <a:lstStyle/>
          <a:p>
            <a:pPr indent="0" marL="0">
              <a:buNone/>
            </a:pPr>
            <a:r>
              <a:rPr lang="en-US" sz="10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000" dirty="0"/>
          </a:p>
        </p:txBody>
      </p:sp>
      <p:sp>
        <p:nvSpPr>
          <p:cNvPr id="7" name="click_02_bg"/>
          <p:cNvSpPr/>
          <p:nvPr/>
        </p:nvSpPr>
        <p:spPr>
          <a:xfrm>
            <a:off x="566928" y="1298448"/>
            <a:ext cx="5376672" cy="2176272"/>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8" name="click_02_bar"/>
          <p:cNvSpPr/>
          <p:nvPr/>
        </p:nvSpPr>
        <p:spPr>
          <a:xfrm>
            <a:off x="566928" y="1298448"/>
            <a:ext cx="73152" cy="2176272"/>
          </a:xfrm>
          <a:prstGeom prst="rect">
            <a:avLst/>
          </a:prstGeom>
          <a:solidFill>
            <a:srgbClr val="0E1A2B"/>
          </a:solidFill>
          <a:ln/>
        </p:spPr>
      </p:sp>
      <p:sp>
        <p:nvSpPr>
          <p:cNvPr id="9" name="click_02_h"/>
          <p:cNvSpPr/>
          <p:nvPr/>
        </p:nvSpPr>
        <p:spPr>
          <a:xfrm>
            <a:off x="822960" y="1463040"/>
            <a:ext cx="4892040" cy="365760"/>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Specialist replication</a:t>
            </a:r>
            <a:endParaRPr lang="en-US" sz="1600" dirty="0"/>
          </a:p>
        </p:txBody>
      </p:sp>
      <p:sp>
        <p:nvSpPr>
          <p:cNvPr id="10" name="click_02_t"/>
          <p:cNvSpPr/>
          <p:nvPr/>
        </p:nvSpPr>
        <p:spPr>
          <a:xfrm>
            <a:off x="822960" y="1883664"/>
            <a:ext cx="4892040" cy="137160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CheXpert AUROC / F1 on the official split. ISIC accuracy / macro-F1, lesion-id splits. Document field-F1 and exact batch match.</a:t>
            </a:r>
            <a:endParaRPr lang="en-US" sz="1400" dirty="0"/>
          </a:p>
        </p:txBody>
      </p:sp>
      <p:sp>
        <p:nvSpPr>
          <p:cNvPr id="11" name="click_03_bg"/>
          <p:cNvSpPr/>
          <p:nvPr/>
        </p:nvSpPr>
        <p:spPr>
          <a:xfrm>
            <a:off x="6236208" y="1298448"/>
            <a:ext cx="5376672" cy="2176272"/>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12" name="click_03_bar"/>
          <p:cNvSpPr/>
          <p:nvPr/>
        </p:nvSpPr>
        <p:spPr>
          <a:xfrm>
            <a:off x="6236208" y="1298448"/>
            <a:ext cx="73152" cy="2176272"/>
          </a:xfrm>
          <a:prstGeom prst="rect">
            <a:avLst/>
          </a:prstGeom>
          <a:solidFill>
            <a:srgbClr val="0E1A2B"/>
          </a:solidFill>
          <a:ln/>
        </p:spPr>
      </p:sp>
      <p:sp>
        <p:nvSpPr>
          <p:cNvPr id="13" name="click_03_h"/>
          <p:cNvSpPr/>
          <p:nvPr/>
        </p:nvSpPr>
        <p:spPr>
          <a:xfrm>
            <a:off x="6492240" y="1463040"/>
            <a:ext cx="4892040" cy="365760"/>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Product metrics</a:t>
            </a:r>
            <a:endParaRPr lang="en-US" sz="1600" dirty="0"/>
          </a:p>
        </p:txBody>
      </p:sp>
      <p:sp>
        <p:nvSpPr>
          <p:cNvPr id="14" name="click_03_t"/>
          <p:cNvSpPr/>
          <p:nvPr/>
        </p:nvSpPr>
        <p:spPr>
          <a:xfrm>
            <a:off x="6492240" y="1883664"/>
            <a:ext cx="4892040" cy="137160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Coverage. Ungrounded rate. Correct refuse. Coverage-versus-ungrounded Pareto. These are the enhancement.</a:t>
            </a:r>
            <a:endParaRPr lang="en-US" sz="1400" dirty="0"/>
          </a:p>
        </p:txBody>
      </p:sp>
      <p:sp>
        <p:nvSpPr>
          <p:cNvPr id="15" name="click_04_bg"/>
          <p:cNvSpPr/>
          <p:nvPr/>
        </p:nvSpPr>
        <p:spPr>
          <a:xfrm>
            <a:off x="566928" y="3630168"/>
            <a:ext cx="5376672" cy="2176272"/>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16" name="click_04_bar"/>
          <p:cNvSpPr/>
          <p:nvPr/>
        </p:nvSpPr>
        <p:spPr>
          <a:xfrm>
            <a:off x="566928" y="3630168"/>
            <a:ext cx="73152" cy="2176272"/>
          </a:xfrm>
          <a:prstGeom prst="rect">
            <a:avLst/>
          </a:prstGeom>
          <a:solidFill>
            <a:srgbClr val="0E1A2B"/>
          </a:solidFill>
          <a:ln/>
        </p:spPr>
      </p:sp>
      <p:sp>
        <p:nvSpPr>
          <p:cNvPr id="17" name="click_04_h"/>
          <p:cNvSpPr/>
          <p:nvPr/>
        </p:nvSpPr>
        <p:spPr>
          <a:xfrm>
            <a:off x="822960" y="3794760"/>
            <a:ext cx="4892040" cy="365760"/>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Ablations</a:t>
            </a:r>
            <a:endParaRPr lang="en-US" sz="1600" dirty="0"/>
          </a:p>
        </p:txBody>
      </p:sp>
      <p:sp>
        <p:nvSpPr>
          <p:cNvPr id="18" name="click_04_t"/>
          <p:cNvSpPr/>
          <p:nvPr/>
        </p:nvSpPr>
        <p:spPr>
          <a:xfrm>
            <a:off x="822960" y="4215384"/>
            <a:ext cx="4892040" cy="137160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Hand prompt vs GEPA vs refusal-aware ICL vs visual STW. If an enhancement does not win, that is reported.</a:t>
            </a:r>
            <a:endParaRPr lang="en-US" sz="1400" dirty="0"/>
          </a:p>
        </p:txBody>
      </p:sp>
      <p:sp>
        <p:nvSpPr>
          <p:cNvPr id="19" name="click_05_bg"/>
          <p:cNvSpPr/>
          <p:nvPr/>
        </p:nvSpPr>
        <p:spPr>
          <a:xfrm>
            <a:off x="6236208" y="3630168"/>
            <a:ext cx="5376672" cy="2176272"/>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20" name="click_05_bar"/>
          <p:cNvSpPr/>
          <p:nvPr/>
        </p:nvSpPr>
        <p:spPr>
          <a:xfrm>
            <a:off x="6236208" y="3630168"/>
            <a:ext cx="73152" cy="2176272"/>
          </a:xfrm>
          <a:prstGeom prst="rect">
            <a:avLst/>
          </a:prstGeom>
          <a:solidFill>
            <a:srgbClr val="8B3A3A"/>
          </a:solidFill>
          <a:ln/>
        </p:spPr>
      </p:sp>
      <p:sp>
        <p:nvSpPr>
          <p:cNvPr id="21" name="click_05_h"/>
          <p:cNvSpPr/>
          <p:nvPr/>
        </p:nvSpPr>
        <p:spPr>
          <a:xfrm>
            <a:off x="6492240" y="3794760"/>
            <a:ext cx="4892040" cy="365760"/>
          </a:xfrm>
          <a:prstGeom prst="rect">
            <a:avLst/>
          </a:prstGeom>
          <a:noFill/>
          <a:ln/>
        </p:spPr>
        <p:txBody>
          <a:bodyPr wrap="square" lIns="0" tIns="0" rIns="0" bIns="0" rtlCol="0" anchor="ctr"/>
          <a:lstStyle/>
          <a:p>
            <a:pPr indent="0" marL="0">
              <a:buNone/>
            </a:pPr>
            <a:r>
              <a:rPr lang="en-US" sz="1600" dirty="0">
                <a:solidFill>
                  <a:srgbClr val="1C1917"/>
                </a:solidFill>
                <a:latin typeface="Georgia" pitchFamily="34" charset="0"/>
                <a:ea typeface="Georgia" pitchFamily="34" charset="-122"/>
                <a:cs typeface="Georgia" pitchFamily="34" charset="-120"/>
              </a:rPr>
              <a:t>Not reported</a:t>
            </a:r>
            <a:endParaRPr lang="en-US" sz="1600" dirty="0"/>
          </a:p>
        </p:txBody>
      </p:sp>
      <p:sp>
        <p:nvSpPr>
          <p:cNvPr id="22" name="click_05_t"/>
          <p:cNvSpPr/>
          <p:nvPr/>
        </p:nvSpPr>
        <p:spPr>
          <a:xfrm>
            <a:off x="6492240" y="4215384"/>
            <a:ext cx="4892040" cy="1371600"/>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Diagnostic accuracy vs radiologists. Lives saved. Invented percentages. “98% cancer.”</a:t>
            </a:r>
            <a:endParaRPr lang="en-US" sz="1400" dirty="0"/>
          </a:p>
        </p:txBody>
      </p:sp>
    </p:spTree>
  </p:cSld>
  <p:clrMapOvr>
    <a:masterClrMapping/>
  </p:clrMapOvr>
  <p:transition spd="med" advClick="1">
    <p:fade/>
  </p:transition>
  <p:timing>
    <p:tnLst>
      <p:par>
        <p:cTn id="1" dur="indefinite" restart="never" nodeType="tmRoot">
          <p:childTnLst>
            <p:seq concurrent="true" nextAc="seek">
              <p:cTn id="46"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5"/>
                                        </p:tgtEl>
                                      </p:cBhvr>
                                    </p:animEffect>
                                  </p:childTnLst>
                                </p:cTn>
                              </p:par>
                            </p:childTnLst>
                          </p:cTn>
                        </p:par>
                      </p:childTnLst>
                    </p:cTn>
                  </p:par>
                  <p:par>
                    <p:cTn id="14" fill="hold">
                      <p:stCondLst>
                        <p:cond delay="indefinite"/>
                      </p:stCondLst>
                      <p:childTnLst>
                        <p:par>
                          <p:cTn id="15"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0"/>
                                        </p:tgtEl>
                                      </p:cBhvr>
                                    </p:animEffect>
                                  </p:childTnLst>
                                </p:cTn>
                              </p:par>
                            </p:childTnLst>
                          </p:cTn>
                        </p:par>
                      </p:childTnLst>
                    </p:cTn>
                  </p:par>
                  <p:par>
                    <p:cTn id="24" fill="hold">
                      <p:stCondLst>
                        <p:cond delay="indefinite"/>
                      </p:stCondLst>
                      <p:childTnLst>
                        <p:par>
                          <p:cTn id="25" fill="hold">
                            <p:stCondLst>
                              <p:cond delay="0"/>
                            </p:stCondLst>
                            <p:childTnLst>
                              <p:par>
                                <p:cTn id="16" presetID="10" presetClass="entr" presetSubtype="0" fill="hold" grpId="0" nodeType="clickEffect">
                                  <p:stCondLst>
                                    <p:cond delay="0"/>
                                  </p:stCondLst>
                                  <p:childTnLst>
                                    <p:animEffect transition="in" filter="fade">
                                      <p:cBhvr>
                                        <p:cTn id="17" dur="450"/>
                                        <p:tgtEl>
                                          <p:spTgt spid="11"/>
                                        </p:tgtEl>
                                      </p:cBhvr>
                                    </p:animEffect>
                                  </p:childTnLst>
                                </p:cTn>
                              </p:par>
                              <p:par>
                                <p:cTn id="18" presetID="10" presetClass="entr" presetSubtype="0" fill="hold" grpId="0" nodeType="withEffect">
                                  <p:stCondLst>
                                    <p:cond delay="0"/>
                                  </p:stCondLst>
                                  <p:childTnLst>
                                    <p:animEffect transition="in" filter="fade">
                                      <p:cBhvr>
                                        <p:cTn id="19" dur="450"/>
                                        <p:tgtEl>
                                          <p:spTgt spid="12"/>
                                        </p:tgtEl>
                                      </p:cBhvr>
                                    </p:animEffect>
                                  </p:childTnLst>
                                </p:cTn>
                              </p:par>
                              <p:par>
                                <p:cTn id="20" presetID="10" presetClass="entr" presetSubtype="0" fill="hold" grpId="0" nodeType="withEffect">
                                  <p:stCondLst>
                                    <p:cond delay="0"/>
                                  </p:stCondLst>
                                  <p:childTnLst>
                                    <p:animEffect transition="in" filter="fade">
                                      <p:cBhvr>
                                        <p:cTn id="21" dur="450"/>
                                        <p:tgtEl>
                                          <p:spTgt spid="13"/>
                                        </p:tgtEl>
                                      </p:cBhvr>
                                    </p:animEffect>
                                  </p:childTnLst>
                                </p:cTn>
                              </p:par>
                              <p:par>
                                <p:cTn id="22" presetID="10" presetClass="entr" presetSubtype="0" fill="hold" grpId="0" nodeType="withEffect">
                                  <p:stCondLst>
                                    <p:cond delay="0"/>
                                  </p:stCondLst>
                                  <p:childTnLst>
                                    <p:animEffect transition="in" filter="fade">
                                      <p:cBhvr>
                                        <p:cTn id="23" dur="450"/>
                                        <p:tgtEl>
                                          <p:spTgt spid="14"/>
                                        </p:tgtEl>
                                      </p:cBhvr>
                                    </p:animEffect>
                                  </p:childTnLst>
                                </p:cTn>
                              </p:par>
                            </p:childTnLst>
                          </p:cTn>
                        </p:par>
                      </p:childTnLst>
                    </p:cTn>
                  </p:par>
                  <p:par>
                    <p:cTn id="34" fill="hold">
                      <p:stCondLst>
                        <p:cond delay="indefinite"/>
                      </p:stCondLst>
                      <p:childTnLst>
                        <p:par>
                          <p:cTn id="35" fill="hold">
                            <p:stCondLst>
                              <p:cond delay="0"/>
                            </p:stCondLst>
                            <p:childTnLst>
                              <p:par>
                                <p:cTn id="26" presetID="10" presetClass="entr" presetSubtype="0" fill="hold" grpId="0" nodeType="clickEffect">
                                  <p:stCondLst>
                                    <p:cond delay="0"/>
                                  </p:stCondLst>
                                  <p:childTnLst>
                                    <p:animEffect transition="in" filter="fade">
                                      <p:cBhvr>
                                        <p:cTn id="27" dur="450"/>
                                        <p:tgtEl>
                                          <p:spTgt spid="15"/>
                                        </p:tgtEl>
                                      </p:cBhvr>
                                    </p:animEffect>
                                  </p:childTnLst>
                                </p:cTn>
                              </p:par>
                              <p:par>
                                <p:cTn id="28" presetID="10" presetClass="entr" presetSubtype="0" fill="hold" grpId="0" nodeType="withEffect">
                                  <p:stCondLst>
                                    <p:cond delay="0"/>
                                  </p:stCondLst>
                                  <p:childTnLst>
                                    <p:animEffect transition="in" filter="fade">
                                      <p:cBhvr>
                                        <p:cTn id="29" dur="450"/>
                                        <p:tgtEl>
                                          <p:spTgt spid="16"/>
                                        </p:tgtEl>
                                      </p:cBhvr>
                                    </p:animEffect>
                                  </p:childTnLst>
                                </p:cTn>
                              </p:par>
                              <p:par>
                                <p:cTn id="30" presetID="10" presetClass="entr" presetSubtype="0" fill="hold" grpId="0" nodeType="withEffect">
                                  <p:stCondLst>
                                    <p:cond delay="0"/>
                                  </p:stCondLst>
                                  <p:childTnLst>
                                    <p:animEffect transition="in" filter="fade">
                                      <p:cBhvr>
                                        <p:cTn id="31" dur="450"/>
                                        <p:tgtEl>
                                          <p:spTgt spid="17"/>
                                        </p:tgtEl>
                                      </p:cBhvr>
                                    </p:animEffect>
                                  </p:childTnLst>
                                </p:cTn>
                              </p:par>
                              <p:par>
                                <p:cTn id="32" presetID="10" presetClass="entr" presetSubtype="0" fill="hold" grpId="0" nodeType="withEffect">
                                  <p:stCondLst>
                                    <p:cond delay="0"/>
                                  </p:stCondLst>
                                  <p:childTnLst>
                                    <p:animEffect transition="in" filter="fade">
                                      <p:cBhvr>
                                        <p:cTn id="33" dur="450"/>
                                        <p:tgtEl>
                                          <p:spTgt spid="18"/>
                                        </p:tgtEl>
                                      </p:cBhvr>
                                    </p:animEffect>
                                  </p:childTnLst>
                                </p:cTn>
                              </p:par>
                            </p:childTnLst>
                          </p:cTn>
                        </p:par>
                      </p:childTnLst>
                    </p:cTn>
                  </p:par>
                  <p:par>
                    <p:cTn id="44" fill="hold">
                      <p:stCondLst>
                        <p:cond delay="indefinite"/>
                      </p:stCondLst>
                      <p:childTnLst>
                        <p:par>
                          <p:cTn id="45" fill="hold">
                            <p:stCondLst>
                              <p:cond delay="0"/>
                            </p:stCondLst>
                            <p:childTnLst>
                              <p:par>
                                <p:cTn id="36" presetID="10" presetClass="entr" presetSubtype="0" fill="hold" grpId="0" nodeType="clickEffect">
                                  <p:stCondLst>
                                    <p:cond delay="0"/>
                                  </p:stCondLst>
                                  <p:childTnLst>
                                    <p:animEffect transition="in" filter="fade">
                                      <p:cBhvr>
                                        <p:cTn id="37" dur="450"/>
                                        <p:tgtEl>
                                          <p:spTgt spid="19"/>
                                        </p:tgtEl>
                                      </p:cBhvr>
                                    </p:animEffect>
                                  </p:childTnLst>
                                </p:cTn>
                              </p:par>
                              <p:par>
                                <p:cTn id="38" presetID="10" presetClass="entr" presetSubtype="0" fill="hold" grpId="0" nodeType="withEffect">
                                  <p:stCondLst>
                                    <p:cond delay="0"/>
                                  </p:stCondLst>
                                  <p:childTnLst>
                                    <p:animEffect transition="in" filter="fade">
                                      <p:cBhvr>
                                        <p:cTn id="39" dur="450"/>
                                        <p:tgtEl>
                                          <p:spTgt spid="20"/>
                                        </p:tgtEl>
                                      </p:cBhvr>
                                    </p:animEffect>
                                  </p:childTnLst>
                                </p:cTn>
                              </p:par>
                              <p:par>
                                <p:cTn id="40" presetID="10" presetClass="entr" presetSubtype="0" fill="hold" grpId="0" nodeType="withEffect">
                                  <p:stCondLst>
                                    <p:cond delay="0"/>
                                  </p:stCondLst>
                                  <p:childTnLst>
                                    <p:animEffect transition="in" filter="fade">
                                      <p:cBhvr>
                                        <p:cTn id="41" dur="450"/>
                                        <p:tgtEl>
                                          <p:spTgt spid="21"/>
                                        </p:tgtEl>
                                      </p:cBhvr>
                                    </p:animEffect>
                                  </p:childTnLst>
                                </p:cTn>
                              </p:par>
                              <p:par>
                                <p:cTn id="42" presetID="10" presetClass="entr" presetSubtype="0" fill="hold" grpId="0" nodeType="withEffect">
                                  <p:stCondLst>
                                    <p:cond delay="0"/>
                                  </p:stCondLst>
                                  <p:childTnLst>
                                    <p:animEffect transition="in" filter="fade">
                                      <p:cBhvr>
                                        <p:cTn id="43"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10.xml><?xml version="1.0" encoding="utf-8"?>
<p:sld xmlns:a="http://schemas.openxmlformats.org/drawingml/2006/main" xmlns:p="http://schemas.openxmlformats.org/presentationml/2006/main">
  <p:cSld name="Slide 10">
    <p:bg>
      <p:bgPr>
        <a:solidFill>
          <a:srgbClr val="F7F4EE"/>
        </a:solidFill>
      </p:bgPr>
    </p:bg>
    <p:spTree>
      <p:nvGrpSpPr>
        <p:cNvPr id="1" name=""/>
        <p:cNvGrpSpPr/>
        <p:nvPr/>
      </p:nvGrpSpPr>
      <p:grpSpPr>
        <a:xfrm>
          <a:off x="0" y="0"/>
          <a:ext cx="0" cy="0"/>
          <a:chOff x="0" y="0"/>
          <a:chExt cx="0" cy="0"/>
        </a:xfrm>
      </p:grpSpPr>
      <p:sp>
        <p:nvSpPr>
          <p:cNvPr id="2" name="static_h"/>
          <p:cNvSpPr/>
          <p:nvPr/>
        </p:nvSpPr>
        <p:spPr>
          <a:xfrm>
            <a:off x="566928" y="256032"/>
            <a:ext cx="7680960" cy="256032"/>
          </a:xfrm>
          <a:prstGeom prst="rect">
            <a:avLst/>
          </a:prstGeom>
          <a:noFill/>
          <a:ln/>
        </p:spPr>
        <p:txBody>
          <a:bodyPr wrap="square" lIns="0" tIns="0" rIns="0" bIns="0" rtlCol="0" anchor="ctr"/>
          <a:lstStyle/>
          <a:p>
            <a:pPr indent="0" marL="0">
              <a:buNone/>
            </a:pPr>
            <a:r>
              <a:rPr lang="en-US" sz="1100" spc="220" kern="0" dirty="0">
                <a:solidFill>
                  <a:srgbClr val="6B6560"/>
                </a:solidFill>
                <a:latin typeface="Calibri" pitchFamily="34" charset="0"/>
                <a:ea typeface="Calibri" pitchFamily="34" charset="-122"/>
                <a:cs typeface="Calibri" pitchFamily="34" charset="-120"/>
              </a:rPr>
              <a:t>09  ·  SCOPE AND CLOSE</a:t>
            </a:r>
            <a:endParaRPr lang="en-US" sz="1100" dirty="0"/>
          </a:p>
        </p:txBody>
      </p:sp>
      <p:sp>
        <p:nvSpPr>
          <p:cNvPr id="3" name="static_p"/>
          <p:cNvSpPr/>
          <p:nvPr/>
        </p:nvSpPr>
        <p:spPr>
          <a:xfrm>
            <a:off x="10161727" y="256032"/>
            <a:ext cx="1463040" cy="256032"/>
          </a:xfrm>
          <a:prstGeom prst="rect">
            <a:avLst/>
          </a:prstGeom>
          <a:noFill/>
          <a:ln/>
        </p:spPr>
        <p:txBody>
          <a:bodyPr wrap="square" lIns="0" tIns="0" rIns="0" bIns="0" rtlCol="0" anchor="ctr"/>
          <a:lstStyle/>
          <a:p>
            <a:pPr algn="r" indent="0" marL="0">
              <a:buNone/>
            </a:pPr>
            <a:r>
              <a:rPr lang="en-US" sz="1100" dirty="0">
                <a:solidFill>
                  <a:srgbClr val="6B6560"/>
                </a:solidFill>
                <a:latin typeface="Calibri" pitchFamily="34" charset="0"/>
                <a:ea typeface="Calibri" pitchFamily="34" charset="-122"/>
                <a:cs typeface="Calibri" pitchFamily="34" charset="-120"/>
              </a:rPr>
              <a:t>10  /  10</a:t>
            </a:r>
            <a:endParaRPr lang="en-US" sz="1100" dirty="0"/>
          </a:p>
        </p:txBody>
      </p:sp>
      <p:sp>
        <p:nvSpPr>
          <p:cNvPr id="4" name="static_rule"/>
          <p:cNvSpPr/>
          <p:nvPr/>
        </p:nvSpPr>
        <p:spPr>
          <a:xfrm>
            <a:off x="566928" y="566928"/>
            <a:ext cx="11057839" cy="13716"/>
          </a:xfrm>
          <a:prstGeom prst="rect">
            <a:avLst/>
          </a:prstGeom>
          <a:solidFill>
            <a:srgbClr val="D9D2C5"/>
          </a:solidFill>
          <a:ln/>
        </p:spPr>
      </p:sp>
      <p:sp>
        <p:nvSpPr>
          <p:cNvPr id="5" name="static_f"/>
          <p:cNvSpPr/>
          <p:nvPr/>
        </p:nvSpPr>
        <p:spPr>
          <a:xfrm>
            <a:off x="566928" y="6528816"/>
            <a:ext cx="11057839" cy="219456"/>
          </a:xfrm>
          <a:prstGeom prst="rect">
            <a:avLst/>
          </a:prstGeom>
          <a:noFill/>
          <a:ln/>
        </p:spPr>
        <p:txBody>
          <a:bodyPr wrap="square" lIns="0" tIns="0" rIns="0" bIns="0" rtlCol="0" anchor="ctr"/>
          <a:lstStyle/>
          <a:p>
            <a:pPr indent="0" marL="0">
              <a:buNone/>
            </a:pPr>
            <a:r>
              <a:rPr lang="en-US" sz="1000" dirty="0">
                <a:solidFill>
                  <a:srgbClr val="6B6560"/>
                </a:solidFill>
                <a:latin typeface="Calibri" pitchFamily="34" charset="0"/>
                <a:ea typeface="Calibri" pitchFamily="34" charset="-122"/>
                <a:cs typeface="Calibri" pitchFamily="34" charset="-120"/>
              </a:rPr>
              <a:t>Graphic Era Deemed to be University  ·  B.Tech CSE Core  ·  Phase-1 Synopsis  ·  September 2026</a:t>
            </a:r>
            <a:endParaRPr lang="en-US" sz="1000" dirty="0"/>
          </a:p>
        </p:txBody>
      </p:sp>
      <p:sp>
        <p:nvSpPr>
          <p:cNvPr id="6" name="click_01_title"/>
          <p:cNvSpPr/>
          <p:nvPr/>
        </p:nvSpPr>
        <p:spPr>
          <a:xfrm>
            <a:off x="566928" y="713232"/>
            <a:ext cx="11018520" cy="457200"/>
          </a:xfrm>
          <a:prstGeom prst="rect">
            <a:avLst/>
          </a:prstGeom>
          <a:noFill/>
          <a:ln/>
        </p:spPr>
        <p:txBody>
          <a:bodyPr wrap="square" lIns="0" tIns="0" rIns="0" bIns="0" rtlCol="0" anchor="ctr"/>
          <a:lstStyle/>
          <a:p>
            <a:pPr indent="0" marL="0">
              <a:buNone/>
            </a:pPr>
            <a:r>
              <a:rPr lang="en-US" sz="2600" dirty="0">
                <a:solidFill>
                  <a:srgbClr val="1C1917"/>
                </a:solidFill>
                <a:latin typeface="Georgia" pitchFamily="34" charset="0"/>
                <a:ea typeface="Georgia" pitchFamily="34" charset="-122"/>
                <a:cs typeface="Georgia" pitchFamily="34" charset="-120"/>
              </a:rPr>
              <a:t>What we will do. What we will not claim.</a:t>
            </a:r>
            <a:endParaRPr lang="en-US" sz="2600" dirty="0"/>
          </a:p>
        </p:txBody>
      </p:sp>
      <p:sp>
        <p:nvSpPr>
          <p:cNvPr id="7" name="click_02_bg"/>
          <p:cNvSpPr/>
          <p:nvPr/>
        </p:nvSpPr>
        <p:spPr>
          <a:xfrm>
            <a:off x="566928" y="1298448"/>
            <a:ext cx="5376672" cy="306324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8" name="click_02_bar"/>
          <p:cNvSpPr/>
          <p:nvPr/>
        </p:nvSpPr>
        <p:spPr>
          <a:xfrm>
            <a:off x="566928" y="1298448"/>
            <a:ext cx="73152" cy="3063240"/>
          </a:xfrm>
          <a:prstGeom prst="rect">
            <a:avLst/>
          </a:prstGeom>
          <a:solidFill>
            <a:srgbClr val="2F5D50"/>
          </a:solidFill>
          <a:ln/>
        </p:spPr>
      </p:sp>
      <p:sp>
        <p:nvSpPr>
          <p:cNvPr id="9" name="click_02_h"/>
          <p:cNvSpPr/>
          <p:nvPr/>
        </p:nvSpPr>
        <p:spPr>
          <a:xfrm>
            <a:off x="859536" y="1444752"/>
            <a:ext cx="4846320" cy="274320"/>
          </a:xfrm>
          <a:prstGeom prst="rect">
            <a:avLst/>
          </a:prstGeom>
          <a:noFill/>
          <a:ln/>
        </p:spPr>
        <p:txBody>
          <a:bodyPr wrap="square" lIns="0" tIns="0" rIns="0" bIns="0" rtlCol="0" anchor="ctr"/>
          <a:lstStyle/>
          <a:p>
            <a:pPr indent="0" marL="0">
              <a:buNone/>
            </a:pPr>
            <a:r>
              <a:rPr lang="en-US" sz="1200" spc="160" kern="0" dirty="0">
                <a:solidFill>
                  <a:srgbClr val="B8954A"/>
                </a:solidFill>
                <a:latin typeface="Calibri" pitchFamily="34" charset="0"/>
                <a:ea typeface="Calibri" pitchFamily="34" charset="-122"/>
                <a:cs typeface="Calibri" pitchFamily="34" charset="-120"/>
              </a:rPr>
              <a:t>WILL</a:t>
            </a:r>
            <a:endParaRPr lang="en-US" sz="1200" dirty="0"/>
          </a:p>
        </p:txBody>
      </p:sp>
      <p:sp>
        <p:nvSpPr>
          <p:cNvPr id="10" name="click_02_b"/>
          <p:cNvSpPr/>
          <p:nvPr/>
        </p:nvSpPr>
        <p:spPr>
          <a:xfrm>
            <a:off x="859536" y="1810512"/>
            <a:ext cx="4846320" cy="2331720"/>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3F3A36"/>
                </a:solidFill>
                <a:latin typeface="Calibri" pitchFamily="34" charset="0"/>
                <a:ea typeface="Calibri" pitchFamily="34" charset="-122"/>
                <a:cs typeface="Calibri" pitchFamily="34" charset="-120"/>
              </a:rPr>
              <a:t>Train and freeze CXR, skin, and document tools on public research sets.</a:t>
            </a:r>
            <a:endParaRPr lang="en-US" sz="1400" dirty="0"/>
          </a:p>
          <a:p>
            <a:pPr marL="342900" indent="-342900">
              <a:spcAft>
                <a:spcPts val="700"/>
              </a:spcAft>
              <a:buSzPct val="100000"/>
              <a:buChar char="•"/>
            </a:pPr>
            <a:r>
              <a:rPr lang="en-US" sz="1400" dirty="0">
                <a:solidFill>
                  <a:srgbClr val="3F3A36"/>
                </a:solidFill>
                <a:latin typeface="Calibri" pitchFamily="34" charset="0"/>
                <a:ea typeface="Calibri" pitchFamily="34" charset="-122"/>
                <a:cs typeface="Calibri" pitchFamily="34" charset="-120"/>
              </a:rPr>
              <a:t>Register lookups over NLEM, CDSCO, and STW pages.</a:t>
            </a:r>
            <a:endParaRPr lang="en-US" sz="1400" dirty="0"/>
          </a:p>
          <a:p>
            <a:pPr marL="342900" indent="-342900">
              <a:spcAft>
                <a:spcPts val="700"/>
              </a:spcAft>
              <a:buSzPct val="100000"/>
              <a:buChar char="•"/>
            </a:pPr>
            <a:r>
              <a:rPr lang="en-US" sz="1400" dirty="0">
                <a:solidFill>
                  <a:srgbClr val="3F3A36"/>
                </a:solidFill>
                <a:latin typeface="Calibri" pitchFamily="34" charset="0"/>
                <a:ea typeface="Calibri" pitchFamily="34" charset="-122"/>
                <a:cs typeface="Calibri" pitchFamily="34" charset="-120"/>
              </a:rPr>
              <a:t>Build a gold set that includes refusals.</a:t>
            </a:r>
            <a:endParaRPr lang="en-US" sz="1400" dirty="0"/>
          </a:p>
          <a:p>
            <a:pPr marL="342900" indent="-342900">
              <a:spcAft>
                <a:spcPts val="700"/>
              </a:spcAft>
              <a:buSzPct val="100000"/>
              <a:buChar char="•"/>
            </a:pPr>
            <a:r>
              <a:rPr lang="en-US" sz="1400" dirty="0">
                <a:solidFill>
                  <a:srgbClr val="3F3A36"/>
                </a:solidFill>
                <a:latin typeface="Calibri" pitchFamily="34" charset="0"/>
                <a:ea typeface="Calibri" pitchFamily="34" charset="-122"/>
                <a:cs typeface="Calibri" pitchFamily="34" charset="-120"/>
              </a:rPr>
              <a:t>Evolve prompts with GEPA, freeze them, demo a watermarked card.</a:t>
            </a:r>
            <a:endParaRPr lang="en-US" sz="1400" dirty="0"/>
          </a:p>
        </p:txBody>
      </p:sp>
      <p:sp>
        <p:nvSpPr>
          <p:cNvPr id="11" name="click_03_bg"/>
          <p:cNvSpPr/>
          <p:nvPr/>
        </p:nvSpPr>
        <p:spPr>
          <a:xfrm>
            <a:off x="6236208" y="1298448"/>
            <a:ext cx="5376672" cy="3063240"/>
          </a:xfrm>
          <a:prstGeom prst="rect">
            <a:avLst/>
          </a:prstGeom>
          <a:solidFill>
            <a:srgbClr val="FFFCF7"/>
          </a:solidFill>
          <a:ln/>
          <a:effectLst>
            <a:outerShdw sx="100000" sy="100000" kx="0" ky="0" algn="bl" rotWithShape="0" blurRad="101600" dist="25400" dir="8100000">
              <a:srgbClr val="000000">
                <a:alpha val="8000"/>
              </a:srgbClr>
            </a:outerShdw>
          </a:effectLst>
        </p:spPr>
      </p:sp>
      <p:sp>
        <p:nvSpPr>
          <p:cNvPr id="12" name="click_03_bar"/>
          <p:cNvSpPr/>
          <p:nvPr/>
        </p:nvSpPr>
        <p:spPr>
          <a:xfrm>
            <a:off x="6236208" y="1298448"/>
            <a:ext cx="73152" cy="3063240"/>
          </a:xfrm>
          <a:prstGeom prst="rect">
            <a:avLst/>
          </a:prstGeom>
          <a:solidFill>
            <a:srgbClr val="8B3A3A"/>
          </a:solidFill>
          <a:ln/>
        </p:spPr>
      </p:sp>
      <p:sp>
        <p:nvSpPr>
          <p:cNvPr id="13" name="click_03_h"/>
          <p:cNvSpPr/>
          <p:nvPr/>
        </p:nvSpPr>
        <p:spPr>
          <a:xfrm>
            <a:off x="6528816" y="1444752"/>
            <a:ext cx="4846320" cy="274320"/>
          </a:xfrm>
          <a:prstGeom prst="rect">
            <a:avLst/>
          </a:prstGeom>
          <a:noFill/>
          <a:ln/>
        </p:spPr>
        <p:txBody>
          <a:bodyPr wrap="square" lIns="0" tIns="0" rIns="0" bIns="0" rtlCol="0" anchor="ctr"/>
          <a:lstStyle/>
          <a:p>
            <a:pPr indent="0" marL="0">
              <a:buNone/>
            </a:pPr>
            <a:r>
              <a:rPr lang="en-US" sz="1200" spc="160" kern="0" dirty="0">
                <a:solidFill>
                  <a:srgbClr val="B8954A"/>
                </a:solidFill>
                <a:latin typeface="Calibri" pitchFamily="34" charset="0"/>
                <a:ea typeface="Calibri" pitchFamily="34" charset="-122"/>
                <a:cs typeface="Calibri" pitchFamily="34" charset="-120"/>
              </a:rPr>
              <a:t>WILL NOT</a:t>
            </a:r>
            <a:endParaRPr lang="en-US" sz="1200" dirty="0"/>
          </a:p>
        </p:txBody>
      </p:sp>
      <p:sp>
        <p:nvSpPr>
          <p:cNvPr id="14" name="click_03_b"/>
          <p:cNvSpPr/>
          <p:nvPr/>
        </p:nvSpPr>
        <p:spPr>
          <a:xfrm>
            <a:off x="6528816" y="1810512"/>
            <a:ext cx="4846320" cy="2331720"/>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3F3A36"/>
                </a:solidFill>
                <a:latin typeface="Calibri" pitchFamily="34" charset="0"/>
                <a:ea typeface="Calibri" pitchFamily="34" charset="-122"/>
                <a:cs typeface="Calibri" pitchFamily="34" charset="-120"/>
              </a:rPr>
              <a:t>Pretrain or doctor-fine-tune the large language model.</a:t>
            </a:r>
            <a:endParaRPr lang="en-US" sz="1400" dirty="0"/>
          </a:p>
          <a:p>
            <a:pPr marL="342900" indent="-342900">
              <a:spcAft>
                <a:spcPts val="700"/>
              </a:spcAft>
              <a:buSzPct val="100000"/>
              <a:buChar char="•"/>
            </a:pPr>
            <a:r>
              <a:rPr lang="en-US" sz="1400" dirty="0">
                <a:solidFill>
                  <a:srgbClr val="3F3A36"/>
                </a:solidFill>
                <a:latin typeface="Calibri" pitchFamily="34" charset="0"/>
                <a:ea typeface="Calibri" pitchFamily="34" charset="-122"/>
                <a:cs typeface="Calibri" pitchFamily="34" charset="-120"/>
              </a:rPr>
              <a:t>Deploy in a live clinic or use real hospital charts without ethics.</a:t>
            </a:r>
            <a:endParaRPr lang="en-US" sz="1400" dirty="0"/>
          </a:p>
          <a:p>
            <a:pPr marL="342900" indent="-342900">
              <a:spcAft>
                <a:spcPts val="700"/>
              </a:spcAft>
              <a:buSzPct val="100000"/>
              <a:buChar char="•"/>
            </a:pPr>
            <a:r>
              <a:rPr lang="en-US" sz="1400" dirty="0">
                <a:solidFill>
                  <a:srgbClr val="3F3A36"/>
                </a:solidFill>
                <a:latin typeface="Calibri" pitchFamily="34" charset="0"/>
                <a:ea typeface="Calibri" pitchFamily="34" charset="-122"/>
                <a:cs typeface="Calibri" pitchFamily="34" charset="-120"/>
              </a:rPr>
              <a:t>Auto-prescribe, auto-dial, or claim a reduction in disease burden.</a:t>
            </a:r>
            <a:endParaRPr lang="en-US" sz="1400" dirty="0"/>
          </a:p>
          <a:p>
            <a:pPr marL="342900" indent="-342900">
              <a:spcAft>
                <a:spcPts val="700"/>
              </a:spcAft>
              <a:buSzPct val="100000"/>
              <a:buChar char="•"/>
            </a:pPr>
            <a:r>
              <a:rPr lang="en-US" sz="1400" dirty="0">
                <a:solidFill>
                  <a:srgbClr val="3F3A36"/>
                </a:solidFill>
                <a:latin typeface="Calibri" pitchFamily="34" charset="0"/>
                <a:ea typeface="Calibri" pitchFamily="34" charset="-122"/>
                <a:cs typeface="Calibri" pitchFamily="34" charset="-120"/>
              </a:rPr>
              <a:t>Report a number we have not measured.</a:t>
            </a:r>
            <a:endParaRPr lang="en-US" sz="1400" dirty="0"/>
          </a:p>
        </p:txBody>
      </p:sp>
      <p:sp>
        <p:nvSpPr>
          <p:cNvPr id="15" name="click_04_ty"/>
          <p:cNvSpPr/>
          <p:nvPr/>
        </p:nvSpPr>
        <p:spPr>
          <a:xfrm>
            <a:off x="566928" y="4572000"/>
            <a:ext cx="11018520" cy="502920"/>
          </a:xfrm>
          <a:prstGeom prst="rect">
            <a:avLst/>
          </a:prstGeom>
          <a:noFill/>
          <a:ln/>
        </p:spPr>
        <p:txBody>
          <a:bodyPr wrap="square" lIns="0" tIns="0" rIns="0" bIns="0" rtlCol="0" anchor="ctr"/>
          <a:lstStyle/>
          <a:p>
            <a:pPr indent="0" marL="0">
              <a:buNone/>
            </a:pPr>
            <a:r>
              <a:rPr lang="en-US" sz="2800" dirty="0">
                <a:solidFill>
                  <a:srgbClr val="16324F"/>
                </a:solidFill>
                <a:latin typeface="Georgia" pitchFamily="34" charset="0"/>
                <a:ea typeface="Georgia" pitchFamily="34" charset="-122"/>
                <a:cs typeface="Georgia" pitchFamily="34" charset="-120"/>
              </a:rPr>
              <a:t>Thank you.</a:t>
            </a:r>
            <a:endParaRPr lang="en-US" sz="2800" dirty="0"/>
          </a:p>
        </p:txBody>
      </p:sp>
      <p:sp>
        <p:nvSpPr>
          <p:cNvPr id="16" name="click_04_meta"/>
          <p:cNvSpPr/>
          <p:nvPr/>
        </p:nvSpPr>
        <p:spPr>
          <a:xfrm>
            <a:off x="566928" y="5102352"/>
            <a:ext cx="11018520" cy="292608"/>
          </a:xfrm>
          <a:prstGeom prst="rect">
            <a:avLst/>
          </a:prstGeom>
          <a:noFill/>
          <a:ln/>
        </p:spPr>
        <p:txBody>
          <a:bodyPr wrap="square" lIns="0" tIns="0" rIns="0" bIns="0" rtlCol="0" anchor="ctr"/>
          <a:lstStyle/>
          <a:p>
            <a:pPr indent="0" marL="0">
              <a:buNone/>
            </a:pPr>
            <a:r>
              <a:rPr lang="en-US" sz="1400" dirty="0">
                <a:solidFill>
                  <a:srgbClr val="3F3A36"/>
                </a:solidFill>
                <a:latin typeface="Calibri" pitchFamily="34" charset="0"/>
                <a:ea typeface="Calibri" pitchFamily="34" charset="-122"/>
                <a:cs typeface="Calibri" pitchFamily="34" charset="-120"/>
              </a:rPr>
              <a:t>Pranav Maheshwari  ·  GE-232023518  ·  Guide: Dr. Narayan Chaturvedi  ·  MP2026CSE344</a:t>
            </a:r>
            <a:endParaRPr lang="en-US" sz="1400" dirty="0"/>
          </a:p>
        </p:txBody>
      </p:sp>
      <p:sp>
        <p:nvSpPr>
          <p:cNvPr id="17" name="click_05_q"/>
          <p:cNvSpPr/>
          <p:nvPr/>
        </p:nvSpPr>
        <p:spPr>
          <a:xfrm>
            <a:off x="566928" y="5486400"/>
            <a:ext cx="11018520" cy="320040"/>
          </a:xfrm>
          <a:prstGeom prst="rect">
            <a:avLst/>
          </a:prstGeom>
          <a:noFill/>
          <a:ln/>
        </p:spPr>
        <p:txBody>
          <a:bodyPr wrap="square" lIns="0" tIns="0" rIns="0" bIns="0" rtlCol="0" anchor="ctr"/>
          <a:lstStyle/>
          <a:p>
            <a:pPr indent="0" marL="0">
              <a:buNone/>
            </a:pPr>
            <a:r>
              <a:rPr lang="en-US" sz="1600" i="1" dirty="0">
                <a:solidFill>
                  <a:srgbClr val="6B6560"/>
                </a:solidFill>
                <a:latin typeface="Calibri" pitchFamily="34" charset="0"/>
                <a:ea typeface="Calibri" pitchFamily="34" charset="-122"/>
                <a:cs typeface="Calibri" pitchFamily="34" charset="-120"/>
              </a:rPr>
              <a:t>Questions.</a:t>
            </a:r>
            <a:endParaRPr lang="en-US" sz="1600" dirty="0"/>
          </a:p>
        </p:txBody>
      </p:sp>
    </p:spTree>
  </p:cSld>
  <p:clrMapOvr>
    <a:masterClrMapping/>
  </p:clrMapOvr>
  <p:transition spd="med" advClick="1">
    <p:fade/>
  </p:transition>
  <p:timing>
    <p:tnLst>
      <p:par>
        <p:cTn id="1" dur="indefinite" restart="never" nodeType="tmRoot">
          <p:childTnLst>
            <p:seq concurrent="true" nextAc="seek">
              <p:cTn id="36" dur="indefinite" nodeType="mainSeq">
                <p:childTnLst>
                  <p:par>
                    <p:cTn id="4" fill="hold">
                      <p:stCondLst>
                        <p:cond delay="indefinite"/>
                      </p:stCondLst>
                      <p:childTnLst>
                        <p:par>
                          <p:cTn id="5" fill="hold">
                            <p:stCondLst>
                              <p:cond delay="0"/>
                            </p:stCondLst>
                            <p:childTnLst>
                              <p:par>
                                <p:cTn id="2" presetID="10" presetClass="entr" presetSubtype="0" fill="hold" grpId="0" nodeType="clickEffect">
                                  <p:stCondLst>
                                    <p:cond delay="0"/>
                                  </p:stCondLst>
                                  <p:childTnLst>
                                    <p:animEffect transition="in" filter="fade">
                                      <p:cBhvr>
                                        <p:cTn id="3" dur="450"/>
                                        <p:tgtEl>
                                          <p:spTgt spid="6"/>
                                        </p:tgtEl>
                                      </p:cBhvr>
                                    </p:animEffect>
                                  </p:childTnLst>
                                </p:cTn>
                              </p:par>
                            </p:childTnLst>
                          </p:cTn>
                        </p:par>
                      </p:childTnLst>
                    </p:cTn>
                  </p:par>
                  <p:par>
                    <p:cTn id="14" fill="hold">
                      <p:stCondLst>
                        <p:cond delay="indefinite"/>
                      </p:stCondLst>
                      <p:childTnLst>
                        <p:par>
                          <p:cTn id="15" fill="hold">
                            <p:stCondLst>
                              <p:cond delay="0"/>
                            </p:stCondLst>
                            <p:childTnLst>
                              <p:par>
                                <p:cTn id="6" presetID="10" presetClass="entr" presetSubtype="0" fill="hold" grpId="0" nodeType="clickEffect">
                                  <p:stCondLst>
                                    <p:cond delay="0"/>
                                  </p:stCondLst>
                                  <p:childTnLst>
                                    <p:animEffect transition="in" filter="fade">
                                      <p:cBhvr>
                                        <p:cTn id="7" dur="450"/>
                                        <p:tgtEl>
                                          <p:spTgt spid="7"/>
                                        </p:tgtEl>
                                      </p:cBhvr>
                                    </p:animEffect>
                                  </p:childTnLst>
                                </p:cTn>
                              </p:par>
                              <p:par>
                                <p:cTn id="8" presetID="10" presetClass="entr" presetSubtype="0" fill="hold" grpId="0" nodeType="withEffect">
                                  <p:stCondLst>
                                    <p:cond delay="0"/>
                                  </p:stCondLst>
                                  <p:childTnLst>
                                    <p:animEffect transition="in" filter="fade">
                                      <p:cBhvr>
                                        <p:cTn id="9" dur="450"/>
                                        <p:tgtEl>
                                          <p:spTgt spid="8"/>
                                        </p:tgtEl>
                                      </p:cBhvr>
                                    </p:animEffect>
                                  </p:childTnLst>
                                </p:cTn>
                              </p:par>
                              <p:par>
                                <p:cTn id="10" presetID="10" presetClass="entr" presetSubtype="0" fill="hold" grpId="0" nodeType="withEffect">
                                  <p:stCondLst>
                                    <p:cond delay="0"/>
                                  </p:stCondLst>
                                  <p:childTnLst>
                                    <p:animEffect transition="in" filter="fade">
                                      <p:cBhvr>
                                        <p:cTn id="11" dur="450"/>
                                        <p:tgtEl>
                                          <p:spTgt spid="9"/>
                                        </p:tgtEl>
                                      </p:cBhvr>
                                    </p:animEffect>
                                  </p:childTnLst>
                                </p:cTn>
                              </p:par>
                              <p:par>
                                <p:cTn id="12" presetID="10" presetClass="entr" presetSubtype="0" fill="hold" grpId="0" nodeType="withEffect">
                                  <p:stCondLst>
                                    <p:cond delay="0"/>
                                  </p:stCondLst>
                                  <p:childTnLst>
                                    <p:animEffect transition="in" filter="fade">
                                      <p:cBhvr>
                                        <p:cTn id="13" dur="450"/>
                                        <p:tgtEl>
                                          <p:spTgt spid="10"/>
                                        </p:tgtEl>
                                      </p:cBhvr>
                                    </p:animEffect>
                                  </p:childTnLst>
                                </p:cTn>
                              </p:par>
                            </p:childTnLst>
                          </p:cTn>
                        </p:par>
                      </p:childTnLst>
                    </p:cTn>
                  </p:par>
                  <p:par>
                    <p:cTn id="24" fill="hold">
                      <p:stCondLst>
                        <p:cond delay="indefinite"/>
                      </p:stCondLst>
                      <p:childTnLst>
                        <p:par>
                          <p:cTn id="25" fill="hold">
                            <p:stCondLst>
                              <p:cond delay="0"/>
                            </p:stCondLst>
                            <p:childTnLst>
                              <p:par>
                                <p:cTn id="16" presetID="10" presetClass="entr" presetSubtype="0" fill="hold" grpId="0" nodeType="clickEffect">
                                  <p:stCondLst>
                                    <p:cond delay="0"/>
                                  </p:stCondLst>
                                  <p:childTnLst>
                                    <p:animEffect transition="in" filter="fade">
                                      <p:cBhvr>
                                        <p:cTn id="17" dur="450"/>
                                        <p:tgtEl>
                                          <p:spTgt spid="11"/>
                                        </p:tgtEl>
                                      </p:cBhvr>
                                    </p:animEffect>
                                  </p:childTnLst>
                                </p:cTn>
                              </p:par>
                              <p:par>
                                <p:cTn id="18" presetID="10" presetClass="entr" presetSubtype="0" fill="hold" grpId="0" nodeType="withEffect">
                                  <p:stCondLst>
                                    <p:cond delay="0"/>
                                  </p:stCondLst>
                                  <p:childTnLst>
                                    <p:animEffect transition="in" filter="fade">
                                      <p:cBhvr>
                                        <p:cTn id="19" dur="450"/>
                                        <p:tgtEl>
                                          <p:spTgt spid="12"/>
                                        </p:tgtEl>
                                      </p:cBhvr>
                                    </p:animEffect>
                                  </p:childTnLst>
                                </p:cTn>
                              </p:par>
                              <p:par>
                                <p:cTn id="20" presetID="10" presetClass="entr" presetSubtype="0" fill="hold" grpId="0" nodeType="withEffect">
                                  <p:stCondLst>
                                    <p:cond delay="0"/>
                                  </p:stCondLst>
                                  <p:childTnLst>
                                    <p:animEffect transition="in" filter="fade">
                                      <p:cBhvr>
                                        <p:cTn id="21" dur="450"/>
                                        <p:tgtEl>
                                          <p:spTgt spid="13"/>
                                        </p:tgtEl>
                                      </p:cBhvr>
                                    </p:animEffect>
                                  </p:childTnLst>
                                </p:cTn>
                              </p:par>
                              <p:par>
                                <p:cTn id="22" presetID="10" presetClass="entr" presetSubtype="0" fill="hold" grpId="0" nodeType="withEffect">
                                  <p:stCondLst>
                                    <p:cond delay="0"/>
                                  </p:stCondLst>
                                  <p:childTnLst>
                                    <p:animEffect transition="in" filter="fade">
                                      <p:cBhvr>
                                        <p:cTn id="23" dur="450"/>
                                        <p:tgtEl>
                                          <p:spTgt spid="14"/>
                                        </p:tgtEl>
                                      </p:cBhvr>
                                    </p:animEffect>
                                  </p:childTnLst>
                                </p:cTn>
                              </p:par>
                            </p:childTnLst>
                          </p:cTn>
                        </p:par>
                      </p:childTnLst>
                    </p:cTn>
                  </p:par>
                  <p:par>
                    <p:cTn id="30" fill="hold">
                      <p:stCondLst>
                        <p:cond delay="indefinite"/>
                      </p:stCondLst>
                      <p:childTnLst>
                        <p:par>
                          <p:cTn id="31" fill="hold">
                            <p:stCondLst>
                              <p:cond delay="0"/>
                            </p:stCondLst>
                            <p:childTnLst>
                              <p:par>
                                <p:cTn id="26" presetID="10" presetClass="entr" presetSubtype="0" fill="hold" grpId="0" nodeType="clickEffect">
                                  <p:stCondLst>
                                    <p:cond delay="0"/>
                                  </p:stCondLst>
                                  <p:childTnLst>
                                    <p:animEffect transition="in" filter="fade">
                                      <p:cBhvr>
                                        <p:cTn id="27" dur="450"/>
                                        <p:tgtEl>
                                          <p:spTgt spid="15"/>
                                        </p:tgtEl>
                                      </p:cBhvr>
                                    </p:animEffect>
                                  </p:childTnLst>
                                </p:cTn>
                              </p:par>
                              <p:par>
                                <p:cTn id="28" presetID="10" presetClass="entr" presetSubtype="0" fill="hold" grpId="0" nodeType="withEffect">
                                  <p:stCondLst>
                                    <p:cond delay="0"/>
                                  </p:stCondLst>
                                  <p:childTnLst>
                                    <p:animEffect transition="in" filter="fade">
                                      <p:cBhvr>
                                        <p:cTn id="29" dur="450"/>
                                        <p:tgtEl>
                                          <p:spTgt spid="16"/>
                                        </p:tgtEl>
                                      </p:cBhvr>
                                    </p:animEffect>
                                  </p:childTnLst>
                                </p:cTn>
                              </p:par>
                            </p:childTnLst>
                          </p:cTn>
                        </p:par>
                      </p:childTnLst>
                    </p:cTn>
                  </p:par>
                  <p:par>
                    <p:cTn id="34" fill="hold">
                      <p:stCondLst>
                        <p:cond delay="indefinite"/>
                      </p:stCondLst>
                      <p:childTnLst>
                        <p:par>
                          <p:cTn id="35" fill="hold">
                            <p:stCondLst>
                              <p:cond delay="0"/>
                            </p:stCondLst>
                            <p:childTnLst>
                              <p:par>
                                <p:cTn id="32" presetID="10" presetClass="entr" presetSubtype="0" fill="hold" grpId="0" nodeType="clickEffect">
                                  <p:stCondLst>
                                    <p:cond delay="0"/>
                                  </p:stCondLst>
                                  <p:childTnLst>
                                    <p:animEffect transition="in" filter="fade">
                                      <p:cBhvr>
                                        <p:cTn id="33"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 Pathway — Phase-1 Synopsis</dc:title>
  <dc:subject>GEU B.Tech CSE Core Major Project — Evaluator Presentation</dc:subject>
  <dc:creator>Pranav Maheshwari</dc:creator>
  <cp:lastModifiedBy>Pranav Maheshwari</cp:lastModifiedBy>
  <cp:revision>1</cp:revision>
  <dcterms:created xsi:type="dcterms:W3CDTF">2026-09-15T06:49:18Z</dcterms:created>
  <dcterms:modified xsi:type="dcterms:W3CDTF">2026-09-15T06:49:18Z</dcterms:modified>
</cp:coreProperties>
</file>