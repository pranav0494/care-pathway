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F7F4EE"/>
        </a:solidFill>
      </p:bgPr>
    </p:bg>
    <p:spTree>
      <p:nvGrpSpPr>
        <p:cNvPr id="1" name=""/>
        <p:cNvGrpSpPr/>
        <p:nvPr/>
      </p:nvGrpSpPr>
      <p:grpSpPr>
        <a:xfrm>
          <a:off x="0" y="0"/>
          <a:ext cx="0" cy="0"/>
          <a:chOff x="0" y="0"/>
          <a:chExt cx="0" cy="0"/>
        </a:xfrm>
      </p:grpSpPr>
      <p:pic>
        <p:nvPicPr>
          <p:cNvPr id="2" name="static_logo" descr="C:\Users\prana\OneDrive\Desktop\COLLEGE PROJECTS\Major_Project\synopsis\assets\geu_logo.png">    </p:cNvPr>
          <p:cNvPicPr>
            <a:picLocks noChangeAspect="1"/>
          </p:cNvPicPr>
          <p:nvPr/>
        </p:nvPicPr>
        <p:blipFill>
          <a:blip r:embed="rId1"/>
          <a:stretch>
            <a:fillRect/>
          </a:stretch>
        </p:blipFill>
        <p:spPr>
          <a:xfrm>
            <a:off x="548640" y="347472"/>
            <a:ext cx="658368" cy="521208"/>
          </a:xfrm>
          <a:prstGeom prst="rect">
            <a:avLst/>
          </a:prstGeom>
        </p:spPr>
      </p:pic>
      <p:sp>
        <p:nvSpPr>
          <p:cNvPr id="3" name="click_01_uni"/>
          <p:cNvSpPr/>
          <p:nvPr/>
        </p:nvSpPr>
        <p:spPr>
          <a:xfrm>
            <a:off x="1353312" y="365760"/>
            <a:ext cx="10241280" cy="237744"/>
          </a:xfrm>
          <a:prstGeom prst="rect">
            <a:avLst/>
          </a:prstGeom>
          <a:noFill/>
          <a:ln/>
        </p:spPr>
        <p:txBody>
          <a:bodyPr wrap="square" lIns="0" tIns="0" rIns="0" bIns="0" rtlCol="0" anchor="ctr"/>
          <a:lstStyle/>
          <a:p>
            <a:pPr indent="0" marL="0">
              <a:buNone/>
            </a:pPr>
            <a:r>
              <a:rPr lang="en-US" sz="1300" spc="140" kern="0" dirty="0">
                <a:solidFill>
                  <a:srgbClr val="16324F"/>
                </a:solidFill>
                <a:latin typeface="Calibri" pitchFamily="34" charset="0"/>
                <a:ea typeface="Calibri" pitchFamily="34" charset="-122"/>
                <a:cs typeface="Calibri" pitchFamily="34" charset="-120"/>
              </a:rPr>
              <a:t>GRAPHIC ERA DEEMED TO BE UNIVERSITY, DEHRADUN</a:t>
            </a:r>
            <a:endParaRPr lang="en-US" sz="1300" dirty="0"/>
          </a:p>
        </p:txBody>
      </p:sp>
      <p:sp>
        <p:nvSpPr>
          <p:cNvPr id="4" name="click_01_dept"/>
          <p:cNvSpPr/>
          <p:nvPr/>
        </p:nvSpPr>
        <p:spPr>
          <a:xfrm>
            <a:off x="1353312" y="621792"/>
            <a:ext cx="10241280" cy="219456"/>
          </a:xfrm>
          <a:prstGeom prst="rect">
            <a:avLst/>
          </a:prstGeom>
          <a:noFill/>
          <a:ln/>
        </p:spPr>
        <p:txBody>
          <a:bodyPr wrap="square" lIns="0" tIns="0" rIns="0" bIns="0" rtlCol="0" anchor="ctr"/>
          <a:lstStyle/>
          <a:p>
            <a:pPr indent="0" marL="0">
              <a:buNone/>
            </a:pPr>
            <a:r>
              <a:rPr lang="en-US" sz="1400" dirty="0">
                <a:solidFill>
                  <a:srgbClr val="6B6560"/>
                </a:solidFill>
                <a:latin typeface="Calibri" pitchFamily="34" charset="0"/>
                <a:ea typeface="Calibri" pitchFamily="34" charset="-122"/>
                <a:cs typeface="Calibri" pitchFamily="34" charset="-120"/>
              </a:rPr>
              <a:t>Department of Computer Science &amp; Engineering  ·  B.Tech CSE Core</a:t>
            </a:r>
            <a:endParaRPr lang="en-US" sz="1400" dirty="0"/>
          </a:p>
        </p:txBody>
      </p:sp>
      <p:sp>
        <p:nvSpPr>
          <p:cNvPr id="5" name="click_01_ln"/>
          <p:cNvSpPr/>
          <p:nvPr/>
        </p:nvSpPr>
        <p:spPr>
          <a:xfrm>
            <a:off x="548640" y="1024128"/>
            <a:ext cx="11091672" cy="10973"/>
          </a:xfrm>
          <a:prstGeom prst="rect">
            <a:avLst/>
          </a:prstGeom>
          <a:solidFill>
            <a:srgbClr val="B8954A"/>
          </a:solidFill>
          <a:ln/>
        </p:spPr>
      </p:sp>
      <p:sp>
        <p:nvSpPr>
          <p:cNvPr id="6" name="click_02_chipbg"/>
          <p:cNvSpPr/>
          <p:nvPr/>
        </p:nvSpPr>
        <p:spPr>
          <a:xfrm>
            <a:off x="548640" y="1261872"/>
            <a:ext cx="3246120" cy="310896"/>
          </a:xfrm>
          <a:prstGeom prst="roundRect">
            <a:avLst>
              <a:gd name="adj" fmla="val 11765"/>
            </a:avLst>
          </a:prstGeom>
          <a:solidFill>
            <a:srgbClr val="FFFCF7"/>
          </a:solidFill>
          <a:ln w="14605">
            <a:solidFill>
              <a:srgbClr val="B8954A"/>
            </a:solidFill>
            <a:prstDash val="solid"/>
          </a:ln>
        </p:spPr>
      </p:sp>
      <p:sp>
        <p:nvSpPr>
          <p:cNvPr id="7" name="click_02_chip"/>
          <p:cNvSpPr/>
          <p:nvPr/>
        </p:nvSpPr>
        <p:spPr>
          <a:xfrm>
            <a:off x="548640" y="1261872"/>
            <a:ext cx="3246120" cy="310896"/>
          </a:xfrm>
          <a:prstGeom prst="rect">
            <a:avLst/>
          </a:prstGeom>
          <a:noFill/>
          <a:ln/>
        </p:spPr>
        <p:txBody>
          <a:bodyPr wrap="square" lIns="0" tIns="0" rIns="0" bIns="0" rtlCol="0" anchor="ctr"/>
          <a:lstStyle/>
          <a:p>
            <a:pPr algn="ctr" indent="0" marL="0">
              <a:buNone/>
            </a:pPr>
            <a:r>
              <a:rPr lang="en-US" sz="1000" spc="110" kern="0" dirty="0">
                <a:solidFill>
                  <a:srgbClr val="16324F"/>
                </a:solidFill>
                <a:latin typeface="Calibri" pitchFamily="34" charset="0"/>
                <a:ea typeface="Calibri" pitchFamily="34" charset="-122"/>
                <a:cs typeface="Calibri" pitchFamily="34" charset="-120"/>
              </a:rPr>
              <a:t>PHASE-1 MAJOR PROJECT SYNOPSIS</a:t>
            </a:r>
            <a:endParaRPr lang="en-US" sz="1000" dirty="0"/>
          </a:p>
        </p:txBody>
      </p:sp>
      <p:sp>
        <p:nvSpPr>
          <p:cNvPr id="8" name="click_03_title"/>
          <p:cNvSpPr/>
          <p:nvPr/>
        </p:nvSpPr>
        <p:spPr>
          <a:xfrm>
            <a:off x="548640" y="1719072"/>
            <a:ext cx="11091672" cy="777240"/>
          </a:xfrm>
          <a:prstGeom prst="rect">
            <a:avLst/>
          </a:prstGeom>
          <a:noFill/>
          <a:ln/>
        </p:spPr>
        <p:txBody>
          <a:bodyPr wrap="square" lIns="0" tIns="0" rIns="0" bIns="0" rtlCol="0" anchor="ctr"/>
          <a:lstStyle/>
          <a:p>
            <a:pPr indent="0" marL="0">
              <a:buNone/>
            </a:pPr>
            <a:r>
              <a:rPr lang="en-US" sz="4400" dirty="0">
                <a:solidFill>
                  <a:srgbClr val="16324F"/>
                </a:solidFill>
                <a:latin typeface="Georgia" pitchFamily="34" charset="0"/>
                <a:ea typeface="Georgia" pitchFamily="34" charset="-122"/>
                <a:cs typeface="Georgia" pitchFamily="34" charset="-120"/>
              </a:rPr>
              <a:t>Care Pathway</a:t>
            </a:r>
            <a:endParaRPr lang="en-US" sz="4400" dirty="0"/>
          </a:p>
        </p:txBody>
      </p:sp>
      <p:sp>
        <p:nvSpPr>
          <p:cNvPr id="9" name="click_04_sub"/>
          <p:cNvSpPr/>
          <p:nvPr/>
        </p:nvSpPr>
        <p:spPr>
          <a:xfrm>
            <a:off x="548640" y="2542032"/>
            <a:ext cx="11091672" cy="384048"/>
          </a:xfrm>
          <a:prstGeom prst="rect">
            <a:avLst/>
          </a:prstGeom>
          <a:noFill/>
          <a:ln/>
        </p:spPr>
        <p:txBody>
          <a:bodyPr wrap="square" lIns="0" tIns="0" rIns="0" bIns="0" rtlCol="0" anchor="ctr"/>
          <a:lstStyle/>
          <a:p>
            <a:pPr indent="0" marL="0">
              <a:buNone/>
            </a:pPr>
            <a:r>
              <a:rPr lang="en-US" sz="1800" dirty="0">
                <a:solidFill>
                  <a:srgbClr val="3F3A36"/>
                </a:solidFill>
                <a:latin typeface="Calibri" pitchFamily="34" charset="0"/>
                <a:ea typeface="Calibri" pitchFamily="34" charset="-122"/>
                <a:cs typeface="Calibri" pitchFamily="34" charset="-120"/>
              </a:rPr>
              <a:t>Guideline-Grounded Health Assistant with Specialist Tools and Fail-Closed Answering.</a:t>
            </a:r>
            <a:endParaRPr lang="en-US" sz="1800" dirty="0"/>
          </a:p>
        </p:txBody>
      </p:sp>
      <p:sp>
        <p:nvSpPr>
          <p:cNvPr id="10" name="click_05_disc"/>
          <p:cNvSpPr/>
          <p:nvPr/>
        </p:nvSpPr>
        <p:spPr>
          <a:xfrm>
            <a:off x="548640" y="2980944"/>
            <a:ext cx="11091672" cy="329184"/>
          </a:xfrm>
          <a:prstGeom prst="rect">
            <a:avLst/>
          </a:prstGeom>
          <a:noFill/>
          <a:ln/>
        </p:spPr>
        <p:txBody>
          <a:bodyPr wrap="square" lIns="0" tIns="0" rIns="0" bIns="0" rtlCol="0" anchor="ctr"/>
          <a:lstStyle/>
          <a:p>
            <a:pPr indent="0" marL="0">
              <a:buNone/>
            </a:pPr>
            <a:r>
              <a:rPr lang="en-US" sz="1400" i="1" dirty="0">
                <a:solidFill>
                  <a:srgbClr val="6B6560"/>
                </a:solidFill>
                <a:latin typeface="Calibri" pitchFamily="34" charset="0"/>
                <a:ea typeface="Calibri" pitchFamily="34" charset="-122"/>
                <a:cs typeface="Calibri" pitchFamily="34" charset="-120"/>
              </a:rPr>
              <a:t>A replication and prompt-evolution study. Not a diagnosis. The large language model is loaded, not trained.</a:t>
            </a:r>
            <a:endParaRPr lang="en-US" sz="1400" dirty="0"/>
          </a:p>
        </p:txBody>
      </p:sp>
      <p:sp>
        <p:nvSpPr>
          <p:cNvPr id="11" name="click_06_ml0"/>
          <p:cNvSpPr/>
          <p:nvPr/>
        </p:nvSpPr>
        <p:spPr>
          <a:xfrm>
            <a:off x="548640" y="4434840"/>
            <a:ext cx="3611880" cy="256032"/>
          </a:xfrm>
          <a:prstGeom prst="rect">
            <a:avLst/>
          </a:prstGeom>
          <a:noFill/>
          <a:ln/>
        </p:spPr>
        <p:txBody>
          <a:bodyPr wrap="square" lIns="0" tIns="0" rIns="0" bIns="0" rtlCol="0" anchor="ctr"/>
          <a:lstStyle/>
          <a:p>
            <a:pPr indent="0" marL="0">
              <a:buNone/>
            </a:pPr>
            <a:r>
              <a:rPr lang="en-US" sz="1200" spc="120" kern="0" dirty="0">
                <a:solidFill>
                  <a:srgbClr val="B8954A"/>
                </a:solidFill>
                <a:latin typeface="Calibri" pitchFamily="34" charset="0"/>
                <a:ea typeface="Calibri" pitchFamily="34" charset="-122"/>
                <a:cs typeface="Calibri" pitchFamily="34" charset="-120"/>
              </a:rPr>
              <a:t>Student</a:t>
            </a:r>
            <a:endParaRPr lang="en-US" sz="1200" dirty="0"/>
          </a:p>
        </p:txBody>
      </p:sp>
      <p:sp>
        <p:nvSpPr>
          <p:cNvPr id="12" name="click_06_mv0"/>
          <p:cNvSpPr/>
          <p:nvPr/>
        </p:nvSpPr>
        <p:spPr>
          <a:xfrm>
            <a:off x="548640" y="4718304"/>
            <a:ext cx="3611880" cy="365760"/>
          </a:xfrm>
          <a:prstGeom prst="rect">
            <a:avLst/>
          </a:prstGeom>
          <a:noFill/>
          <a:ln/>
        </p:spPr>
        <p:txBody>
          <a:bodyPr wrap="square" lIns="0" tIns="0" rIns="0" bIns="0" rtlCol="0" anchor="ctr"/>
          <a:lstStyle/>
          <a:p>
            <a:pPr indent="0" marL="0">
              <a:buNone/>
            </a:pPr>
            <a:r>
              <a:rPr lang="en-US" sz="1500" dirty="0">
                <a:solidFill>
                  <a:srgbClr val="1C1917"/>
                </a:solidFill>
                <a:latin typeface="Calibri" pitchFamily="34" charset="0"/>
                <a:ea typeface="Calibri" pitchFamily="34" charset="-122"/>
                <a:cs typeface="Calibri" pitchFamily="34" charset="-120"/>
              </a:rPr>
              <a:t>Pranav Maheshwari  ·  GE-232023518</a:t>
            </a:r>
            <a:endParaRPr lang="en-US" sz="1500" dirty="0"/>
          </a:p>
        </p:txBody>
      </p:sp>
      <p:sp>
        <p:nvSpPr>
          <p:cNvPr id="13" name="click_06_ml1"/>
          <p:cNvSpPr/>
          <p:nvPr/>
        </p:nvSpPr>
        <p:spPr>
          <a:xfrm>
            <a:off x="4343400" y="4434840"/>
            <a:ext cx="3611880" cy="256032"/>
          </a:xfrm>
          <a:prstGeom prst="rect">
            <a:avLst/>
          </a:prstGeom>
          <a:noFill/>
          <a:ln/>
        </p:spPr>
        <p:txBody>
          <a:bodyPr wrap="square" lIns="0" tIns="0" rIns="0" bIns="0" rtlCol="0" anchor="ctr"/>
          <a:lstStyle/>
          <a:p>
            <a:pPr indent="0" marL="0">
              <a:buNone/>
            </a:pPr>
            <a:r>
              <a:rPr lang="en-US" sz="1200" spc="120" kern="0" dirty="0">
                <a:solidFill>
                  <a:srgbClr val="B8954A"/>
                </a:solidFill>
                <a:latin typeface="Calibri" pitchFamily="34" charset="0"/>
                <a:ea typeface="Calibri" pitchFamily="34" charset="-122"/>
                <a:cs typeface="Calibri" pitchFamily="34" charset="-120"/>
              </a:rPr>
              <a:t>Guide</a:t>
            </a:r>
            <a:endParaRPr lang="en-US" sz="1200" dirty="0"/>
          </a:p>
        </p:txBody>
      </p:sp>
      <p:sp>
        <p:nvSpPr>
          <p:cNvPr id="14" name="click_06_mv1"/>
          <p:cNvSpPr/>
          <p:nvPr/>
        </p:nvSpPr>
        <p:spPr>
          <a:xfrm>
            <a:off x="4343400" y="4718304"/>
            <a:ext cx="3611880" cy="365760"/>
          </a:xfrm>
          <a:prstGeom prst="rect">
            <a:avLst/>
          </a:prstGeom>
          <a:noFill/>
          <a:ln/>
        </p:spPr>
        <p:txBody>
          <a:bodyPr wrap="square" lIns="0" tIns="0" rIns="0" bIns="0" rtlCol="0" anchor="ctr"/>
          <a:lstStyle/>
          <a:p>
            <a:pPr indent="0" marL="0">
              <a:buNone/>
            </a:pPr>
            <a:r>
              <a:rPr lang="en-US" sz="1500" dirty="0">
                <a:solidFill>
                  <a:srgbClr val="1C1917"/>
                </a:solidFill>
                <a:latin typeface="Calibri" pitchFamily="34" charset="0"/>
                <a:ea typeface="Calibri" pitchFamily="34" charset="-122"/>
                <a:cs typeface="Calibri" pitchFamily="34" charset="-120"/>
              </a:rPr>
              <a:t>Dr. Narayan Chaturvedi  ·  Associate Professor</a:t>
            </a:r>
            <a:endParaRPr lang="en-US" sz="1500" dirty="0"/>
          </a:p>
        </p:txBody>
      </p:sp>
      <p:sp>
        <p:nvSpPr>
          <p:cNvPr id="15" name="click_06_ml2"/>
          <p:cNvSpPr/>
          <p:nvPr/>
        </p:nvSpPr>
        <p:spPr>
          <a:xfrm>
            <a:off x="8138160" y="4434840"/>
            <a:ext cx="3611880" cy="256032"/>
          </a:xfrm>
          <a:prstGeom prst="rect">
            <a:avLst/>
          </a:prstGeom>
          <a:noFill/>
          <a:ln/>
        </p:spPr>
        <p:txBody>
          <a:bodyPr wrap="square" lIns="0" tIns="0" rIns="0" bIns="0" rtlCol="0" anchor="ctr"/>
          <a:lstStyle/>
          <a:p>
            <a:pPr indent="0" marL="0">
              <a:buNone/>
            </a:pPr>
            <a:r>
              <a:rPr lang="en-US" sz="1200" spc="120" kern="0" dirty="0">
                <a:solidFill>
                  <a:srgbClr val="B8954A"/>
                </a:solidFill>
                <a:latin typeface="Calibri" pitchFamily="34" charset="0"/>
                <a:ea typeface="Calibri" pitchFamily="34" charset="-122"/>
                <a:cs typeface="Calibri" pitchFamily="34" charset="-120"/>
              </a:rPr>
              <a:t>Team ID</a:t>
            </a:r>
            <a:endParaRPr lang="en-US" sz="1200" dirty="0"/>
          </a:p>
        </p:txBody>
      </p:sp>
      <p:sp>
        <p:nvSpPr>
          <p:cNvPr id="16" name="click_06_mv2"/>
          <p:cNvSpPr/>
          <p:nvPr/>
        </p:nvSpPr>
        <p:spPr>
          <a:xfrm>
            <a:off x="8138160" y="4718304"/>
            <a:ext cx="3611880" cy="365760"/>
          </a:xfrm>
          <a:prstGeom prst="rect">
            <a:avLst/>
          </a:prstGeom>
          <a:noFill/>
          <a:ln/>
        </p:spPr>
        <p:txBody>
          <a:bodyPr wrap="square" lIns="0" tIns="0" rIns="0" bIns="0" rtlCol="0" anchor="ctr"/>
          <a:lstStyle/>
          <a:p>
            <a:pPr indent="0" marL="0">
              <a:buNone/>
            </a:pPr>
            <a:r>
              <a:rPr lang="en-US" sz="1500" dirty="0">
                <a:solidFill>
                  <a:srgbClr val="1C1917"/>
                </a:solidFill>
                <a:latin typeface="Calibri" pitchFamily="34" charset="0"/>
                <a:ea typeface="Calibri" pitchFamily="34" charset="-122"/>
                <a:cs typeface="Calibri" pitchFamily="34" charset="-120"/>
              </a:rPr>
              <a:t>MP2026CSE344</a:t>
            </a:r>
            <a:endParaRPr lang="en-US" sz="1500" dirty="0"/>
          </a:p>
        </p:txBody>
      </p:sp>
      <p:sp>
        <p:nvSpPr>
          <p:cNvPr id="17" name="click_06_ln2"/>
          <p:cNvSpPr/>
          <p:nvPr/>
        </p:nvSpPr>
        <p:spPr>
          <a:xfrm>
            <a:off x="548640" y="5285232"/>
            <a:ext cx="11091672" cy="10973"/>
          </a:xfrm>
          <a:prstGeom prst="rect">
            <a:avLst/>
          </a:prstGeom>
          <a:solidFill>
            <a:srgbClr val="B8954A"/>
          </a:solidFill>
          <a:ln/>
        </p:spPr>
      </p:sp>
      <p:sp>
        <p:nvSpPr>
          <p:cNvPr id="18" name="click_06_ev"/>
          <p:cNvSpPr/>
          <p:nvPr/>
        </p:nvSpPr>
        <p:spPr>
          <a:xfrm>
            <a:off x="548640" y="5449824"/>
            <a:ext cx="11091672" cy="292608"/>
          </a:xfrm>
          <a:prstGeom prst="rect">
            <a:avLst/>
          </a:prstGeom>
          <a:noFill/>
          <a:ln/>
        </p:spPr>
        <p:txBody>
          <a:bodyPr wrap="square" lIns="0" tIns="0" rIns="0" bIns="0" rtlCol="0" anchor="ctr"/>
          <a:lstStyle/>
          <a:p>
            <a:pPr indent="0" marL="0">
              <a:buNone/>
            </a:pPr>
            <a:r>
              <a:rPr lang="en-US" sz="1400" dirty="0">
                <a:solidFill>
                  <a:srgbClr val="16324F"/>
                </a:solidFill>
                <a:latin typeface="Calibri" pitchFamily="34" charset="0"/>
                <a:ea typeface="Calibri" pitchFamily="34" charset="-122"/>
                <a:cs typeface="Calibri" pitchFamily="34" charset="-120"/>
              </a:rPr>
              <a:t>Evaluators  ·  September 2026  ·  12 slides  ·  Dehradun</a:t>
            </a:r>
            <a:endParaRPr lang="en-US" sz="1400" dirty="0"/>
          </a:p>
        </p:txBody>
      </p:sp>
      <p:sp>
        <p:nvSpPr>
          <p:cNvPr id="19"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Tree>
  </p:cSld>
  <p:clrMapOvr>
    <a:masterClrMapping/>
  </p:clrMapOvr>
  <p:transition spd="med" advClick="1">
    <p:fade/>
  </p:transition>
  <p:timing>
    <p:tnLst>
      <p:par>
        <p:cTn id="1" dur="indefinite" restart="never" nodeType="tmRoot">
          <p:childTnLst>
            <p:seq concurrent="true" nextAc="seek">
              <p:cTn id="46" dur="indefinite" nodeType="mainSeq">
                <p:childTnLst>
                  <p:par>
                    <p:cTn id="8" fill="hold">
                      <p:stCondLst>
                        <p:cond delay="indefinite"/>
                      </p:stCondLst>
                      <p:childTnLst>
                        <p:par>
                          <p:cTn id="9" fill="hold">
                            <p:stCondLst>
                              <p:cond delay="0"/>
                            </p:stCondLst>
                            <p:childTnLst>
                              <p:par>
                                <p:cTn id="2" presetID="10" presetClass="entr" presetSubtype="0" fill="hold" grpId="0" nodeType="clickEffect">
                                  <p:stCondLst>
                                    <p:cond delay="0"/>
                                  </p:stCondLst>
                                  <p:childTnLst>
                                    <p:animEffect transition="in" filter="fade">
                                      <p:cBhvr>
                                        <p:cTn id="3" dur="450"/>
                                        <p:tgtEl>
                                          <p:spTgt spid="3"/>
                                        </p:tgtEl>
                                      </p:cBhvr>
                                    </p:animEffect>
                                  </p:childTnLst>
                                </p:cTn>
                              </p:par>
                              <p:par>
                                <p:cTn id="4" presetID="10" presetClass="entr" presetSubtype="0" fill="hold" grpId="0" nodeType="withEffect">
                                  <p:stCondLst>
                                    <p:cond delay="0"/>
                                  </p:stCondLst>
                                  <p:childTnLst>
                                    <p:animEffect transition="in" filter="fade">
                                      <p:cBhvr>
                                        <p:cTn id="5" dur="450"/>
                                        <p:tgtEl>
                                          <p:spTgt spid="4"/>
                                        </p:tgtEl>
                                      </p:cBhvr>
                                    </p:animEffect>
                                  </p:childTnLst>
                                </p:cTn>
                              </p:par>
                              <p:par>
                                <p:cTn id="6" presetID="10" presetClass="entr" presetSubtype="0" fill="hold" grpId="0" nodeType="withEffect">
                                  <p:stCondLst>
                                    <p:cond delay="0"/>
                                  </p:stCondLst>
                                  <p:childTnLst>
                                    <p:animEffect transition="in" filter="fade">
                                      <p:cBhvr>
                                        <p:cTn id="7" dur="450"/>
                                        <p:tgtEl>
                                          <p:spTgt spid="5"/>
                                        </p:tgtEl>
                                      </p:cBhvr>
                                    </p:animEffect>
                                  </p:childTnLst>
                                </p:cTn>
                              </p:par>
                            </p:childTnLst>
                          </p:cTn>
                        </p:par>
                      </p:childTnLst>
                    </p:cTn>
                  </p:par>
                  <p:par>
                    <p:cTn id="14" fill="hold">
                      <p:stCondLst>
                        <p:cond delay="indefinite"/>
                      </p:stCondLst>
                      <p:childTnLst>
                        <p:par>
                          <p:cTn id="15" fill="hold">
                            <p:stCondLst>
                              <p:cond delay="0"/>
                            </p:stCondLst>
                            <p:childTnLst>
                              <p:par>
                                <p:cTn id="10" presetID="10" presetClass="entr" presetSubtype="0" fill="hold" grpId="0" nodeType="clickEffect">
                                  <p:stCondLst>
                                    <p:cond delay="0"/>
                                  </p:stCondLst>
                                  <p:childTnLst>
                                    <p:animEffect transition="in" filter="fade">
                                      <p:cBhvr>
                                        <p:cTn id="11" dur="450"/>
                                        <p:tgtEl>
                                          <p:spTgt spid="6"/>
                                        </p:tgtEl>
                                      </p:cBhvr>
                                    </p:animEffect>
                                  </p:childTnLst>
                                </p:cTn>
                              </p:par>
                              <p:par>
                                <p:cTn id="12" presetID="10" presetClass="entr" presetSubtype="0" fill="hold" grpId="0" nodeType="withEffect">
                                  <p:stCondLst>
                                    <p:cond delay="0"/>
                                  </p:stCondLst>
                                  <p:childTnLst>
                                    <p:animEffect transition="in" filter="fade">
                                      <p:cBhvr>
                                        <p:cTn id="13" dur="450"/>
                                        <p:tgtEl>
                                          <p:spTgt spid="7"/>
                                        </p:tgtEl>
                                      </p:cBhvr>
                                    </p:animEffect>
                                  </p:childTnLst>
                                </p:cTn>
                              </p:par>
                            </p:childTnLst>
                          </p:cTn>
                        </p:par>
                      </p:childTnLst>
                    </p:cTn>
                  </p:par>
                  <p:par>
                    <p:cTn id="18" fill="hold">
                      <p:stCondLst>
                        <p:cond delay="indefinite"/>
                      </p:stCondLst>
                      <p:childTnLst>
                        <p:par>
                          <p:cTn id="19" fill="hold">
                            <p:stCondLst>
                              <p:cond delay="0"/>
                            </p:stCondLst>
                            <p:childTnLst>
                              <p:par>
                                <p:cTn id="16" presetID="10" presetClass="entr" presetSubtype="0" fill="hold" grpId="0" nodeType="clickEffect">
                                  <p:stCondLst>
                                    <p:cond delay="0"/>
                                  </p:stCondLst>
                                  <p:childTnLst>
                                    <p:animEffect transition="in" filter="fade">
                                      <p:cBhvr>
                                        <p:cTn id="17" dur="450"/>
                                        <p:tgtEl>
                                          <p:spTgt spid="8"/>
                                        </p:tgtEl>
                                      </p:cBhvr>
                                    </p:animEffect>
                                  </p:childTnLst>
                                </p:cTn>
                              </p:par>
                            </p:childTnLst>
                          </p:cTn>
                        </p:par>
                      </p:childTnLst>
                    </p:cTn>
                  </p:par>
                  <p:par>
                    <p:cTn id="22" fill="hold">
                      <p:stCondLst>
                        <p:cond delay="indefinite"/>
                      </p:stCondLst>
                      <p:childTnLst>
                        <p:par>
                          <p:cTn id="23" fill="hold">
                            <p:stCondLst>
                              <p:cond delay="0"/>
                            </p:stCondLst>
                            <p:childTnLst>
                              <p:par>
                                <p:cTn id="20" presetID="10" presetClass="entr" presetSubtype="0" fill="hold" grpId="0" nodeType="clickEffect">
                                  <p:stCondLst>
                                    <p:cond delay="0"/>
                                  </p:stCondLst>
                                  <p:childTnLst>
                                    <p:animEffect transition="in" filter="fade">
                                      <p:cBhvr>
                                        <p:cTn id="21" dur="450"/>
                                        <p:tgtEl>
                                          <p:spTgt spid="9"/>
                                        </p:tgtEl>
                                      </p:cBhvr>
                                    </p:animEffect>
                                  </p:childTnLst>
                                </p:cTn>
                              </p:par>
                            </p:childTnLst>
                          </p:cTn>
                        </p:par>
                      </p:childTnLst>
                    </p:cTn>
                  </p:par>
                  <p:par>
                    <p:cTn id="26" fill="hold">
                      <p:stCondLst>
                        <p:cond delay="indefinite"/>
                      </p:stCondLst>
                      <p:childTnLst>
                        <p:par>
                          <p:cTn id="27" fill="hold">
                            <p:stCondLst>
                              <p:cond delay="0"/>
                            </p:stCondLst>
                            <p:childTnLst>
                              <p:par>
                                <p:cTn id="24" presetID="10" presetClass="entr" presetSubtype="0" fill="hold" grpId="0" nodeType="clickEffect">
                                  <p:stCondLst>
                                    <p:cond delay="0"/>
                                  </p:stCondLst>
                                  <p:childTnLst>
                                    <p:animEffect transition="in" filter="fade">
                                      <p:cBhvr>
                                        <p:cTn id="25" dur="450"/>
                                        <p:tgtEl>
                                          <p:spTgt spid="10"/>
                                        </p:tgtEl>
                                      </p:cBhvr>
                                    </p:animEffect>
                                  </p:childTnLst>
                                </p:cTn>
                              </p:par>
                            </p:childTnLst>
                          </p:cTn>
                        </p:par>
                      </p:childTnLst>
                    </p:cTn>
                  </p:par>
                  <p:par>
                    <p:cTn id="44" fill="hold">
                      <p:stCondLst>
                        <p:cond delay="indefinite"/>
                      </p:stCondLst>
                      <p:childTnLst>
                        <p:par>
                          <p:cTn id="45" fill="hold">
                            <p:stCondLst>
                              <p:cond delay="0"/>
                            </p:stCondLst>
                            <p:childTnLst>
                              <p:par>
                                <p:cTn id="28" presetID="10" presetClass="entr" presetSubtype="0" fill="hold" grpId="0" nodeType="clickEffect">
                                  <p:stCondLst>
                                    <p:cond delay="0"/>
                                  </p:stCondLst>
                                  <p:childTnLst>
                                    <p:animEffect transition="in" filter="fade">
                                      <p:cBhvr>
                                        <p:cTn id="29" dur="450"/>
                                        <p:tgtEl>
                                          <p:spTgt spid="11"/>
                                        </p:tgtEl>
                                      </p:cBhvr>
                                    </p:animEffect>
                                  </p:childTnLst>
                                </p:cTn>
                              </p:par>
                              <p:par>
                                <p:cTn id="30" presetID="10" presetClass="entr" presetSubtype="0" fill="hold" grpId="0" nodeType="withEffect">
                                  <p:stCondLst>
                                    <p:cond delay="0"/>
                                  </p:stCondLst>
                                  <p:childTnLst>
                                    <p:animEffect transition="in" filter="fade">
                                      <p:cBhvr>
                                        <p:cTn id="31" dur="450"/>
                                        <p:tgtEl>
                                          <p:spTgt spid="12"/>
                                        </p:tgtEl>
                                      </p:cBhvr>
                                    </p:animEffect>
                                  </p:childTnLst>
                                </p:cTn>
                              </p:par>
                              <p:par>
                                <p:cTn id="32" presetID="10" presetClass="entr" presetSubtype="0" fill="hold" grpId="0" nodeType="withEffect">
                                  <p:stCondLst>
                                    <p:cond delay="0"/>
                                  </p:stCondLst>
                                  <p:childTnLst>
                                    <p:animEffect transition="in" filter="fade">
                                      <p:cBhvr>
                                        <p:cTn id="33" dur="450"/>
                                        <p:tgtEl>
                                          <p:spTgt spid="13"/>
                                        </p:tgtEl>
                                      </p:cBhvr>
                                    </p:animEffect>
                                  </p:childTnLst>
                                </p:cTn>
                              </p:par>
                              <p:par>
                                <p:cTn id="34" presetID="10" presetClass="entr" presetSubtype="0" fill="hold" grpId="0" nodeType="withEffect">
                                  <p:stCondLst>
                                    <p:cond delay="0"/>
                                  </p:stCondLst>
                                  <p:childTnLst>
                                    <p:animEffect transition="in" filter="fade">
                                      <p:cBhvr>
                                        <p:cTn id="35" dur="450"/>
                                        <p:tgtEl>
                                          <p:spTgt spid="14"/>
                                        </p:tgtEl>
                                      </p:cBhvr>
                                    </p:animEffect>
                                  </p:childTnLst>
                                </p:cTn>
                              </p:par>
                              <p:par>
                                <p:cTn id="36" presetID="10" presetClass="entr" presetSubtype="0" fill="hold" grpId="0" nodeType="withEffect">
                                  <p:stCondLst>
                                    <p:cond delay="0"/>
                                  </p:stCondLst>
                                  <p:childTnLst>
                                    <p:animEffect transition="in" filter="fade">
                                      <p:cBhvr>
                                        <p:cTn id="37" dur="450"/>
                                        <p:tgtEl>
                                          <p:spTgt spid="15"/>
                                        </p:tgtEl>
                                      </p:cBhvr>
                                    </p:animEffect>
                                  </p:childTnLst>
                                </p:cTn>
                              </p:par>
                              <p:par>
                                <p:cTn id="38" presetID="10" presetClass="entr" presetSubtype="0" fill="hold" grpId="0" nodeType="withEffect">
                                  <p:stCondLst>
                                    <p:cond delay="0"/>
                                  </p:stCondLst>
                                  <p:childTnLst>
                                    <p:animEffect transition="in" filter="fade">
                                      <p:cBhvr>
                                        <p:cTn id="39" dur="450"/>
                                        <p:tgtEl>
                                          <p:spTgt spid="16"/>
                                        </p:tgtEl>
                                      </p:cBhvr>
                                    </p:animEffect>
                                  </p:childTnLst>
                                </p:cTn>
                              </p:par>
                              <p:par>
                                <p:cTn id="40" presetID="10" presetClass="entr" presetSubtype="0" fill="hold" grpId="0" nodeType="withEffect">
                                  <p:stCondLst>
                                    <p:cond delay="0"/>
                                  </p:stCondLst>
                                  <p:childTnLst>
                                    <p:animEffect transition="in" filter="fade">
                                      <p:cBhvr>
                                        <p:cTn id="41" dur="450"/>
                                        <p:tgtEl>
                                          <p:spTgt spid="17"/>
                                        </p:tgtEl>
                                      </p:cBhvr>
                                    </p:animEffect>
                                  </p:childTnLst>
                                </p:cTn>
                              </p:par>
                              <p:par>
                                <p:cTn id="42" presetID="10" presetClass="entr" presetSubtype="0" fill="hold" grpId="0" nodeType="withEffect">
                                  <p:stCondLst>
                                    <p:cond delay="0"/>
                                  </p:stCondLst>
                                  <p:childTnLst>
                                    <p:animEffect transition="in" filter="fade">
                                      <p:cBhvr>
                                        <p:cTn id="43"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2.xml><?xml version="1.0" encoding="utf-8"?>
<p:sld xmlns:a="http://schemas.openxmlformats.org/drawingml/2006/main" xmlns:p="http://schemas.openxmlformats.org/presentationml/2006/main" xmlns:r="http://schemas.openxmlformats.org/officeDocument/2006/relationships">
  <p:cSld name="Slide 2">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02  ·  ABSTRACT</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02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What is Care Pathway?</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bg"/>
          <p:cNvSpPr/>
          <p:nvPr/>
        </p:nvSpPr>
        <p:spPr>
          <a:xfrm>
            <a:off x="548640" y="1298448"/>
            <a:ext cx="11091672" cy="148132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8" name="click_02_bar"/>
          <p:cNvSpPr/>
          <p:nvPr/>
        </p:nvSpPr>
        <p:spPr>
          <a:xfrm>
            <a:off x="548640" y="1298448"/>
            <a:ext cx="64008" cy="1481328"/>
          </a:xfrm>
          <a:prstGeom prst="rect">
            <a:avLst/>
          </a:prstGeom>
          <a:solidFill>
            <a:srgbClr val="B8954A"/>
          </a:solidFill>
          <a:ln/>
        </p:spPr>
      </p:sp>
      <p:sp>
        <p:nvSpPr>
          <p:cNvPr id="9" name="click_02_p"/>
          <p:cNvSpPr/>
          <p:nvPr/>
        </p:nvSpPr>
        <p:spPr>
          <a:xfrm>
            <a:off x="841248" y="1408176"/>
            <a:ext cx="10515600" cy="1261872"/>
          </a:xfrm>
          <a:prstGeom prst="rect">
            <a:avLst/>
          </a:prstGeom>
          <a:noFill/>
          <a:ln/>
        </p:spPr>
        <p:txBody>
          <a:bodyPr wrap="square" lIns="0" tIns="0" rIns="0" bIns="0" rtlCol="0" anchor="t"/>
          <a:lstStyle/>
          <a:p>
            <a:pPr indent="0" marL="0">
              <a:buNone/>
            </a:pPr>
            <a:r>
              <a:rPr lang="en-US" sz="1500" dirty="0">
                <a:solidFill>
                  <a:srgbClr val="3F3A36"/>
                </a:solidFill>
                <a:latin typeface="Calibri" pitchFamily="34" charset="0"/>
                <a:ea typeface="Calibri" pitchFamily="34" charset="-122"/>
                <a:cs typeface="Calibri" pitchFamily="34" charset="-120"/>
              </a:rPr>
              <a:t>Care Pathway is a fail-closed answering system. A local language model may call named specialist tools and may write a sentence only when an official Indian span — an ICMR STW box, an NLEM row, or a CDSCO NSQ row — entails it. Otherwise the card is insufficient or out_of_scope. It is not a doctor, not a hospital HIS, and not software as a medical device.</a:t>
            </a:r>
            <a:endParaRPr lang="en-US" sz="1500" dirty="0"/>
          </a:p>
        </p:txBody>
      </p:sp>
      <p:sp>
        <p:nvSpPr>
          <p:cNvPr id="10" name="click_03_bg"/>
          <p:cNvSpPr/>
          <p:nvPr/>
        </p:nvSpPr>
        <p:spPr>
          <a:xfrm>
            <a:off x="548640" y="2944368"/>
            <a:ext cx="3611880" cy="269748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1" name="click_03_bar"/>
          <p:cNvSpPr/>
          <p:nvPr/>
        </p:nvSpPr>
        <p:spPr>
          <a:xfrm>
            <a:off x="548640" y="2944368"/>
            <a:ext cx="64008" cy="2697480"/>
          </a:xfrm>
          <a:prstGeom prst="rect">
            <a:avLst/>
          </a:prstGeom>
          <a:solidFill>
            <a:srgbClr val="16324F"/>
          </a:solidFill>
          <a:ln/>
        </p:spPr>
      </p:sp>
      <p:sp>
        <p:nvSpPr>
          <p:cNvPr id="12" name="click_03_ov"/>
          <p:cNvSpPr/>
          <p:nvPr/>
        </p:nvSpPr>
        <p:spPr>
          <a:xfrm>
            <a:off x="804672" y="3127248"/>
            <a:ext cx="530352" cy="530352"/>
          </a:xfrm>
          <a:prstGeom prst="ellipse">
            <a:avLst/>
          </a:prstGeom>
          <a:solidFill>
            <a:srgbClr val="B8954A"/>
          </a:solidFill>
          <a:ln/>
        </p:spPr>
      </p:sp>
      <p:pic>
        <p:nvPicPr>
          <p:cNvPr id="13" name="click_03_ic" descr="preencoded.png">    </p:cNvPr>
          <p:cNvPicPr>
            <a:picLocks noChangeAspect="1"/>
          </p:cNvPicPr>
          <p:nvPr/>
        </p:nvPicPr>
        <p:blipFill>
          <a:blip r:embed="rId1"/>
          <a:stretch>
            <a:fillRect/>
          </a:stretch>
        </p:blipFill>
        <p:spPr>
          <a:xfrm>
            <a:off x="942564" y="3265140"/>
            <a:ext cx="254569" cy="254569"/>
          </a:xfrm>
          <a:prstGeom prst="rect">
            <a:avLst/>
          </a:prstGeom>
        </p:spPr>
      </p:pic>
      <p:sp>
        <p:nvSpPr>
          <p:cNvPr id="14" name="click_03_t"/>
          <p:cNvSpPr/>
          <p:nvPr/>
        </p:nvSpPr>
        <p:spPr>
          <a:xfrm>
            <a:off x="804672" y="3767328"/>
            <a:ext cx="3108960" cy="38404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Named tool calls</a:t>
            </a:r>
            <a:endParaRPr lang="en-US" sz="1600" dirty="0"/>
          </a:p>
        </p:txBody>
      </p:sp>
      <p:sp>
        <p:nvSpPr>
          <p:cNvPr id="15" name="click_03_d"/>
          <p:cNvSpPr/>
          <p:nvPr/>
        </p:nvSpPr>
        <p:spPr>
          <a:xfrm>
            <a:off x="804672" y="4169664"/>
            <a:ext cx="310896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Frozen JSON functions. The host runs CXR, skin, document, and lookups. Extra tools later join the same contract.</a:t>
            </a:r>
            <a:endParaRPr lang="en-US" sz="1300" dirty="0"/>
          </a:p>
        </p:txBody>
      </p:sp>
      <p:sp>
        <p:nvSpPr>
          <p:cNvPr id="16" name="click_04_bg"/>
          <p:cNvSpPr/>
          <p:nvPr/>
        </p:nvSpPr>
        <p:spPr>
          <a:xfrm>
            <a:off x="4343400" y="2944368"/>
            <a:ext cx="3611880" cy="269748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7" name="click_04_bar"/>
          <p:cNvSpPr/>
          <p:nvPr/>
        </p:nvSpPr>
        <p:spPr>
          <a:xfrm>
            <a:off x="4343400" y="2944368"/>
            <a:ext cx="64008" cy="2697480"/>
          </a:xfrm>
          <a:prstGeom prst="rect">
            <a:avLst/>
          </a:prstGeom>
          <a:solidFill>
            <a:srgbClr val="16324F"/>
          </a:solidFill>
          <a:ln/>
        </p:spPr>
      </p:sp>
      <p:sp>
        <p:nvSpPr>
          <p:cNvPr id="18" name="click_04_ov"/>
          <p:cNvSpPr/>
          <p:nvPr/>
        </p:nvSpPr>
        <p:spPr>
          <a:xfrm>
            <a:off x="4599432" y="3127248"/>
            <a:ext cx="530352" cy="530352"/>
          </a:xfrm>
          <a:prstGeom prst="ellipse">
            <a:avLst/>
          </a:prstGeom>
          <a:solidFill>
            <a:srgbClr val="B8954A"/>
          </a:solidFill>
          <a:ln/>
        </p:spPr>
      </p:sp>
      <p:pic>
        <p:nvPicPr>
          <p:cNvPr id="19" name="click_04_ic" descr="preencoded.png">    </p:cNvPr>
          <p:cNvPicPr>
            <a:picLocks noChangeAspect="1"/>
          </p:cNvPicPr>
          <p:nvPr/>
        </p:nvPicPr>
        <p:blipFill>
          <a:blip r:embed="rId2"/>
          <a:stretch>
            <a:fillRect/>
          </a:stretch>
        </p:blipFill>
        <p:spPr>
          <a:xfrm>
            <a:off x="4737324" y="3265140"/>
            <a:ext cx="254569" cy="254569"/>
          </a:xfrm>
          <a:prstGeom prst="rect">
            <a:avLst/>
          </a:prstGeom>
        </p:spPr>
      </p:pic>
      <p:sp>
        <p:nvSpPr>
          <p:cNvPr id="20" name="click_04_t"/>
          <p:cNvSpPr/>
          <p:nvPr/>
        </p:nvSpPr>
        <p:spPr>
          <a:xfrm>
            <a:off x="4599432" y="3767328"/>
            <a:ext cx="3108960" cy="38404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Official Indian pages</a:t>
            </a:r>
            <a:endParaRPr lang="en-US" sz="1600" dirty="0"/>
          </a:p>
        </p:txBody>
      </p:sp>
      <p:sp>
        <p:nvSpPr>
          <p:cNvPr id="21" name="click_04_d"/>
          <p:cNvSpPr/>
          <p:nvPr/>
        </p:nvSpPr>
        <p:spPr>
          <a:xfrm>
            <a:off x="4599432" y="4169664"/>
            <a:ext cx="310896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157 ICMR STWs across 28 specialties (NMC notice, 15 Sep 2025), 384 NLEM medicines (2022), monthly CDSCO NSQ tables.</a:t>
            </a:r>
            <a:endParaRPr lang="en-US" sz="1300" dirty="0"/>
          </a:p>
        </p:txBody>
      </p:sp>
      <p:sp>
        <p:nvSpPr>
          <p:cNvPr id="22" name="click_05_bg"/>
          <p:cNvSpPr/>
          <p:nvPr/>
        </p:nvSpPr>
        <p:spPr>
          <a:xfrm>
            <a:off x="8138160" y="2944368"/>
            <a:ext cx="3611880" cy="269748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3" name="click_05_bar"/>
          <p:cNvSpPr/>
          <p:nvPr/>
        </p:nvSpPr>
        <p:spPr>
          <a:xfrm>
            <a:off x="8138160" y="2944368"/>
            <a:ext cx="64008" cy="2697480"/>
          </a:xfrm>
          <a:prstGeom prst="rect">
            <a:avLst/>
          </a:prstGeom>
          <a:solidFill>
            <a:srgbClr val="16324F"/>
          </a:solidFill>
          <a:ln/>
        </p:spPr>
      </p:sp>
      <p:sp>
        <p:nvSpPr>
          <p:cNvPr id="24" name="click_05_ov"/>
          <p:cNvSpPr/>
          <p:nvPr/>
        </p:nvSpPr>
        <p:spPr>
          <a:xfrm>
            <a:off x="8394192" y="3127248"/>
            <a:ext cx="530352" cy="530352"/>
          </a:xfrm>
          <a:prstGeom prst="ellipse">
            <a:avLst/>
          </a:prstGeom>
          <a:solidFill>
            <a:srgbClr val="B8954A"/>
          </a:solidFill>
          <a:ln/>
        </p:spPr>
      </p:sp>
      <p:pic>
        <p:nvPicPr>
          <p:cNvPr id="25" name="click_05_ic" descr="preencoded.png">    </p:cNvPr>
          <p:cNvPicPr>
            <a:picLocks noChangeAspect="1"/>
          </p:cNvPicPr>
          <p:nvPr/>
        </p:nvPicPr>
        <p:blipFill>
          <a:blip r:embed="rId3"/>
          <a:stretch>
            <a:fillRect/>
          </a:stretch>
        </p:blipFill>
        <p:spPr>
          <a:xfrm>
            <a:off x="8532084" y="3265140"/>
            <a:ext cx="254569" cy="254569"/>
          </a:xfrm>
          <a:prstGeom prst="rect">
            <a:avLst/>
          </a:prstGeom>
        </p:spPr>
      </p:pic>
      <p:sp>
        <p:nvSpPr>
          <p:cNvPr id="26" name="click_05_t"/>
          <p:cNvSpPr/>
          <p:nvPr/>
        </p:nvSpPr>
        <p:spPr>
          <a:xfrm>
            <a:off x="8394192" y="3767328"/>
            <a:ext cx="3108960" cy="38404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Fail-closed card</a:t>
            </a:r>
            <a:endParaRPr lang="en-US" sz="1600" dirty="0"/>
          </a:p>
        </p:txBody>
      </p:sp>
      <p:sp>
        <p:nvSpPr>
          <p:cNvPr id="27" name="click_05_d"/>
          <p:cNvSpPr/>
          <p:nvPr/>
        </p:nvSpPr>
        <p:spPr>
          <a:xfrm>
            <a:off x="8394192" y="4169664"/>
            <a:ext cx="310896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Grounded, insufficient, or out_of_scope. Watermark: not a diagnosis. GEPA is offline only.</a:t>
            </a:r>
            <a:endParaRPr lang="en-US" sz="1300" dirty="0"/>
          </a:p>
        </p:txBody>
      </p:sp>
    </p:spTree>
  </p:cSld>
  <p:clrMapOvr>
    <a:masterClrMapping/>
  </p:clrMapOvr>
  <p:transition spd="med" advClick="1">
    <p:fade/>
  </p:transition>
  <p:timing>
    <p:tnLst>
      <p:par>
        <p:cTn id="1" dur="indefinite" restart="never" nodeType="tmRoot">
          <p:childTnLst>
            <p:seq concurrent="true" nextAc="seek">
              <p:cTn id="56"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2" fill="hold">
                      <p:stCondLst>
                        <p:cond delay="indefinite"/>
                      </p:stCondLst>
                      <p:childTnLst>
                        <p:par>
                          <p:cTn id="13"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childTnLst>
                          </p:cTn>
                        </p:par>
                      </p:childTnLst>
                    </p:cTn>
                  </p:par>
                  <p:par>
                    <p:cTn id="26" fill="hold">
                      <p:stCondLst>
                        <p:cond delay="indefinite"/>
                      </p:stCondLst>
                      <p:childTnLst>
                        <p:par>
                          <p:cTn id="27" fill="hold">
                            <p:stCondLst>
                              <p:cond delay="0"/>
                            </p:stCondLst>
                            <p:childTnLst>
                              <p:par>
                                <p:cTn id="14" presetID="10" presetClass="entr" presetSubtype="0" fill="hold" grpId="0" nodeType="clickEffect">
                                  <p:stCondLst>
                                    <p:cond delay="0"/>
                                  </p:stCondLst>
                                  <p:childTnLst>
                                    <p:animEffect transition="in" filter="fade">
                                      <p:cBhvr>
                                        <p:cTn id="15" dur="450"/>
                                        <p:tgtEl>
                                          <p:spTgt spid="10"/>
                                        </p:tgtEl>
                                      </p:cBhvr>
                                    </p:animEffect>
                                  </p:childTnLst>
                                </p:cTn>
                              </p:par>
                              <p:par>
                                <p:cTn id="16" presetID="10" presetClass="entr" presetSubtype="0" fill="hold" grpId="0" nodeType="with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4"/>
                                        </p:tgtEl>
                                      </p:cBhvr>
                                    </p:animEffect>
                                  </p:childTnLst>
                                </p:cTn>
                              </p:par>
                              <p:par>
                                <p:cTn id="22" presetID="10" presetClass="entr" presetSubtype="0" fill="hold" grpId="0" nodeType="withEffect">
                                  <p:stCondLst>
                                    <p:cond delay="0"/>
                                  </p:stCondLst>
                                  <p:childTnLst>
                                    <p:animEffect transition="in" filter="fade">
                                      <p:cBhvr>
                                        <p:cTn id="23" dur="450"/>
                                        <p:tgtEl>
                                          <p:spTgt spid="15"/>
                                        </p:tgtEl>
                                      </p:cBhvr>
                                    </p:animEffect>
                                  </p:childTnLst>
                                </p:cTn>
                              </p:par>
                              <p:par>
                                <p:cTn id="24" presetID="10" presetClass="entr" presetSubtype="0" fill="hold" grpId="0" nodeType="withEffect">
                                  <p:stCondLst>
                                    <p:cond delay="0"/>
                                  </p:stCondLst>
                                  <p:childTnLst>
                                    <p:animEffect transition="in" filter="fade">
                                      <p:cBhvr>
                                        <p:cTn id="25" dur="450"/>
                                        <p:tgtEl>
                                          <p:spTgt spid="13"/>
                                        </p:tgtEl>
                                      </p:cBhvr>
                                    </p:animEffect>
                                  </p:childTnLst>
                                </p:cTn>
                              </p:par>
                            </p:childTnLst>
                          </p:cTn>
                        </p:par>
                      </p:childTnLst>
                    </p:cTn>
                  </p:par>
                  <p:par>
                    <p:cTn id="40" fill="hold">
                      <p:stCondLst>
                        <p:cond delay="indefinite"/>
                      </p:stCondLst>
                      <p:childTnLst>
                        <p:par>
                          <p:cTn id="41" fill="hold">
                            <p:stCondLst>
                              <p:cond delay="0"/>
                            </p:stCondLst>
                            <p:childTnLst>
                              <p:par>
                                <p:cTn id="28" presetID="10" presetClass="entr" presetSubtype="0" fill="hold" grpId="0" nodeType="clickEffect">
                                  <p:stCondLst>
                                    <p:cond delay="0"/>
                                  </p:stCondLst>
                                  <p:childTnLst>
                                    <p:animEffect transition="in" filter="fade">
                                      <p:cBhvr>
                                        <p:cTn id="29" dur="450"/>
                                        <p:tgtEl>
                                          <p:spTgt spid="16"/>
                                        </p:tgtEl>
                                      </p:cBhvr>
                                    </p:animEffect>
                                  </p:childTnLst>
                                </p:cTn>
                              </p:par>
                              <p:par>
                                <p:cTn id="30" presetID="10" presetClass="entr" presetSubtype="0" fill="hold" grpId="0" nodeType="withEffect">
                                  <p:stCondLst>
                                    <p:cond delay="0"/>
                                  </p:stCondLst>
                                  <p:childTnLst>
                                    <p:animEffect transition="in" filter="fade">
                                      <p:cBhvr>
                                        <p:cTn id="31" dur="450"/>
                                        <p:tgtEl>
                                          <p:spTgt spid="17"/>
                                        </p:tgtEl>
                                      </p:cBhvr>
                                    </p:animEffect>
                                  </p:childTnLst>
                                </p:cTn>
                              </p:par>
                              <p:par>
                                <p:cTn id="32" presetID="10" presetClass="entr" presetSubtype="0" fill="hold" grpId="0" nodeType="withEffect">
                                  <p:stCondLst>
                                    <p:cond delay="0"/>
                                  </p:stCondLst>
                                  <p:childTnLst>
                                    <p:animEffect transition="in" filter="fade">
                                      <p:cBhvr>
                                        <p:cTn id="33" dur="450"/>
                                        <p:tgtEl>
                                          <p:spTgt spid="18"/>
                                        </p:tgtEl>
                                      </p:cBhvr>
                                    </p:animEffect>
                                  </p:childTnLst>
                                </p:cTn>
                              </p:par>
                              <p:par>
                                <p:cTn id="34" presetID="10" presetClass="entr" presetSubtype="0" fill="hold" grpId="0" nodeType="withEffect">
                                  <p:stCondLst>
                                    <p:cond delay="0"/>
                                  </p:stCondLst>
                                  <p:childTnLst>
                                    <p:animEffect transition="in" filter="fade">
                                      <p:cBhvr>
                                        <p:cTn id="35" dur="450"/>
                                        <p:tgtEl>
                                          <p:spTgt spid="20"/>
                                        </p:tgtEl>
                                      </p:cBhvr>
                                    </p:animEffect>
                                  </p:childTnLst>
                                </p:cTn>
                              </p:par>
                              <p:par>
                                <p:cTn id="36" presetID="10" presetClass="entr" presetSubtype="0" fill="hold" grpId="0" nodeType="withEffect">
                                  <p:stCondLst>
                                    <p:cond delay="0"/>
                                  </p:stCondLst>
                                  <p:childTnLst>
                                    <p:animEffect transition="in" filter="fade">
                                      <p:cBhvr>
                                        <p:cTn id="37" dur="450"/>
                                        <p:tgtEl>
                                          <p:spTgt spid="21"/>
                                        </p:tgtEl>
                                      </p:cBhvr>
                                    </p:animEffect>
                                  </p:childTnLst>
                                </p:cTn>
                              </p:par>
                              <p:par>
                                <p:cTn id="38" presetID="10" presetClass="entr" presetSubtype="0" fill="hold" grpId="0" nodeType="withEffect">
                                  <p:stCondLst>
                                    <p:cond delay="0"/>
                                  </p:stCondLst>
                                  <p:childTnLst>
                                    <p:animEffect transition="in" filter="fade">
                                      <p:cBhvr>
                                        <p:cTn id="39" dur="450"/>
                                        <p:tgtEl>
                                          <p:spTgt spid="19"/>
                                        </p:tgtEl>
                                      </p:cBhvr>
                                    </p:animEffect>
                                  </p:childTnLst>
                                </p:cTn>
                              </p:par>
                            </p:childTnLst>
                          </p:cTn>
                        </p:par>
                      </p:childTnLst>
                    </p:cTn>
                  </p:par>
                  <p:par>
                    <p:cTn id="54" fill="hold">
                      <p:stCondLst>
                        <p:cond delay="indefinite"/>
                      </p:stCondLst>
                      <p:childTnLst>
                        <p:par>
                          <p:cTn id="55" fill="hold">
                            <p:stCondLst>
                              <p:cond delay="0"/>
                            </p:stCondLst>
                            <p:childTnLst>
                              <p:par>
                                <p:cTn id="42" presetID="10" presetClass="entr" presetSubtype="0" fill="hold" grpId="0" nodeType="clickEffect">
                                  <p:stCondLst>
                                    <p:cond delay="0"/>
                                  </p:stCondLst>
                                  <p:childTnLst>
                                    <p:animEffect transition="in" filter="fade">
                                      <p:cBhvr>
                                        <p:cTn id="43" dur="450"/>
                                        <p:tgtEl>
                                          <p:spTgt spid="22"/>
                                        </p:tgtEl>
                                      </p:cBhvr>
                                    </p:animEffect>
                                  </p:childTnLst>
                                </p:cTn>
                              </p:par>
                              <p:par>
                                <p:cTn id="44" presetID="10" presetClass="entr" presetSubtype="0" fill="hold" grpId="0" nodeType="withEffect">
                                  <p:stCondLst>
                                    <p:cond delay="0"/>
                                  </p:stCondLst>
                                  <p:childTnLst>
                                    <p:animEffect transition="in" filter="fade">
                                      <p:cBhvr>
                                        <p:cTn id="45" dur="450"/>
                                        <p:tgtEl>
                                          <p:spTgt spid="23"/>
                                        </p:tgtEl>
                                      </p:cBhvr>
                                    </p:animEffect>
                                  </p:childTnLst>
                                </p:cTn>
                              </p:par>
                              <p:par>
                                <p:cTn id="46" presetID="10" presetClass="entr" presetSubtype="0" fill="hold" grpId="0" nodeType="withEffect">
                                  <p:stCondLst>
                                    <p:cond delay="0"/>
                                  </p:stCondLst>
                                  <p:childTnLst>
                                    <p:animEffect transition="in" filter="fade">
                                      <p:cBhvr>
                                        <p:cTn id="47" dur="450"/>
                                        <p:tgtEl>
                                          <p:spTgt spid="24"/>
                                        </p:tgtEl>
                                      </p:cBhvr>
                                    </p:animEffect>
                                  </p:childTnLst>
                                </p:cTn>
                              </p:par>
                              <p:par>
                                <p:cTn id="48" presetID="10" presetClass="entr" presetSubtype="0" fill="hold" grpId="0" nodeType="withEffect">
                                  <p:stCondLst>
                                    <p:cond delay="0"/>
                                  </p:stCondLst>
                                  <p:childTnLst>
                                    <p:animEffect transition="in" filter="fade">
                                      <p:cBhvr>
                                        <p:cTn id="49" dur="450"/>
                                        <p:tgtEl>
                                          <p:spTgt spid="26"/>
                                        </p:tgtEl>
                                      </p:cBhvr>
                                    </p:animEffect>
                                  </p:childTnLst>
                                </p:cTn>
                              </p:par>
                              <p:par>
                                <p:cTn id="50" presetID="10" presetClass="entr" presetSubtype="0" fill="hold" grpId="0" nodeType="withEffect">
                                  <p:stCondLst>
                                    <p:cond delay="0"/>
                                  </p:stCondLst>
                                  <p:childTnLst>
                                    <p:animEffect transition="in" filter="fade">
                                      <p:cBhvr>
                                        <p:cTn id="51" dur="450"/>
                                        <p:tgtEl>
                                          <p:spTgt spid="27"/>
                                        </p:tgtEl>
                                      </p:cBhvr>
                                    </p:animEffect>
                                  </p:childTnLst>
                                </p:cTn>
                              </p:par>
                              <p:par>
                                <p:cTn id="52" presetID="10" presetClass="entr" presetSubtype="0" fill="hold" grpId="0" nodeType="withEffect">
                                  <p:stCondLst>
                                    <p:cond delay="0"/>
                                  </p:stCondLst>
                                  <p:childTnLst>
                                    <p:animEffect transition="in" filter="fade">
                                      <p:cBhvr>
                                        <p:cTn id="5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4" grpId="0"/>
      <p:bldP spid="15" grpId="0"/>
      <p:bldP spid="13" grpId="0"/>
      <p:bldP spid="16" grpId="0"/>
      <p:bldP spid="17" grpId="0"/>
      <p:bldP spid="18" grpId="0"/>
      <p:bldP spid="20" grpId="0"/>
      <p:bldP spid="21" grpId="0"/>
      <p:bldP spid="19" grpId="0"/>
      <p:bldP spid="22" grpId="0"/>
      <p:bldP spid="23" grpId="0"/>
      <p:bldP spid="24" grpId="0"/>
      <p:bldP spid="26" grpId="0"/>
      <p:bldP spid="27" grpId="0"/>
      <p:bldP spid="25" grpId="0"/>
    </p:bldLst>
  </p:timing>
</p:sld>
</file>

<file path=ppt/slides/slide3.xml><?xml version="1.0" encoding="utf-8"?>
<p:sld xmlns:a="http://schemas.openxmlformats.org/drawingml/2006/main" xmlns:p="http://schemas.openxmlformats.org/presentationml/2006/main" xmlns:r="http://schemas.openxmlformats.org/officeDocument/2006/relationships">
  <p:cSld name="Slide 3">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03  ·  INTRODUCTION</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03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Why Care Pathway?</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lead"/>
          <p:cNvSpPr/>
          <p:nvPr/>
        </p:nvSpPr>
        <p:spPr>
          <a:xfrm>
            <a:off x="548640" y="1261872"/>
            <a:ext cx="11091672" cy="804672"/>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People already ask language models for health advice. India already publishes STWs, NLEM, and CDSCO NSQ lists. The student-sized gap is ungrounded answering — invented drugs, skipped official pages, and talk when evidence is missing — not another chatbot and not “we detected cancer.”</a:t>
            </a:r>
            <a:endParaRPr lang="en-US" sz="1500" dirty="0"/>
          </a:p>
        </p:txBody>
      </p:sp>
      <p:sp>
        <p:nvSpPr>
          <p:cNvPr id="8" name="click_03_ov"/>
          <p:cNvSpPr/>
          <p:nvPr/>
        </p:nvSpPr>
        <p:spPr>
          <a:xfrm>
            <a:off x="548640" y="2286000"/>
            <a:ext cx="475488" cy="475488"/>
          </a:xfrm>
          <a:prstGeom prst="ellipse">
            <a:avLst/>
          </a:prstGeom>
          <a:solidFill>
            <a:srgbClr val="B8954A"/>
          </a:solidFill>
          <a:ln/>
        </p:spPr>
      </p:sp>
      <p:pic>
        <p:nvPicPr>
          <p:cNvPr id="9" name="click_03_ic" descr="preencoded.png">    </p:cNvPr>
          <p:cNvPicPr>
            <a:picLocks noChangeAspect="1"/>
          </p:cNvPicPr>
          <p:nvPr/>
        </p:nvPicPr>
        <p:blipFill>
          <a:blip r:embed="rId1"/>
          <a:stretch>
            <a:fillRect/>
          </a:stretch>
        </p:blipFill>
        <p:spPr>
          <a:xfrm>
            <a:off x="672267" y="2409627"/>
            <a:ext cx="228234" cy="228234"/>
          </a:xfrm>
          <a:prstGeom prst="rect">
            <a:avLst/>
          </a:prstGeom>
        </p:spPr>
      </p:pic>
      <p:sp>
        <p:nvSpPr>
          <p:cNvPr id="10" name="click_03_t"/>
          <p:cNvSpPr/>
          <p:nvPr/>
        </p:nvSpPr>
        <p:spPr>
          <a:xfrm>
            <a:off x="1170432" y="2212848"/>
            <a:ext cx="4937760" cy="292608"/>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Invention</a:t>
            </a:r>
            <a:endParaRPr lang="en-US" sz="1500" dirty="0"/>
          </a:p>
        </p:txBody>
      </p:sp>
      <p:sp>
        <p:nvSpPr>
          <p:cNvPr id="11" name="click_03_d"/>
          <p:cNvSpPr/>
          <p:nvPr/>
        </p:nvSpPr>
        <p:spPr>
          <a:xfrm>
            <a:off x="1170432" y="2523744"/>
            <a:ext cx="4937760" cy="8412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A drug, dose, or referral that does not appear in any retrieved official span.</a:t>
            </a:r>
            <a:endParaRPr lang="en-US" sz="1300" dirty="0"/>
          </a:p>
        </p:txBody>
      </p:sp>
      <p:sp>
        <p:nvSpPr>
          <p:cNvPr id="12" name="click_04_ov"/>
          <p:cNvSpPr/>
          <p:nvPr/>
        </p:nvSpPr>
        <p:spPr>
          <a:xfrm>
            <a:off x="6355080" y="2286000"/>
            <a:ext cx="475488" cy="475488"/>
          </a:xfrm>
          <a:prstGeom prst="ellipse">
            <a:avLst/>
          </a:prstGeom>
          <a:solidFill>
            <a:srgbClr val="B8954A"/>
          </a:solidFill>
          <a:ln/>
        </p:spPr>
      </p:sp>
      <p:pic>
        <p:nvPicPr>
          <p:cNvPr id="13" name="click_04_ic" descr="preencoded.png">    </p:cNvPr>
          <p:cNvPicPr>
            <a:picLocks noChangeAspect="1"/>
          </p:cNvPicPr>
          <p:nvPr/>
        </p:nvPicPr>
        <p:blipFill>
          <a:blip r:embed="rId2"/>
          <a:stretch>
            <a:fillRect/>
          </a:stretch>
        </p:blipFill>
        <p:spPr>
          <a:xfrm>
            <a:off x="6478707" y="2409627"/>
            <a:ext cx="228234" cy="228234"/>
          </a:xfrm>
          <a:prstGeom prst="rect">
            <a:avLst/>
          </a:prstGeom>
        </p:spPr>
      </p:pic>
      <p:sp>
        <p:nvSpPr>
          <p:cNvPr id="14" name="click_04_t"/>
          <p:cNvSpPr/>
          <p:nvPr/>
        </p:nvSpPr>
        <p:spPr>
          <a:xfrm>
            <a:off x="6976872" y="2212848"/>
            <a:ext cx="4937760" cy="292608"/>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Over-talking</a:t>
            </a:r>
            <a:endParaRPr lang="en-US" sz="1500" dirty="0"/>
          </a:p>
        </p:txBody>
      </p:sp>
      <p:sp>
        <p:nvSpPr>
          <p:cNvPr id="15" name="click_04_d"/>
          <p:cNvSpPr/>
          <p:nvPr/>
        </p:nvSpPr>
        <p:spPr>
          <a:xfrm>
            <a:off x="6976872" y="2523744"/>
            <a:ext cx="4937760" cy="8412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Out-of-scope items are answered because prompts were built only from answered neighbours.</a:t>
            </a:r>
            <a:endParaRPr lang="en-US" sz="1300" dirty="0"/>
          </a:p>
        </p:txBody>
      </p:sp>
      <p:sp>
        <p:nvSpPr>
          <p:cNvPr id="16" name="click_05_ov"/>
          <p:cNvSpPr/>
          <p:nvPr/>
        </p:nvSpPr>
        <p:spPr>
          <a:xfrm>
            <a:off x="548640" y="3639312"/>
            <a:ext cx="475488" cy="475488"/>
          </a:xfrm>
          <a:prstGeom prst="ellipse">
            <a:avLst/>
          </a:prstGeom>
          <a:solidFill>
            <a:srgbClr val="B8954A"/>
          </a:solidFill>
          <a:ln/>
        </p:spPr>
      </p:sp>
      <p:pic>
        <p:nvPicPr>
          <p:cNvPr id="17" name="click_05_ic" descr="preencoded.png">    </p:cNvPr>
          <p:cNvPicPr>
            <a:picLocks noChangeAspect="1"/>
          </p:cNvPicPr>
          <p:nvPr/>
        </p:nvPicPr>
        <p:blipFill>
          <a:blip r:embed="rId3"/>
          <a:stretch>
            <a:fillRect/>
          </a:stretch>
        </p:blipFill>
        <p:spPr>
          <a:xfrm>
            <a:off x="672267" y="3762939"/>
            <a:ext cx="228234" cy="228234"/>
          </a:xfrm>
          <a:prstGeom prst="rect">
            <a:avLst/>
          </a:prstGeom>
        </p:spPr>
      </p:pic>
      <p:sp>
        <p:nvSpPr>
          <p:cNvPr id="18" name="click_05_t"/>
          <p:cNvSpPr/>
          <p:nvPr/>
        </p:nvSpPr>
        <p:spPr>
          <a:xfrm>
            <a:off x="1170432" y="3566160"/>
            <a:ext cx="4937760" cy="292608"/>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Wrong architecture</a:t>
            </a:r>
            <a:endParaRPr lang="en-US" sz="1500" dirty="0"/>
          </a:p>
        </p:txBody>
      </p:sp>
      <p:sp>
        <p:nvSpPr>
          <p:cNvPr id="19" name="click_05_d"/>
          <p:cNvSpPr/>
          <p:nvPr/>
        </p:nvSpPr>
        <p:spPr>
          <a:xfrm>
            <a:off x="1170432" y="3877056"/>
            <a:ext cx="4937760" cy="8412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Chatting specialist “agents” that order tests in a loop are not evaluable and are not a doctor.</a:t>
            </a:r>
            <a:endParaRPr lang="en-US" sz="1300" dirty="0"/>
          </a:p>
        </p:txBody>
      </p:sp>
      <p:sp>
        <p:nvSpPr>
          <p:cNvPr id="20" name="click_06_ov"/>
          <p:cNvSpPr/>
          <p:nvPr/>
        </p:nvSpPr>
        <p:spPr>
          <a:xfrm>
            <a:off x="6355080" y="3639312"/>
            <a:ext cx="475488" cy="475488"/>
          </a:xfrm>
          <a:prstGeom prst="ellipse">
            <a:avLst/>
          </a:prstGeom>
          <a:solidFill>
            <a:srgbClr val="B8954A"/>
          </a:solidFill>
          <a:ln/>
        </p:spPr>
      </p:sp>
      <p:pic>
        <p:nvPicPr>
          <p:cNvPr id="21" name="click_06_ic" descr="preencoded.png">    </p:cNvPr>
          <p:cNvPicPr>
            <a:picLocks noChangeAspect="1"/>
          </p:cNvPicPr>
          <p:nvPr/>
        </p:nvPicPr>
        <p:blipFill>
          <a:blip r:embed="rId4"/>
          <a:stretch>
            <a:fillRect/>
          </a:stretch>
        </p:blipFill>
        <p:spPr>
          <a:xfrm>
            <a:off x="6478707" y="3762939"/>
            <a:ext cx="228234" cy="228234"/>
          </a:xfrm>
          <a:prstGeom prst="rect">
            <a:avLst/>
          </a:prstGeom>
        </p:spPr>
      </p:pic>
      <p:sp>
        <p:nvSpPr>
          <p:cNvPr id="22" name="click_06_t"/>
          <p:cNvSpPr/>
          <p:nvPr/>
        </p:nvSpPr>
        <p:spPr>
          <a:xfrm>
            <a:off x="6976872" y="3566160"/>
            <a:ext cx="4937760" cy="292608"/>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Flowchart STWs</a:t>
            </a:r>
            <a:endParaRPr lang="en-US" sz="1500" dirty="0"/>
          </a:p>
        </p:txBody>
      </p:sp>
      <p:sp>
        <p:nvSpPr>
          <p:cNvPr id="23" name="click_06_d"/>
          <p:cNvSpPr/>
          <p:nvPr/>
        </p:nvSpPr>
        <p:spPr>
          <a:xfrm>
            <a:off x="6976872" y="3877056"/>
            <a:ext cx="4937760" cy="8412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ICMR pages are one-page diamonds and arrows. Text-chunk retrieval loses the decision.</a:t>
            </a:r>
            <a:endParaRPr lang="en-US" sz="1300" dirty="0"/>
          </a:p>
        </p:txBody>
      </p:sp>
      <p:sp>
        <p:nvSpPr>
          <p:cNvPr id="24" name="click_07_ov"/>
          <p:cNvSpPr/>
          <p:nvPr/>
        </p:nvSpPr>
        <p:spPr>
          <a:xfrm>
            <a:off x="548640" y="4992624"/>
            <a:ext cx="475488" cy="475488"/>
          </a:xfrm>
          <a:prstGeom prst="ellipse">
            <a:avLst/>
          </a:prstGeom>
          <a:solidFill>
            <a:srgbClr val="B8954A"/>
          </a:solidFill>
          <a:ln/>
        </p:spPr>
      </p:sp>
      <p:pic>
        <p:nvPicPr>
          <p:cNvPr id="25" name="click_07_ic" descr="preencoded.png">    </p:cNvPr>
          <p:cNvPicPr>
            <a:picLocks noChangeAspect="1"/>
          </p:cNvPicPr>
          <p:nvPr/>
        </p:nvPicPr>
        <p:blipFill>
          <a:blip r:embed="rId5"/>
          <a:stretch>
            <a:fillRect/>
          </a:stretch>
        </p:blipFill>
        <p:spPr>
          <a:xfrm>
            <a:off x="672267" y="5116251"/>
            <a:ext cx="228234" cy="228234"/>
          </a:xfrm>
          <a:prstGeom prst="rect">
            <a:avLst/>
          </a:prstGeom>
        </p:spPr>
      </p:pic>
      <p:sp>
        <p:nvSpPr>
          <p:cNvPr id="26" name="click_07_t"/>
          <p:cNvSpPr/>
          <p:nvPr/>
        </p:nvSpPr>
        <p:spPr>
          <a:xfrm>
            <a:off x="1170432" y="4919472"/>
            <a:ext cx="4937760" cy="292608"/>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Tools, not agents</a:t>
            </a:r>
            <a:endParaRPr lang="en-US" sz="1500" dirty="0"/>
          </a:p>
        </p:txBody>
      </p:sp>
      <p:sp>
        <p:nvSpPr>
          <p:cNvPr id="27" name="click_07_d"/>
          <p:cNvSpPr/>
          <p:nvPr/>
        </p:nvSpPr>
        <p:spPr>
          <a:xfrm>
            <a:off x="1170432" y="5230368"/>
            <a:ext cx="4937760" cy="8412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Specialists return JSON. The host executes. The LLM names the function and then stays inside spans.</a:t>
            </a:r>
            <a:endParaRPr lang="en-US" sz="1300" dirty="0"/>
          </a:p>
        </p:txBody>
      </p:sp>
      <p:sp>
        <p:nvSpPr>
          <p:cNvPr id="28" name="click_08_ov"/>
          <p:cNvSpPr/>
          <p:nvPr/>
        </p:nvSpPr>
        <p:spPr>
          <a:xfrm>
            <a:off x="6355080" y="4992624"/>
            <a:ext cx="475488" cy="475488"/>
          </a:xfrm>
          <a:prstGeom prst="ellipse">
            <a:avLst/>
          </a:prstGeom>
          <a:solidFill>
            <a:srgbClr val="B8954A"/>
          </a:solidFill>
          <a:ln/>
        </p:spPr>
      </p:sp>
      <p:pic>
        <p:nvPicPr>
          <p:cNvPr id="29" name="click_08_ic" descr="preencoded.png">    </p:cNvPr>
          <p:cNvPicPr>
            <a:picLocks noChangeAspect="1"/>
          </p:cNvPicPr>
          <p:nvPr/>
        </p:nvPicPr>
        <p:blipFill>
          <a:blip r:embed="rId6"/>
          <a:stretch>
            <a:fillRect/>
          </a:stretch>
        </p:blipFill>
        <p:spPr>
          <a:xfrm>
            <a:off x="6478707" y="5116251"/>
            <a:ext cx="228234" cy="228234"/>
          </a:xfrm>
          <a:prstGeom prst="rect">
            <a:avLst/>
          </a:prstGeom>
        </p:spPr>
      </p:pic>
      <p:sp>
        <p:nvSpPr>
          <p:cNvPr id="30" name="click_08_t"/>
          <p:cNvSpPr/>
          <p:nvPr/>
        </p:nvSpPr>
        <p:spPr>
          <a:xfrm>
            <a:off x="6976872" y="4919472"/>
            <a:ext cx="4937760" cy="292608"/>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Silence is a result</a:t>
            </a:r>
            <a:endParaRPr lang="en-US" sz="1500" dirty="0"/>
          </a:p>
        </p:txBody>
      </p:sp>
      <p:sp>
        <p:nvSpPr>
          <p:cNvPr id="31" name="click_08_d"/>
          <p:cNvSpPr/>
          <p:nvPr/>
        </p:nvSpPr>
        <p:spPr>
          <a:xfrm>
            <a:off x="6976872" y="5230368"/>
            <a:ext cx="4937760" cy="8412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insufficient and out_of_scope are first-class. The product is a watermarked card.</a:t>
            </a:r>
            <a:endParaRPr lang="en-US" sz="1300" dirty="0"/>
          </a:p>
        </p:txBody>
      </p:sp>
    </p:spTree>
  </p:cSld>
  <p:clrMapOvr>
    <a:masterClrMapping/>
  </p:clrMapOvr>
  <p:transition spd="med" advClick="1">
    <p:fade/>
  </p:transition>
  <p:timing>
    <p:tnLst>
      <p:par>
        <p:cTn id="1" dur="indefinite" restart="never" nodeType="tmRoot">
          <p:childTnLst>
            <p:seq concurrent="true" nextAc="seek">
              <p:cTn id="70"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childTnLst>
                          </p:cTn>
                        </p:par>
                      </p:childTnLst>
                    </p:cTn>
                  </p:par>
                  <p:par>
                    <p:cTn id="18" fill="hold">
                      <p:stCondLst>
                        <p:cond delay="indefinite"/>
                      </p:stCondLst>
                      <p:childTnLst>
                        <p:par>
                          <p:cTn id="19" fill="hold">
                            <p:stCondLst>
                              <p:cond delay="0"/>
                            </p:stCondLst>
                            <p:childTnLst>
                              <p:par>
                                <p:cTn id="10" presetID="10" presetClass="entr" presetSubtype="0" fill="hold" grpId="0" nodeType="clickEffect">
                                  <p:stCondLst>
                                    <p:cond delay="0"/>
                                  </p:stCondLst>
                                  <p:childTnLst>
                                    <p:animEffect transition="in" filter="fade">
                                      <p:cBhvr>
                                        <p:cTn id="11" dur="450"/>
                                        <p:tgtEl>
                                          <p:spTgt spid="8"/>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par>
                                <p:cTn id="16" presetID="10" presetClass="entr" presetSubtype="0" fill="hold" grpId="0" nodeType="withEffect">
                                  <p:stCondLst>
                                    <p:cond delay="0"/>
                                  </p:stCondLst>
                                  <p:childTnLst>
                                    <p:animEffect transition="in" filter="fade">
                                      <p:cBhvr>
                                        <p:cTn id="17" dur="450"/>
                                        <p:tgtEl>
                                          <p:spTgt spid="9"/>
                                        </p:tgtEl>
                                      </p:cBhvr>
                                    </p:animEffect>
                                  </p:childTnLst>
                                </p:cTn>
                              </p:par>
                            </p:childTnLst>
                          </p:cTn>
                        </p:par>
                      </p:childTnLst>
                    </p:cTn>
                  </p:par>
                  <p:par>
                    <p:cTn id="28" fill="hold">
                      <p:stCondLst>
                        <p:cond delay="indefinite"/>
                      </p:stCondLst>
                      <p:childTnLst>
                        <p:par>
                          <p:cTn id="29" fill="hold">
                            <p:stCondLst>
                              <p:cond delay="0"/>
                            </p:stCondLst>
                            <p:childTnLst>
                              <p:par>
                                <p:cTn id="20" presetID="10" presetClass="entr" presetSubtype="0" fill="hold" grpId="0" nodeType="clickEffect">
                                  <p:stCondLst>
                                    <p:cond delay="0"/>
                                  </p:stCondLst>
                                  <p:childTnLst>
                                    <p:animEffect transition="in" filter="fade">
                                      <p:cBhvr>
                                        <p:cTn id="21" dur="450"/>
                                        <p:tgtEl>
                                          <p:spTgt spid="12"/>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3"/>
                                        </p:tgtEl>
                                      </p:cBhvr>
                                    </p:animEffect>
                                  </p:childTnLst>
                                </p:cTn>
                              </p:par>
                            </p:childTnLst>
                          </p:cTn>
                        </p:par>
                      </p:childTnLst>
                    </p:cTn>
                  </p:par>
                  <p:par>
                    <p:cTn id="38" fill="hold">
                      <p:stCondLst>
                        <p:cond delay="indefinite"/>
                      </p:stCondLst>
                      <p:childTnLst>
                        <p:par>
                          <p:cTn id="39" fill="hold">
                            <p:stCondLst>
                              <p:cond delay="0"/>
                            </p:stCondLst>
                            <p:childTnLst>
                              <p:par>
                                <p:cTn id="30" presetID="10" presetClass="entr" presetSubtype="0" fill="hold" grpId="0" nodeType="clickEffect">
                                  <p:stCondLst>
                                    <p:cond delay="0"/>
                                  </p:stCondLst>
                                  <p:childTnLst>
                                    <p:animEffect transition="in" filter="fade">
                                      <p:cBhvr>
                                        <p:cTn id="31" dur="450"/>
                                        <p:tgtEl>
                                          <p:spTgt spid="16"/>
                                        </p:tgtEl>
                                      </p:cBhvr>
                                    </p:animEffect>
                                  </p:childTnLst>
                                </p:cTn>
                              </p:par>
                              <p:par>
                                <p:cTn id="32" presetID="10" presetClass="entr" presetSubtype="0" fill="hold" grpId="0" nodeType="withEffect">
                                  <p:stCondLst>
                                    <p:cond delay="0"/>
                                  </p:stCondLst>
                                  <p:childTnLst>
                                    <p:animEffect transition="in" filter="fade">
                                      <p:cBhvr>
                                        <p:cTn id="33" dur="450"/>
                                        <p:tgtEl>
                                          <p:spTgt spid="18"/>
                                        </p:tgtEl>
                                      </p:cBhvr>
                                    </p:animEffect>
                                  </p:childTnLst>
                                </p:cTn>
                              </p:par>
                              <p:par>
                                <p:cTn id="34" presetID="10" presetClass="entr" presetSubtype="0" fill="hold" grpId="0" nodeType="with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17"/>
                                        </p:tgtEl>
                                      </p:cBhvr>
                                    </p:animEffect>
                                  </p:childTnLst>
                                </p:cTn>
                              </p:par>
                            </p:childTnLst>
                          </p:cTn>
                        </p:par>
                      </p:childTnLst>
                    </p:cTn>
                  </p:par>
                  <p:par>
                    <p:cTn id="48" fill="hold">
                      <p:stCondLst>
                        <p:cond delay="indefinite"/>
                      </p:stCondLst>
                      <p:childTnLst>
                        <p:par>
                          <p:cTn id="49" fill="hold">
                            <p:stCondLst>
                              <p:cond delay="0"/>
                            </p:stCondLst>
                            <p:childTnLst>
                              <p:par>
                                <p:cTn id="40" presetID="10" presetClass="entr" presetSubtype="0" fill="hold" grpId="0" nodeType="clickEffect">
                                  <p:stCondLst>
                                    <p:cond delay="0"/>
                                  </p:stCondLst>
                                  <p:childTnLst>
                                    <p:animEffect transition="in" filter="fade">
                                      <p:cBhvr>
                                        <p:cTn id="41" dur="450"/>
                                        <p:tgtEl>
                                          <p:spTgt spid="20"/>
                                        </p:tgtEl>
                                      </p:cBhvr>
                                    </p:animEffect>
                                  </p:childTnLst>
                                </p:cTn>
                              </p:par>
                              <p:par>
                                <p:cTn id="42" presetID="10" presetClass="entr" presetSubtype="0" fill="hold" grpId="0" nodeType="withEffect">
                                  <p:stCondLst>
                                    <p:cond delay="0"/>
                                  </p:stCondLst>
                                  <p:childTnLst>
                                    <p:animEffect transition="in" filter="fade">
                                      <p:cBhvr>
                                        <p:cTn id="43" dur="450"/>
                                        <p:tgtEl>
                                          <p:spTgt spid="22"/>
                                        </p:tgtEl>
                                      </p:cBhvr>
                                    </p:animEffect>
                                  </p:childTnLst>
                                </p:cTn>
                              </p:par>
                              <p:par>
                                <p:cTn id="44" presetID="10" presetClass="entr" presetSubtype="0" fill="hold" grpId="0" nodeType="withEffect">
                                  <p:stCondLst>
                                    <p:cond delay="0"/>
                                  </p:stCondLst>
                                  <p:childTnLst>
                                    <p:animEffect transition="in" filter="fade">
                                      <p:cBhvr>
                                        <p:cTn id="45" dur="450"/>
                                        <p:tgtEl>
                                          <p:spTgt spid="23"/>
                                        </p:tgtEl>
                                      </p:cBhvr>
                                    </p:animEffect>
                                  </p:childTnLst>
                                </p:cTn>
                              </p:par>
                              <p:par>
                                <p:cTn id="46" presetID="10" presetClass="entr" presetSubtype="0" fill="hold" grpId="0" nodeType="withEffect">
                                  <p:stCondLst>
                                    <p:cond delay="0"/>
                                  </p:stCondLst>
                                  <p:childTnLst>
                                    <p:animEffect transition="in" filter="fade">
                                      <p:cBhvr>
                                        <p:cTn id="47" dur="450"/>
                                        <p:tgtEl>
                                          <p:spTgt spid="21"/>
                                        </p:tgtEl>
                                      </p:cBhvr>
                                    </p:animEffect>
                                  </p:childTnLst>
                                </p:cTn>
                              </p:par>
                            </p:childTnLst>
                          </p:cTn>
                        </p:par>
                      </p:childTnLst>
                    </p:cTn>
                  </p:par>
                  <p:par>
                    <p:cTn id="58" fill="hold">
                      <p:stCondLst>
                        <p:cond delay="indefinite"/>
                      </p:stCondLst>
                      <p:childTnLst>
                        <p:par>
                          <p:cTn id="59" fill="hold">
                            <p:stCondLst>
                              <p:cond delay="0"/>
                            </p:stCondLst>
                            <p:childTnLst>
                              <p:par>
                                <p:cTn id="50" presetID="10" presetClass="entr" presetSubtype="0" fill="hold" grpId="0" nodeType="clickEffect">
                                  <p:stCondLst>
                                    <p:cond delay="0"/>
                                  </p:stCondLst>
                                  <p:childTnLst>
                                    <p:animEffect transition="in" filter="fade">
                                      <p:cBhvr>
                                        <p:cTn id="51" dur="450"/>
                                        <p:tgtEl>
                                          <p:spTgt spid="24"/>
                                        </p:tgtEl>
                                      </p:cBhvr>
                                    </p:animEffect>
                                  </p:childTnLst>
                                </p:cTn>
                              </p:par>
                              <p:par>
                                <p:cTn id="52" presetID="10" presetClass="entr" presetSubtype="0" fill="hold" grpId="0" nodeType="withEffect">
                                  <p:stCondLst>
                                    <p:cond delay="0"/>
                                  </p:stCondLst>
                                  <p:childTnLst>
                                    <p:animEffect transition="in" filter="fade">
                                      <p:cBhvr>
                                        <p:cTn id="53" dur="450"/>
                                        <p:tgtEl>
                                          <p:spTgt spid="26"/>
                                        </p:tgtEl>
                                      </p:cBhvr>
                                    </p:animEffect>
                                  </p:childTnLst>
                                </p:cTn>
                              </p:par>
                              <p:par>
                                <p:cTn id="54" presetID="10" presetClass="entr" presetSubtype="0" fill="hold" grpId="0" nodeType="withEffect">
                                  <p:stCondLst>
                                    <p:cond delay="0"/>
                                  </p:stCondLst>
                                  <p:childTnLst>
                                    <p:animEffect transition="in" filter="fade">
                                      <p:cBhvr>
                                        <p:cTn id="55" dur="450"/>
                                        <p:tgtEl>
                                          <p:spTgt spid="27"/>
                                        </p:tgtEl>
                                      </p:cBhvr>
                                    </p:animEffect>
                                  </p:childTnLst>
                                </p:cTn>
                              </p:par>
                              <p:par>
                                <p:cTn id="56" presetID="10" presetClass="entr" presetSubtype="0" fill="hold" grpId="0" nodeType="withEffect">
                                  <p:stCondLst>
                                    <p:cond delay="0"/>
                                  </p:stCondLst>
                                  <p:childTnLst>
                                    <p:animEffect transition="in" filter="fade">
                                      <p:cBhvr>
                                        <p:cTn id="57" dur="450"/>
                                        <p:tgtEl>
                                          <p:spTgt spid="25"/>
                                        </p:tgtEl>
                                      </p:cBhvr>
                                    </p:animEffect>
                                  </p:childTnLst>
                                </p:cTn>
                              </p:par>
                            </p:childTnLst>
                          </p:cTn>
                        </p:par>
                      </p:childTnLst>
                    </p:cTn>
                  </p:par>
                  <p:par>
                    <p:cTn id="68" fill="hold">
                      <p:stCondLst>
                        <p:cond delay="indefinite"/>
                      </p:stCondLst>
                      <p:childTnLst>
                        <p:par>
                          <p:cTn id="69" fill="hold">
                            <p:stCondLst>
                              <p:cond delay="0"/>
                            </p:stCondLst>
                            <p:childTnLst>
                              <p:par>
                                <p:cTn id="60" presetID="10" presetClass="entr" presetSubtype="0" fill="hold" grpId="0" nodeType="clickEffect">
                                  <p:stCondLst>
                                    <p:cond delay="0"/>
                                  </p:stCondLst>
                                  <p:childTnLst>
                                    <p:animEffect transition="in" filter="fade">
                                      <p:cBhvr>
                                        <p:cTn id="61" dur="450"/>
                                        <p:tgtEl>
                                          <p:spTgt spid="28"/>
                                        </p:tgtEl>
                                      </p:cBhvr>
                                    </p:animEffect>
                                  </p:childTnLst>
                                </p:cTn>
                              </p:par>
                              <p:par>
                                <p:cTn id="62" presetID="10" presetClass="entr" presetSubtype="0" fill="hold" grpId="0" nodeType="withEffect">
                                  <p:stCondLst>
                                    <p:cond delay="0"/>
                                  </p:stCondLst>
                                  <p:childTnLst>
                                    <p:animEffect transition="in" filter="fade">
                                      <p:cBhvr>
                                        <p:cTn id="63" dur="450"/>
                                        <p:tgtEl>
                                          <p:spTgt spid="30"/>
                                        </p:tgtEl>
                                      </p:cBhvr>
                                    </p:animEffect>
                                  </p:childTnLst>
                                </p:cTn>
                              </p:par>
                              <p:par>
                                <p:cTn id="64" presetID="10" presetClass="entr" presetSubtype="0" fill="hold" grpId="0" nodeType="withEffect">
                                  <p:stCondLst>
                                    <p:cond delay="0"/>
                                  </p:stCondLst>
                                  <p:childTnLst>
                                    <p:animEffect transition="in" filter="fade">
                                      <p:cBhvr>
                                        <p:cTn id="65" dur="450"/>
                                        <p:tgtEl>
                                          <p:spTgt spid="31"/>
                                        </p:tgtEl>
                                      </p:cBhvr>
                                    </p:animEffect>
                                  </p:childTnLst>
                                </p:cTn>
                              </p:par>
                              <p:par>
                                <p:cTn id="66" presetID="10" presetClass="entr" presetSubtype="0" fill="hold" grpId="0" nodeType="withEffect">
                                  <p:stCondLst>
                                    <p:cond delay="0"/>
                                  </p:stCondLst>
                                  <p:childTnLst>
                                    <p:animEffect transition="in" filter="fade">
                                      <p:cBhvr>
                                        <p:cTn id="67"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9" grpId="0"/>
      <p:bldP spid="12" grpId="0"/>
      <p:bldP spid="14" grpId="0"/>
      <p:bldP spid="15" grpId="0"/>
      <p:bldP spid="13" grpId="0"/>
      <p:bldP spid="16" grpId="0"/>
      <p:bldP spid="18" grpId="0"/>
      <p:bldP spid="19" grpId="0"/>
      <p:bldP spid="17" grpId="0"/>
      <p:bldP spid="20" grpId="0"/>
      <p:bldP spid="22" grpId="0"/>
      <p:bldP spid="23" grpId="0"/>
      <p:bldP spid="21" grpId="0"/>
      <p:bldP spid="24" grpId="0"/>
      <p:bldP spid="26" grpId="0"/>
      <p:bldP spid="27" grpId="0"/>
      <p:bldP spid="25" grpId="0"/>
      <p:bldP spid="28" grpId="0"/>
      <p:bldP spid="30" grpId="0"/>
      <p:bldP spid="31" grpId="0"/>
      <p:bldP spid="29" grpId="0"/>
    </p:bldLst>
  </p:timing>
</p:sld>
</file>

<file path=ppt/slides/slide4.xml><?xml version="1.0" encoding="utf-8"?>
<p:sld xmlns:a="http://schemas.openxmlformats.org/drawingml/2006/main" xmlns:p="http://schemas.openxmlformats.org/presentationml/2006/main" xmlns:r="http://schemas.openxmlformats.org/officeDocument/2006/relationships">
  <p:cSld name="Slide 4">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04  ·  LITERATURE REVIEW</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04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Where Care Pathway fits</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ov"/>
          <p:cNvSpPr/>
          <p:nvPr/>
        </p:nvSpPr>
        <p:spPr>
          <a:xfrm>
            <a:off x="548640" y="1298448"/>
            <a:ext cx="438912" cy="438912"/>
          </a:xfrm>
          <a:prstGeom prst="ellipse">
            <a:avLst/>
          </a:prstGeom>
          <a:solidFill>
            <a:srgbClr val="16324F"/>
          </a:solidFill>
          <a:ln/>
        </p:spPr>
      </p:sp>
      <p:pic>
        <p:nvPicPr>
          <p:cNvPr id="8" name="click_02_ic" descr="preencoded.png">    </p:cNvPr>
          <p:cNvPicPr>
            <a:picLocks noChangeAspect="1"/>
          </p:cNvPicPr>
          <p:nvPr/>
        </p:nvPicPr>
        <p:blipFill>
          <a:blip r:embed="rId1"/>
          <a:stretch>
            <a:fillRect/>
          </a:stretch>
        </p:blipFill>
        <p:spPr>
          <a:xfrm>
            <a:off x="662757" y="1412565"/>
            <a:ext cx="210678" cy="210678"/>
          </a:xfrm>
          <a:prstGeom prst="rect">
            <a:avLst/>
          </a:prstGeom>
        </p:spPr>
      </p:pic>
      <p:sp>
        <p:nvSpPr>
          <p:cNvPr id="9" name="click_02_lead"/>
          <p:cNvSpPr/>
          <p:nvPr/>
        </p:nvSpPr>
        <p:spPr>
          <a:xfrm>
            <a:off x="1133856" y="1261872"/>
            <a:ext cx="10515600" cy="713232"/>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Official Indian sources, public imaging baselines, visual page retrieval, and prompt evolution already exist separately. They have not been scored together on coverage versus ungrounded rate with Indian STW verifier text.</a:t>
            </a:r>
            <a:endParaRPr lang="en-US" sz="1500" dirty="0"/>
          </a:p>
        </p:txBody>
      </p:sp>
      <p:sp>
        <p:nvSpPr>
          <p:cNvPr id="10" name="click_03_bg"/>
          <p:cNvSpPr/>
          <p:nvPr/>
        </p:nvSpPr>
        <p:spPr>
          <a:xfrm>
            <a:off x="548640" y="2121408"/>
            <a:ext cx="2724912" cy="1353312"/>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1" name="click_03_bar"/>
          <p:cNvSpPr/>
          <p:nvPr/>
        </p:nvSpPr>
        <p:spPr>
          <a:xfrm>
            <a:off x="548640" y="2121408"/>
            <a:ext cx="64008" cy="1353312"/>
          </a:xfrm>
          <a:prstGeom prst="rect">
            <a:avLst/>
          </a:prstGeom>
          <a:solidFill>
            <a:srgbClr val="16324F"/>
          </a:solidFill>
          <a:ln/>
        </p:spPr>
      </p:sp>
      <p:sp>
        <p:nvSpPr>
          <p:cNvPr id="12" name="click_03_t"/>
          <p:cNvSpPr/>
          <p:nvPr/>
        </p:nvSpPr>
        <p:spPr>
          <a:xfrm>
            <a:off x="749808" y="2267712"/>
            <a:ext cx="2359152" cy="56692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ICMR STW  157 / 28</a:t>
            </a:r>
            <a:endParaRPr lang="en-US" sz="1400" dirty="0"/>
          </a:p>
        </p:txBody>
      </p:sp>
      <p:sp>
        <p:nvSpPr>
          <p:cNvPr id="13" name="click_03_d"/>
          <p:cNvSpPr/>
          <p:nvPr/>
        </p:nvSpPr>
        <p:spPr>
          <a:xfrm>
            <a:off x="749808" y="2852928"/>
            <a:ext cx="2359152" cy="438912"/>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NMC public notice, 15 Sep 2025</a:t>
            </a:r>
            <a:endParaRPr lang="en-US" sz="1200" dirty="0"/>
          </a:p>
        </p:txBody>
      </p:sp>
      <p:sp>
        <p:nvSpPr>
          <p:cNvPr id="14" name="click_04_bg"/>
          <p:cNvSpPr/>
          <p:nvPr/>
        </p:nvSpPr>
        <p:spPr>
          <a:xfrm>
            <a:off x="3401568" y="2121408"/>
            <a:ext cx="2724912" cy="1353312"/>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5" name="click_04_bar"/>
          <p:cNvSpPr/>
          <p:nvPr/>
        </p:nvSpPr>
        <p:spPr>
          <a:xfrm>
            <a:off x="3401568" y="2121408"/>
            <a:ext cx="64008" cy="1353312"/>
          </a:xfrm>
          <a:prstGeom prst="rect">
            <a:avLst/>
          </a:prstGeom>
          <a:solidFill>
            <a:srgbClr val="16324F"/>
          </a:solidFill>
          <a:ln/>
        </p:spPr>
      </p:sp>
      <p:sp>
        <p:nvSpPr>
          <p:cNvPr id="16" name="click_04_t"/>
          <p:cNvSpPr/>
          <p:nvPr/>
        </p:nvSpPr>
        <p:spPr>
          <a:xfrm>
            <a:off x="3602736" y="2267712"/>
            <a:ext cx="2359152" cy="56692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NLEM 2022  ·  384</a:t>
            </a:r>
            <a:endParaRPr lang="en-US" sz="1400" dirty="0"/>
          </a:p>
        </p:txBody>
      </p:sp>
      <p:sp>
        <p:nvSpPr>
          <p:cNvPr id="17" name="click_04_d"/>
          <p:cNvSpPr/>
          <p:nvPr/>
        </p:nvSpPr>
        <p:spPr>
          <a:xfrm>
            <a:off x="3602736" y="2852928"/>
            <a:ext cx="2359152" cy="438912"/>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Launched 13 Sep 2022  ·  a PDF</a:t>
            </a:r>
            <a:endParaRPr lang="en-US" sz="1200" dirty="0"/>
          </a:p>
        </p:txBody>
      </p:sp>
      <p:sp>
        <p:nvSpPr>
          <p:cNvPr id="18" name="click_05_bg"/>
          <p:cNvSpPr/>
          <p:nvPr/>
        </p:nvSpPr>
        <p:spPr>
          <a:xfrm>
            <a:off x="6254496" y="2121408"/>
            <a:ext cx="2724912" cy="1353312"/>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9" name="click_05_bar"/>
          <p:cNvSpPr/>
          <p:nvPr/>
        </p:nvSpPr>
        <p:spPr>
          <a:xfrm>
            <a:off x="6254496" y="2121408"/>
            <a:ext cx="64008" cy="1353312"/>
          </a:xfrm>
          <a:prstGeom prst="rect">
            <a:avLst/>
          </a:prstGeom>
          <a:solidFill>
            <a:srgbClr val="16324F"/>
          </a:solidFill>
          <a:ln/>
        </p:spPr>
      </p:sp>
      <p:sp>
        <p:nvSpPr>
          <p:cNvPr id="20" name="click_05_t"/>
          <p:cNvSpPr/>
          <p:nvPr/>
        </p:nvSpPr>
        <p:spPr>
          <a:xfrm>
            <a:off x="6455664" y="2267712"/>
            <a:ext cx="2359152" cy="56692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CheXpert  ·  HAM10000</a:t>
            </a:r>
            <a:endParaRPr lang="en-US" sz="1400" dirty="0"/>
          </a:p>
        </p:txBody>
      </p:sp>
      <p:sp>
        <p:nvSpPr>
          <p:cNvPr id="21" name="click_05_d"/>
          <p:cNvSpPr/>
          <p:nvPr/>
        </p:nvSpPr>
        <p:spPr>
          <a:xfrm>
            <a:off x="6455664" y="2852928"/>
            <a:ext cx="2359152" cy="438912"/>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Replicated as frozen tools</a:t>
            </a:r>
            <a:endParaRPr lang="en-US" sz="1200" dirty="0"/>
          </a:p>
        </p:txBody>
      </p:sp>
      <p:sp>
        <p:nvSpPr>
          <p:cNvPr id="22" name="click_06_bg"/>
          <p:cNvSpPr/>
          <p:nvPr/>
        </p:nvSpPr>
        <p:spPr>
          <a:xfrm>
            <a:off x="9107424" y="2121408"/>
            <a:ext cx="2724912" cy="1353312"/>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3" name="click_06_bar"/>
          <p:cNvSpPr/>
          <p:nvPr/>
        </p:nvSpPr>
        <p:spPr>
          <a:xfrm>
            <a:off x="9107424" y="2121408"/>
            <a:ext cx="64008" cy="1353312"/>
          </a:xfrm>
          <a:prstGeom prst="rect">
            <a:avLst/>
          </a:prstGeom>
          <a:solidFill>
            <a:srgbClr val="16324F"/>
          </a:solidFill>
          <a:ln/>
        </p:spPr>
      </p:sp>
      <p:sp>
        <p:nvSpPr>
          <p:cNvPr id="24" name="click_06_t"/>
          <p:cNvSpPr/>
          <p:nvPr/>
        </p:nvSpPr>
        <p:spPr>
          <a:xfrm>
            <a:off x="9308592" y="2267712"/>
            <a:ext cx="2359152" cy="56692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GEPA  ·  ColPali</a:t>
            </a:r>
            <a:endParaRPr lang="en-US" sz="1400" dirty="0"/>
          </a:p>
        </p:txBody>
      </p:sp>
      <p:sp>
        <p:nvSpPr>
          <p:cNvPr id="25" name="click_06_d"/>
          <p:cNvSpPr/>
          <p:nvPr/>
        </p:nvSpPr>
        <p:spPr>
          <a:xfrm>
            <a:off x="9308592" y="2852928"/>
            <a:ext cx="2359152" cy="438912"/>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Prompts offline  ·  page images</a:t>
            </a:r>
            <a:endParaRPr lang="en-US" sz="1200" dirty="0"/>
          </a:p>
        </p:txBody>
      </p:sp>
      <p:sp>
        <p:nvSpPr>
          <p:cNvPr id="26" name="click_07_bg"/>
          <p:cNvSpPr/>
          <p:nvPr/>
        </p:nvSpPr>
        <p:spPr>
          <a:xfrm>
            <a:off x="548640" y="3675888"/>
            <a:ext cx="11091672" cy="178308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7" name="click_07_bar"/>
          <p:cNvSpPr/>
          <p:nvPr/>
        </p:nvSpPr>
        <p:spPr>
          <a:xfrm>
            <a:off x="548640" y="3675888"/>
            <a:ext cx="64008" cy="1783080"/>
          </a:xfrm>
          <a:prstGeom prst="rect">
            <a:avLst/>
          </a:prstGeom>
          <a:solidFill>
            <a:srgbClr val="B8954A"/>
          </a:solidFill>
          <a:ln/>
        </p:spPr>
      </p:sp>
      <p:sp>
        <p:nvSpPr>
          <p:cNvPr id="28" name="click_07_t"/>
          <p:cNvSpPr/>
          <p:nvPr/>
        </p:nvSpPr>
        <p:spPr>
          <a:xfrm>
            <a:off x="841248" y="3803904"/>
            <a:ext cx="10515600" cy="329184"/>
          </a:xfrm>
          <a:prstGeom prst="rect">
            <a:avLst/>
          </a:prstGeom>
          <a:noFill/>
          <a:ln/>
        </p:spPr>
        <p:txBody>
          <a:bodyPr wrap="square" lIns="0" tIns="0" rIns="0" bIns="0" rtlCol="0" anchor="t"/>
          <a:lstStyle/>
          <a:p>
            <a:pPr indent="0" marL="0">
              <a:buNone/>
            </a:pPr>
            <a:r>
              <a:rPr lang="en-US" sz="1600" dirty="0">
                <a:solidFill>
                  <a:srgbClr val="16324F"/>
                </a:solidFill>
                <a:latin typeface="Georgia" pitchFamily="34" charset="0"/>
                <a:ea typeface="Georgia" pitchFamily="34" charset="-122"/>
                <a:cs typeface="Georgia" pitchFamily="34" charset="-120"/>
              </a:rPr>
              <a:t>The gap Care Pathway closes</a:t>
            </a:r>
            <a:endParaRPr lang="en-US" sz="1600" dirty="0"/>
          </a:p>
        </p:txBody>
      </p:sp>
      <p:sp>
        <p:nvSpPr>
          <p:cNvPr id="29" name="click_07_d"/>
          <p:cNvSpPr/>
          <p:nvPr/>
        </p:nvSpPr>
        <p:spPr>
          <a:xfrm>
            <a:off x="841248" y="4151376"/>
            <a:ext cx="10515600" cy="1170432"/>
          </a:xfrm>
          <a:prstGeom prst="rect">
            <a:avLst/>
          </a:prstGeom>
          <a:noFill/>
          <a:ln/>
        </p:spPr>
        <p:txBody>
          <a:bodyPr wrap="square" lIns="0" tIns="0" rIns="0" bIns="0" rtlCol="0" anchor="t"/>
          <a:lstStyle/>
          <a:p>
            <a:pPr indent="0" marL="0">
              <a:buNone/>
            </a:pPr>
            <a:r>
              <a:rPr lang="en-US" sz="1400" dirty="0">
                <a:solidFill>
                  <a:srgbClr val="3F3A36"/>
                </a:solidFill>
                <a:latin typeface="Calibri" pitchFamily="34" charset="0"/>
                <a:ea typeface="Calibri" pitchFamily="34" charset="-122"/>
                <a:cs typeface="Calibri" pitchFamily="34" charset="-120"/>
              </a:rPr>
              <a:t>Imaging papers report AUROC, not invented drugs. Clinical-dialogue systems (including AMIE, Nature vol. 642, Jun 2025) already converse at industrial scale. GEPA (ICLR 2026 oral) evolves prompts on math and code, not Indian STW abstention. Care Pathway wraps frozen specialists as an extensible JSON catalogue, retrieves STW page images, and measures fail-closed answering.</a:t>
            </a:r>
            <a:endParaRPr lang="en-US" sz="1400" dirty="0"/>
          </a:p>
        </p:txBody>
      </p:sp>
    </p:spTree>
  </p:cSld>
  <p:clrMapOvr>
    <a:masterClrMapping/>
  </p:clrMapOvr>
  <p:transition spd="med" advClick="1">
    <p:fade/>
  </p:transition>
  <p:timing>
    <p:tnLst>
      <p:par>
        <p:cTn id="1" dur="indefinite" restart="never" nodeType="tmRoot">
          <p:childTnLst>
            <p:seq concurrent="true" nextAc="seek">
              <p:cTn id="64"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2" fill="hold">
                      <p:stCondLst>
                        <p:cond delay="indefinite"/>
                      </p:stCondLst>
                      <p:childTnLst>
                        <p:par>
                          <p:cTn id="13"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9"/>
                                        </p:tgtEl>
                                      </p:cBhvr>
                                    </p:animEffect>
                                  </p:childTnLst>
                                </p:cTn>
                              </p:par>
                              <p:par>
                                <p:cTn id="10" presetID="10" presetClass="entr" presetSubtype="0" fill="hold" grpId="0" nodeType="withEffect">
                                  <p:stCondLst>
                                    <p:cond delay="0"/>
                                  </p:stCondLst>
                                  <p:childTnLst>
                                    <p:animEffect transition="in" filter="fade">
                                      <p:cBhvr>
                                        <p:cTn id="11" dur="450"/>
                                        <p:tgtEl>
                                          <p:spTgt spid="8"/>
                                        </p:tgtEl>
                                      </p:cBhvr>
                                    </p:animEffect>
                                  </p:childTnLst>
                                </p:cTn>
                              </p:par>
                            </p:childTnLst>
                          </p:cTn>
                        </p:par>
                      </p:childTnLst>
                    </p:cTn>
                  </p:par>
                  <p:par>
                    <p:cTn id="22" fill="hold">
                      <p:stCondLst>
                        <p:cond delay="indefinite"/>
                      </p:stCondLst>
                      <p:childTnLst>
                        <p:par>
                          <p:cTn id="23" fill="hold">
                            <p:stCondLst>
                              <p:cond delay="0"/>
                            </p:stCondLst>
                            <p:childTnLst>
                              <p:par>
                                <p:cTn id="14" presetID="10" presetClass="entr" presetSubtype="0" fill="hold" grpId="0" nodeType="clickEffect">
                                  <p:stCondLst>
                                    <p:cond delay="0"/>
                                  </p:stCondLst>
                                  <p:childTnLst>
                                    <p:animEffect transition="in" filter="fade">
                                      <p:cBhvr>
                                        <p:cTn id="15" dur="450"/>
                                        <p:tgtEl>
                                          <p:spTgt spid="10"/>
                                        </p:tgtEl>
                                      </p:cBhvr>
                                    </p:animEffect>
                                  </p:childTnLst>
                                </p:cTn>
                              </p:par>
                              <p:par>
                                <p:cTn id="16" presetID="10" presetClass="entr" presetSubtype="0" fill="hold" grpId="0" nodeType="with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childTnLst>
                          </p:cTn>
                        </p:par>
                      </p:childTnLst>
                    </p:cTn>
                  </p:par>
                  <p:par>
                    <p:cTn id="32" fill="hold">
                      <p:stCondLst>
                        <p:cond delay="indefinite"/>
                      </p:stCondLst>
                      <p:childTnLst>
                        <p:par>
                          <p:cTn id="33" fill="hold">
                            <p:stCondLst>
                              <p:cond delay="0"/>
                            </p:stCondLst>
                            <p:childTnLst>
                              <p:par>
                                <p:cTn id="24" presetID="10" presetClass="entr" presetSubtype="0" fill="hold" grpId="0" nodeType="clickEffect">
                                  <p:stCondLst>
                                    <p:cond delay="0"/>
                                  </p:stCondLst>
                                  <p:childTnLst>
                                    <p:animEffect transition="in" filter="fade">
                                      <p:cBhvr>
                                        <p:cTn id="25" dur="450"/>
                                        <p:tgtEl>
                                          <p:spTgt spid="14"/>
                                        </p:tgtEl>
                                      </p:cBhvr>
                                    </p:animEffect>
                                  </p:childTnLst>
                                </p:cTn>
                              </p:par>
                              <p:par>
                                <p:cTn id="26" presetID="10" presetClass="entr" presetSubtype="0" fill="hold" grpId="0" nodeType="withEffect">
                                  <p:stCondLst>
                                    <p:cond delay="0"/>
                                  </p:stCondLst>
                                  <p:childTnLst>
                                    <p:animEffect transition="in" filter="fade">
                                      <p:cBhvr>
                                        <p:cTn id="27" dur="450"/>
                                        <p:tgtEl>
                                          <p:spTgt spid="15"/>
                                        </p:tgtEl>
                                      </p:cBhvr>
                                    </p:animEffect>
                                  </p:childTnLst>
                                </p:cTn>
                              </p:par>
                              <p:par>
                                <p:cTn id="28" presetID="10" presetClass="entr" presetSubtype="0" fill="hold" grpId="0" nodeType="withEffect">
                                  <p:stCondLst>
                                    <p:cond delay="0"/>
                                  </p:stCondLst>
                                  <p:childTnLst>
                                    <p:animEffect transition="in" filter="fade">
                                      <p:cBhvr>
                                        <p:cTn id="29" dur="450"/>
                                        <p:tgtEl>
                                          <p:spTgt spid="16"/>
                                        </p:tgtEl>
                                      </p:cBhvr>
                                    </p:animEffect>
                                  </p:childTnLst>
                                </p:cTn>
                              </p:par>
                              <p:par>
                                <p:cTn id="30" presetID="10" presetClass="entr" presetSubtype="0" fill="hold" grpId="0" nodeType="withEffect">
                                  <p:stCondLst>
                                    <p:cond delay="0"/>
                                  </p:stCondLst>
                                  <p:childTnLst>
                                    <p:animEffect transition="in" filter="fade">
                                      <p:cBhvr>
                                        <p:cTn id="31" dur="450"/>
                                        <p:tgtEl>
                                          <p:spTgt spid="17"/>
                                        </p:tgtEl>
                                      </p:cBhvr>
                                    </p:animEffect>
                                  </p:childTnLst>
                                </p:cTn>
                              </p:par>
                            </p:childTnLst>
                          </p:cTn>
                        </p:par>
                      </p:childTnLst>
                    </p:cTn>
                  </p:par>
                  <p:par>
                    <p:cTn id="42" fill="hold">
                      <p:stCondLst>
                        <p:cond delay="indefinite"/>
                      </p:stCondLst>
                      <p:childTnLst>
                        <p:par>
                          <p:cTn id="43" fill="hold">
                            <p:stCondLst>
                              <p:cond delay="0"/>
                            </p:stCondLst>
                            <p:childTnLst>
                              <p:par>
                                <p:cTn id="34" presetID="10" presetClass="entr" presetSubtype="0" fill="hold" grpId="0" nodeType="clickEffect">
                                  <p:stCondLst>
                                    <p:cond delay="0"/>
                                  </p:stCondLst>
                                  <p:childTnLst>
                                    <p:animEffect transition="in" filter="fade">
                                      <p:cBhvr>
                                        <p:cTn id="35" dur="450"/>
                                        <p:tgtEl>
                                          <p:spTgt spid="18"/>
                                        </p:tgtEl>
                                      </p:cBhvr>
                                    </p:animEffect>
                                  </p:childTnLst>
                                </p:cTn>
                              </p:par>
                              <p:par>
                                <p:cTn id="36" presetID="10" presetClass="entr" presetSubtype="0" fill="hold" grpId="0" nodeType="withEffect">
                                  <p:stCondLst>
                                    <p:cond delay="0"/>
                                  </p:stCondLst>
                                  <p:childTnLst>
                                    <p:animEffect transition="in" filter="fade">
                                      <p:cBhvr>
                                        <p:cTn id="37" dur="450"/>
                                        <p:tgtEl>
                                          <p:spTgt spid="19"/>
                                        </p:tgtEl>
                                      </p:cBhvr>
                                    </p:animEffect>
                                  </p:childTnLst>
                                </p:cTn>
                              </p:par>
                              <p:par>
                                <p:cTn id="38" presetID="10" presetClass="entr" presetSubtype="0" fill="hold" grpId="0" nodeType="withEffect">
                                  <p:stCondLst>
                                    <p:cond delay="0"/>
                                  </p:stCondLst>
                                  <p:childTnLst>
                                    <p:animEffect transition="in" filter="fade">
                                      <p:cBhvr>
                                        <p:cTn id="39" dur="450"/>
                                        <p:tgtEl>
                                          <p:spTgt spid="20"/>
                                        </p:tgtEl>
                                      </p:cBhvr>
                                    </p:animEffect>
                                  </p:childTnLst>
                                </p:cTn>
                              </p:par>
                              <p:par>
                                <p:cTn id="40" presetID="10" presetClass="entr" presetSubtype="0" fill="hold" grpId="0" nodeType="withEffect">
                                  <p:stCondLst>
                                    <p:cond delay="0"/>
                                  </p:stCondLst>
                                  <p:childTnLst>
                                    <p:animEffect transition="in" filter="fade">
                                      <p:cBhvr>
                                        <p:cTn id="41" dur="450"/>
                                        <p:tgtEl>
                                          <p:spTgt spid="21"/>
                                        </p:tgtEl>
                                      </p:cBhvr>
                                    </p:animEffect>
                                  </p:childTnLst>
                                </p:cTn>
                              </p:par>
                            </p:childTnLst>
                          </p:cTn>
                        </p:par>
                      </p:childTnLst>
                    </p:cTn>
                  </p:par>
                  <p:par>
                    <p:cTn id="52" fill="hold">
                      <p:stCondLst>
                        <p:cond delay="indefinite"/>
                      </p:stCondLst>
                      <p:childTnLst>
                        <p:par>
                          <p:cTn id="53" fill="hold">
                            <p:stCondLst>
                              <p:cond delay="0"/>
                            </p:stCondLst>
                            <p:childTnLst>
                              <p:par>
                                <p:cTn id="44" presetID="10" presetClass="entr" presetSubtype="0" fill="hold" grpId="0" nodeType="clickEffect">
                                  <p:stCondLst>
                                    <p:cond delay="0"/>
                                  </p:stCondLst>
                                  <p:childTnLst>
                                    <p:animEffect transition="in" filter="fade">
                                      <p:cBhvr>
                                        <p:cTn id="45" dur="450"/>
                                        <p:tgtEl>
                                          <p:spTgt spid="22"/>
                                        </p:tgtEl>
                                      </p:cBhvr>
                                    </p:animEffect>
                                  </p:childTnLst>
                                </p:cTn>
                              </p:par>
                              <p:par>
                                <p:cTn id="46" presetID="10" presetClass="entr" presetSubtype="0" fill="hold" grpId="0" nodeType="withEffect">
                                  <p:stCondLst>
                                    <p:cond delay="0"/>
                                  </p:stCondLst>
                                  <p:childTnLst>
                                    <p:animEffect transition="in" filter="fade">
                                      <p:cBhvr>
                                        <p:cTn id="47" dur="450"/>
                                        <p:tgtEl>
                                          <p:spTgt spid="23"/>
                                        </p:tgtEl>
                                      </p:cBhvr>
                                    </p:animEffect>
                                  </p:childTnLst>
                                </p:cTn>
                              </p:par>
                              <p:par>
                                <p:cTn id="48" presetID="10" presetClass="entr" presetSubtype="0" fill="hold" grpId="0" nodeType="withEffect">
                                  <p:stCondLst>
                                    <p:cond delay="0"/>
                                  </p:stCondLst>
                                  <p:childTnLst>
                                    <p:animEffect transition="in" filter="fade">
                                      <p:cBhvr>
                                        <p:cTn id="49" dur="450"/>
                                        <p:tgtEl>
                                          <p:spTgt spid="24"/>
                                        </p:tgtEl>
                                      </p:cBhvr>
                                    </p:animEffect>
                                  </p:childTnLst>
                                </p:cTn>
                              </p:par>
                              <p:par>
                                <p:cTn id="50" presetID="10" presetClass="entr" presetSubtype="0" fill="hold" grpId="0" nodeType="withEffect">
                                  <p:stCondLst>
                                    <p:cond delay="0"/>
                                  </p:stCondLst>
                                  <p:childTnLst>
                                    <p:animEffect transition="in" filter="fade">
                                      <p:cBhvr>
                                        <p:cTn id="51" dur="450"/>
                                        <p:tgtEl>
                                          <p:spTgt spid="25"/>
                                        </p:tgtEl>
                                      </p:cBhvr>
                                    </p:animEffect>
                                  </p:childTnLst>
                                </p:cTn>
                              </p:par>
                            </p:childTnLst>
                          </p:cTn>
                        </p:par>
                      </p:childTnLst>
                    </p:cTn>
                  </p:par>
                  <p:par>
                    <p:cTn id="62" fill="hold">
                      <p:stCondLst>
                        <p:cond delay="indefinite"/>
                      </p:stCondLst>
                      <p:childTnLst>
                        <p:par>
                          <p:cTn id="63" fill="hold">
                            <p:stCondLst>
                              <p:cond delay="0"/>
                            </p:stCondLst>
                            <p:childTnLst>
                              <p:par>
                                <p:cTn id="54" presetID="10" presetClass="entr" presetSubtype="0" fill="hold" grpId="0" nodeType="clickEffect">
                                  <p:stCondLst>
                                    <p:cond delay="0"/>
                                  </p:stCondLst>
                                  <p:childTnLst>
                                    <p:animEffect transition="in" filter="fade">
                                      <p:cBhvr>
                                        <p:cTn id="55" dur="450"/>
                                        <p:tgtEl>
                                          <p:spTgt spid="26"/>
                                        </p:tgtEl>
                                      </p:cBhvr>
                                    </p:animEffect>
                                  </p:childTnLst>
                                </p:cTn>
                              </p:par>
                              <p:par>
                                <p:cTn id="56" presetID="10" presetClass="entr" presetSubtype="0" fill="hold" grpId="0" nodeType="withEffect">
                                  <p:stCondLst>
                                    <p:cond delay="0"/>
                                  </p:stCondLst>
                                  <p:childTnLst>
                                    <p:animEffect transition="in" filter="fade">
                                      <p:cBhvr>
                                        <p:cTn id="57" dur="450"/>
                                        <p:tgtEl>
                                          <p:spTgt spid="27"/>
                                        </p:tgtEl>
                                      </p:cBhvr>
                                    </p:animEffect>
                                  </p:childTnLst>
                                </p:cTn>
                              </p:par>
                              <p:par>
                                <p:cTn id="58" presetID="10" presetClass="entr" presetSubtype="0" fill="hold" grpId="0" nodeType="withEffect">
                                  <p:stCondLst>
                                    <p:cond delay="0"/>
                                  </p:stCondLst>
                                  <p:childTnLst>
                                    <p:animEffect transition="in" filter="fade">
                                      <p:cBhvr>
                                        <p:cTn id="59" dur="450"/>
                                        <p:tgtEl>
                                          <p:spTgt spid="28"/>
                                        </p:tgtEl>
                                      </p:cBhvr>
                                    </p:animEffect>
                                  </p:childTnLst>
                                </p:cTn>
                              </p:par>
                              <p:par>
                                <p:cTn id="60" presetID="10" presetClass="entr" presetSubtype="0" fill="hold" grpId="0" nodeType="withEffect">
                                  <p:stCondLst>
                                    <p:cond delay="0"/>
                                  </p:stCondLst>
                                  <p:childTnLst>
                                    <p:animEffect transition="in" filter="fade">
                                      <p:cBhvr>
                                        <p:cTn id="61"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8"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5.xml><?xml version="1.0" encoding="utf-8"?>
<p:sld xmlns:a="http://schemas.openxmlformats.org/drawingml/2006/main" xmlns:p="http://schemas.openxmlformats.org/presentationml/2006/main" xmlns:r="http://schemas.openxmlformats.org/officeDocument/2006/relationships">
  <p:cSld name="Slide 5">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05  ·  PROBLEM STATEMENT &amp; OBJECTIVES</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05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Problem statement &amp; objectives</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bg"/>
          <p:cNvSpPr/>
          <p:nvPr/>
        </p:nvSpPr>
        <p:spPr>
          <a:xfrm>
            <a:off x="548640" y="1280160"/>
            <a:ext cx="4114800" cy="495604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8" name="click_02_bar"/>
          <p:cNvSpPr/>
          <p:nvPr/>
        </p:nvSpPr>
        <p:spPr>
          <a:xfrm>
            <a:off x="548640" y="1280160"/>
            <a:ext cx="64008" cy="4956048"/>
          </a:xfrm>
          <a:prstGeom prst="rect">
            <a:avLst/>
          </a:prstGeom>
          <a:solidFill>
            <a:srgbClr val="B8954A"/>
          </a:solidFill>
          <a:ln/>
        </p:spPr>
      </p:sp>
      <p:sp>
        <p:nvSpPr>
          <p:cNvPr id="9" name="click_02_ov"/>
          <p:cNvSpPr/>
          <p:nvPr/>
        </p:nvSpPr>
        <p:spPr>
          <a:xfrm>
            <a:off x="804672" y="1444752"/>
            <a:ext cx="530352" cy="530352"/>
          </a:xfrm>
          <a:prstGeom prst="ellipse">
            <a:avLst/>
          </a:prstGeom>
          <a:solidFill>
            <a:srgbClr val="B8954A"/>
          </a:solidFill>
          <a:ln/>
        </p:spPr>
      </p:sp>
      <p:pic>
        <p:nvPicPr>
          <p:cNvPr id="10" name="click_02_ic" descr="preencoded.png">    </p:cNvPr>
          <p:cNvPicPr>
            <a:picLocks noChangeAspect="1"/>
          </p:cNvPicPr>
          <p:nvPr/>
        </p:nvPicPr>
        <p:blipFill>
          <a:blip r:embed="rId1"/>
          <a:stretch>
            <a:fillRect/>
          </a:stretch>
        </p:blipFill>
        <p:spPr>
          <a:xfrm>
            <a:off x="942564" y="1582644"/>
            <a:ext cx="254569" cy="254569"/>
          </a:xfrm>
          <a:prstGeom prst="rect">
            <a:avLst/>
          </a:prstGeom>
        </p:spPr>
      </p:pic>
      <p:sp>
        <p:nvSpPr>
          <p:cNvPr id="11" name="click_02_t"/>
          <p:cNvSpPr/>
          <p:nvPr/>
        </p:nvSpPr>
        <p:spPr>
          <a:xfrm>
            <a:off x="1481328" y="1481328"/>
            <a:ext cx="2926080" cy="45720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Problem statement</a:t>
            </a:r>
            <a:endParaRPr lang="en-US" sz="1600" dirty="0"/>
          </a:p>
        </p:txBody>
      </p:sp>
      <p:sp>
        <p:nvSpPr>
          <p:cNvPr id="12" name="click_02_d1"/>
          <p:cNvSpPr/>
          <p:nvPr/>
        </p:nvSpPr>
        <p:spPr>
          <a:xfrm>
            <a:off x="804672" y="2121408"/>
            <a:ext cx="3611880" cy="1554480"/>
          </a:xfrm>
          <a:prstGeom prst="rect">
            <a:avLst/>
          </a:prstGeom>
          <a:noFill/>
          <a:ln/>
        </p:spPr>
        <p:txBody>
          <a:bodyPr wrap="square" lIns="0" tIns="0" rIns="0" bIns="0" rtlCol="0" anchor="t"/>
          <a:lstStyle/>
          <a:p>
            <a:pPr indent="0" marL="0">
              <a:buNone/>
            </a:pPr>
            <a:r>
              <a:rPr lang="en-US" sz="1400" dirty="0">
                <a:solidFill>
                  <a:srgbClr val="3F3A36"/>
                </a:solidFill>
                <a:latin typeface="Calibri" pitchFamily="34" charset="0"/>
                <a:ea typeface="Calibri" pitchFamily="34" charset="-122"/>
                <a:cs typeface="Calibri" pitchFamily="34" charset="-120"/>
              </a:rPr>
              <a:t>Convolutional baselines for CXR and skin exist on public sets, and large models can hold a health chat. Those pieces are not a grounded Indian answering system.</a:t>
            </a:r>
            <a:endParaRPr lang="en-US" sz="1400" dirty="0"/>
          </a:p>
        </p:txBody>
      </p:sp>
      <p:sp>
        <p:nvSpPr>
          <p:cNvPr id="13" name="click_02_ln"/>
          <p:cNvSpPr/>
          <p:nvPr/>
        </p:nvSpPr>
        <p:spPr>
          <a:xfrm>
            <a:off x="804672" y="3767328"/>
            <a:ext cx="3611880" cy="10973"/>
          </a:xfrm>
          <a:prstGeom prst="rect">
            <a:avLst/>
          </a:prstGeom>
          <a:solidFill>
            <a:srgbClr val="D9D2C5"/>
          </a:solidFill>
          <a:ln/>
        </p:spPr>
      </p:sp>
      <p:sp>
        <p:nvSpPr>
          <p:cNvPr id="14" name="click_02_d2"/>
          <p:cNvSpPr/>
          <p:nvPr/>
        </p:nvSpPr>
        <p:spPr>
          <a:xfrm>
            <a:off x="804672" y="3913632"/>
            <a:ext cx="3611880" cy="2148840"/>
          </a:xfrm>
          <a:prstGeom prst="rect">
            <a:avLst/>
          </a:prstGeom>
          <a:noFill/>
          <a:ln/>
        </p:spPr>
        <p:txBody>
          <a:bodyPr wrap="square" lIns="0" tIns="0" rIns="0" bIns="0" rtlCol="0" anchor="t"/>
          <a:lstStyle/>
          <a:p>
            <a:pPr indent="0" marL="0">
              <a:buNone/>
            </a:pPr>
            <a:r>
              <a:rPr lang="en-US" sz="1400" dirty="0">
                <a:solidFill>
                  <a:srgbClr val="3F3A36"/>
                </a:solidFill>
                <a:latin typeface="Calibri" pitchFamily="34" charset="0"/>
                <a:ea typeface="Calibri" pitchFamily="34" charset="-122"/>
                <a:cs typeface="Calibri" pitchFamily="34" charset="-120"/>
              </a:rPr>
              <a:t>Need: replicate specialists as frozen JSON tools, then test whether a local LLM that may only call them and pass a fail-closed verifier can raise coverage at a controlled ungrounded rate — without claiming diagnostic performance.</a:t>
            </a:r>
            <a:endParaRPr lang="en-US" sz="1400" dirty="0"/>
          </a:p>
        </p:txBody>
      </p:sp>
      <p:sp>
        <p:nvSpPr>
          <p:cNvPr id="15" name="click_03_bg"/>
          <p:cNvSpPr/>
          <p:nvPr/>
        </p:nvSpPr>
        <p:spPr>
          <a:xfrm>
            <a:off x="4864608" y="1280160"/>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6" name="click_03_ov"/>
          <p:cNvSpPr/>
          <p:nvPr/>
        </p:nvSpPr>
        <p:spPr>
          <a:xfrm>
            <a:off x="4992624" y="1380744"/>
            <a:ext cx="347472" cy="347472"/>
          </a:xfrm>
          <a:prstGeom prst="ellipse">
            <a:avLst/>
          </a:prstGeom>
          <a:solidFill>
            <a:srgbClr val="B8954A"/>
          </a:solidFill>
          <a:ln/>
        </p:spPr>
      </p:sp>
      <p:sp>
        <p:nvSpPr>
          <p:cNvPr id="17" name="click_03_ovt"/>
          <p:cNvSpPr/>
          <p:nvPr/>
        </p:nvSpPr>
        <p:spPr>
          <a:xfrm>
            <a:off x="4992624" y="1380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click_03_t"/>
          <p:cNvSpPr/>
          <p:nvPr/>
        </p:nvSpPr>
        <p:spPr>
          <a:xfrm>
            <a:off x="5486400" y="1280160"/>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Treat ICMR STW, NLEM 2022, and CDSCO NSQ as retrieval, not generated prose</a:t>
            </a:r>
            <a:endParaRPr lang="en-US" sz="1300" dirty="0"/>
          </a:p>
        </p:txBody>
      </p:sp>
      <p:sp>
        <p:nvSpPr>
          <p:cNvPr id="19" name="click_04_bg"/>
          <p:cNvSpPr/>
          <p:nvPr/>
        </p:nvSpPr>
        <p:spPr>
          <a:xfrm>
            <a:off x="4864608" y="1901952"/>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0" name="click_04_ov"/>
          <p:cNvSpPr/>
          <p:nvPr/>
        </p:nvSpPr>
        <p:spPr>
          <a:xfrm>
            <a:off x="4992624" y="2002536"/>
            <a:ext cx="347472" cy="347472"/>
          </a:xfrm>
          <a:prstGeom prst="ellipse">
            <a:avLst/>
          </a:prstGeom>
          <a:solidFill>
            <a:srgbClr val="B8954A"/>
          </a:solidFill>
          <a:ln/>
        </p:spPr>
      </p:sp>
      <p:sp>
        <p:nvSpPr>
          <p:cNvPr id="21" name="click_04_ovt"/>
          <p:cNvSpPr/>
          <p:nvPr/>
        </p:nvSpPr>
        <p:spPr>
          <a:xfrm>
            <a:off x="4992624" y="2002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click_04_t"/>
          <p:cNvSpPr/>
          <p:nvPr/>
        </p:nvSpPr>
        <p:spPr>
          <a:xfrm>
            <a:off x="5486400" y="1901952"/>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Specify an extensible JSON tool-calling interface the LLM may emit</a:t>
            </a:r>
            <a:endParaRPr lang="en-US" sz="1300" dirty="0"/>
          </a:p>
        </p:txBody>
      </p:sp>
      <p:sp>
        <p:nvSpPr>
          <p:cNvPr id="23" name="click_05_bg"/>
          <p:cNvSpPr/>
          <p:nvPr/>
        </p:nvSpPr>
        <p:spPr>
          <a:xfrm>
            <a:off x="4864608" y="2523744"/>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4" name="click_05_ov"/>
          <p:cNvSpPr/>
          <p:nvPr/>
        </p:nvSpPr>
        <p:spPr>
          <a:xfrm>
            <a:off x="4992624" y="2624328"/>
            <a:ext cx="347472" cy="347472"/>
          </a:xfrm>
          <a:prstGeom prst="ellipse">
            <a:avLst/>
          </a:prstGeom>
          <a:solidFill>
            <a:srgbClr val="B8954A"/>
          </a:solidFill>
          <a:ln/>
        </p:spPr>
      </p:sp>
      <p:sp>
        <p:nvSpPr>
          <p:cNvPr id="25" name="click_05_ovt"/>
          <p:cNvSpPr/>
          <p:nvPr/>
        </p:nvSpPr>
        <p:spPr>
          <a:xfrm>
            <a:off x="4992624" y="26243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click_05_t"/>
          <p:cNvSpPr/>
          <p:nvPr/>
        </p:nvSpPr>
        <p:spPr>
          <a:xfrm>
            <a:off x="5486400" y="2523744"/>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Replicate a CheXpert CXR baseline and freeze it as cxr_tool</a:t>
            </a:r>
            <a:endParaRPr lang="en-US" sz="1300" dirty="0"/>
          </a:p>
        </p:txBody>
      </p:sp>
      <p:sp>
        <p:nvSpPr>
          <p:cNvPr id="27" name="click_06_bg"/>
          <p:cNvSpPr/>
          <p:nvPr/>
        </p:nvSpPr>
        <p:spPr>
          <a:xfrm>
            <a:off x="4864608" y="3145536"/>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8" name="click_06_ov"/>
          <p:cNvSpPr/>
          <p:nvPr/>
        </p:nvSpPr>
        <p:spPr>
          <a:xfrm>
            <a:off x="4992624" y="3246120"/>
            <a:ext cx="347472" cy="347472"/>
          </a:xfrm>
          <a:prstGeom prst="ellipse">
            <a:avLst/>
          </a:prstGeom>
          <a:solidFill>
            <a:srgbClr val="B8954A"/>
          </a:solidFill>
          <a:ln/>
        </p:spPr>
      </p:sp>
      <p:sp>
        <p:nvSpPr>
          <p:cNvPr id="29" name="click_06_ovt"/>
          <p:cNvSpPr/>
          <p:nvPr/>
        </p:nvSpPr>
        <p:spPr>
          <a:xfrm>
            <a:off x="4992624" y="32461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click_06_t"/>
          <p:cNvSpPr/>
          <p:nvPr/>
        </p:nvSpPr>
        <p:spPr>
          <a:xfrm>
            <a:off x="5486400" y="3145536"/>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Replicate HAM10000 / ISIC skin as skin_tool (lesion-id splits)</a:t>
            </a:r>
            <a:endParaRPr lang="en-US" sz="1300" dirty="0"/>
          </a:p>
        </p:txBody>
      </p:sp>
      <p:sp>
        <p:nvSpPr>
          <p:cNvPr id="31" name="click_07_bg"/>
          <p:cNvSpPr/>
          <p:nvPr/>
        </p:nvSpPr>
        <p:spPr>
          <a:xfrm>
            <a:off x="4864608" y="3767328"/>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32" name="click_07_ov"/>
          <p:cNvSpPr/>
          <p:nvPr/>
        </p:nvSpPr>
        <p:spPr>
          <a:xfrm>
            <a:off x="4992624" y="3867912"/>
            <a:ext cx="347472" cy="347472"/>
          </a:xfrm>
          <a:prstGeom prst="ellipse">
            <a:avLst/>
          </a:prstGeom>
          <a:solidFill>
            <a:srgbClr val="B8954A"/>
          </a:solidFill>
          <a:ln/>
        </p:spPr>
      </p:sp>
      <p:sp>
        <p:nvSpPr>
          <p:cNvPr id="33" name="click_07_ovt"/>
          <p:cNvSpPr/>
          <p:nvPr/>
        </p:nvSpPr>
        <p:spPr>
          <a:xfrm>
            <a:off x="4992624" y="3867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click_07_t"/>
          <p:cNvSpPr/>
          <p:nvPr/>
        </p:nvSpPr>
        <p:spPr>
          <a:xfrm>
            <a:off x="5486400" y="3767328"/>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Implement document OCR/KIE plus NLEM and CDSCO lookups</a:t>
            </a:r>
            <a:endParaRPr lang="en-US" sz="1300" dirty="0"/>
          </a:p>
        </p:txBody>
      </p:sp>
      <p:sp>
        <p:nvSpPr>
          <p:cNvPr id="35" name="click_08_bg"/>
          <p:cNvSpPr/>
          <p:nvPr/>
        </p:nvSpPr>
        <p:spPr>
          <a:xfrm>
            <a:off x="4864608" y="4389120"/>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36" name="click_08_ov"/>
          <p:cNvSpPr/>
          <p:nvPr/>
        </p:nvSpPr>
        <p:spPr>
          <a:xfrm>
            <a:off x="4992624" y="4489704"/>
            <a:ext cx="347472" cy="347472"/>
          </a:xfrm>
          <a:prstGeom prst="ellipse">
            <a:avLst/>
          </a:prstGeom>
          <a:solidFill>
            <a:srgbClr val="B8954A"/>
          </a:solidFill>
          <a:ln/>
        </p:spPr>
      </p:sp>
      <p:sp>
        <p:nvSpPr>
          <p:cNvPr id="37" name="click_08_ovt"/>
          <p:cNvSpPr/>
          <p:nvPr/>
        </p:nvSpPr>
        <p:spPr>
          <a:xfrm>
            <a:off x="4992624" y="44897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8" name="click_08_t"/>
          <p:cNvSpPr/>
          <p:nvPr/>
        </p:nvSpPr>
        <p:spPr>
          <a:xfrm>
            <a:off x="5486400" y="4389120"/>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Retrieve STW page images (ColPali-class) and label box IDs used</a:t>
            </a:r>
            <a:endParaRPr lang="en-US" sz="1300" dirty="0"/>
          </a:p>
        </p:txBody>
      </p:sp>
      <p:sp>
        <p:nvSpPr>
          <p:cNvPr id="39" name="click_09_bg"/>
          <p:cNvSpPr/>
          <p:nvPr/>
        </p:nvSpPr>
        <p:spPr>
          <a:xfrm>
            <a:off x="4864608" y="5010912"/>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40" name="click_09_ov"/>
          <p:cNvSpPr/>
          <p:nvPr/>
        </p:nvSpPr>
        <p:spPr>
          <a:xfrm>
            <a:off x="4992624" y="5111496"/>
            <a:ext cx="347472" cy="347472"/>
          </a:xfrm>
          <a:prstGeom prst="ellipse">
            <a:avLst/>
          </a:prstGeom>
          <a:solidFill>
            <a:srgbClr val="B8954A"/>
          </a:solidFill>
          <a:ln/>
        </p:spPr>
      </p:sp>
      <p:sp>
        <p:nvSpPr>
          <p:cNvPr id="41" name="click_09_ovt"/>
          <p:cNvSpPr/>
          <p:nvPr/>
        </p:nvSpPr>
        <p:spPr>
          <a:xfrm>
            <a:off x="4992624" y="5111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2" name="click_09_t"/>
          <p:cNvSpPr/>
          <p:nvPr/>
        </p:nvSpPr>
        <p:spPr>
          <a:xfrm>
            <a:off x="5486400" y="5010912"/>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Build a gold set with Hinglish, near-miss refusals, and ICL refuse demos</a:t>
            </a:r>
            <a:endParaRPr lang="en-US" sz="1300" dirty="0"/>
          </a:p>
        </p:txBody>
      </p:sp>
      <p:sp>
        <p:nvSpPr>
          <p:cNvPr id="43" name="click_10_bg"/>
          <p:cNvSpPr/>
          <p:nvPr/>
        </p:nvSpPr>
        <p:spPr>
          <a:xfrm>
            <a:off x="4864608" y="5632704"/>
            <a:ext cx="6775704" cy="54864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44" name="click_10_ov"/>
          <p:cNvSpPr/>
          <p:nvPr/>
        </p:nvSpPr>
        <p:spPr>
          <a:xfrm>
            <a:off x="4992624" y="5733288"/>
            <a:ext cx="347472" cy="347472"/>
          </a:xfrm>
          <a:prstGeom prst="ellipse">
            <a:avLst/>
          </a:prstGeom>
          <a:solidFill>
            <a:srgbClr val="B8954A"/>
          </a:solidFill>
          <a:ln/>
        </p:spPr>
      </p:sp>
      <p:sp>
        <p:nvSpPr>
          <p:cNvPr id="45" name="click_10_ovt"/>
          <p:cNvSpPr/>
          <p:nvPr/>
        </p:nvSpPr>
        <p:spPr>
          <a:xfrm>
            <a:off x="4992624" y="57332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6" name="click_10_t"/>
          <p:cNvSpPr/>
          <p:nvPr/>
        </p:nvSpPr>
        <p:spPr>
          <a:xfrm>
            <a:off x="5486400" y="5632704"/>
            <a:ext cx="5989320" cy="54864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Evolve prompts with GEPA offline; freeze; watermarked chat card</a:t>
            </a:r>
            <a:endParaRPr lang="en-US" sz="1300" dirty="0"/>
          </a:p>
        </p:txBody>
      </p:sp>
    </p:spTree>
  </p:cSld>
  <p:clrMapOvr>
    <a:masterClrMapping/>
  </p:clrMapOvr>
  <p:transition spd="med" advClick="1">
    <p:fade/>
  </p:transition>
  <p:timing>
    <p:tnLst>
      <p:par>
        <p:cTn id="1" dur="indefinite" restart="never" nodeType="tmRoot">
          <p:childTnLst>
            <p:seq concurrent="true" nextAc="seek">
              <p:cTn id="104"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22" fill="hold">
                      <p:stCondLst>
                        <p:cond delay="indefinite"/>
                      </p:stCondLst>
                      <p:childTnLst>
                        <p:par>
                          <p:cTn id="23"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1"/>
                                        </p:tgtEl>
                                      </p:cBhvr>
                                    </p:animEffect>
                                  </p:childTnLst>
                                </p:cTn>
                              </p:par>
                              <p:par>
                                <p:cTn id="14" presetID="10" presetClass="entr" presetSubtype="0" fill="hold" grpId="0" nodeType="withEffect">
                                  <p:stCondLst>
                                    <p:cond delay="0"/>
                                  </p:stCondLst>
                                  <p:childTnLst>
                                    <p:animEffect transition="in" filter="fade">
                                      <p:cBhvr>
                                        <p:cTn id="15" dur="450"/>
                                        <p:tgtEl>
                                          <p:spTgt spid="12"/>
                                        </p:tgtEl>
                                      </p:cBhvr>
                                    </p:animEffect>
                                  </p:childTnLst>
                                </p:cTn>
                              </p:par>
                              <p:par>
                                <p:cTn id="16" presetID="10" presetClass="entr" presetSubtype="0" fill="hold" grpId="0" nodeType="withEffect">
                                  <p:stCondLst>
                                    <p:cond delay="0"/>
                                  </p:stCondLst>
                                  <p:childTnLst>
                                    <p:animEffect transition="in" filter="fade">
                                      <p:cBhvr>
                                        <p:cTn id="17" dur="450"/>
                                        <p:tgtEl>
                                          <p:spTgt spid="13"/>
                                        </p:tgtEl>
                                      </p:cBhvr>
                                    </p:animEffect>
                                  </p:childTnLst>
                                </p:cTn>
                              </p:par>
                              <p:par>
                                <p:cTn id="18" presetID="10" presetClass="entr" presetSubtype="0" fill="hold" grpId="0" nodeType="withEffect">
                                  <p:stCondLst>
                                    <p:cond delay="0"/>
                                  </p:stCondLst>
                                  <p:childTnLst>
                                    <p:animEffect transition="in" filter="fade">
                                      <p:cBhvr>
                                        <p:cTn id="19" dur="450"/>
                                        <p:tgtEl>
                                          <p:spTgt spid="14"/>
                                        </p:tgtEl>
                                      </p:cBhvr>
                                    </p:animEffect>
                                  </p:childTnLst>
                                </p:cTn>
                              </p:par>
                              <p:par>
                                <p:cTn id="20" presetID="10" presetClass="entr" presetSubtype="0" fill="hold" grpId="0" nodeType="withEffect">
                                  <p:stCondLst>
                                    <p:cond delay="0"/>
                                  </p:stCondLst>
                                  <p:childTnLst>
                                    <p:animEffect transition="in" filter="fade">
                                      <p:cBhvr>
                                        <p:cTn id="21" dur="450"/>
                                        <p:tgtEl>
                                          <p:spTgt spid="10"/>
                                        </p:tgtEl>
                                      </p:cBhvr>
                                    </p:animEffect>
                                  </p:childTnLst>
                                </p:cTn>
                              </p:par>
                            </p:childTnLst>
                          </p:cTn>
                        </p:par>
                      </p:childTnLst>
                    </p:cTn>
                  </p:par>
                  <p:par>
                    <p:cTn id="32" fill="hold">
                      <p:stCondLst>
                        <p:cond delay="indefinite"/>
                      </p:stCondLst>
                      <p:childTnLst>
                        <p:par>
                          <p:cTn id="33" fill="hold">
                            <p:stCondLst>
                              <p:cond delay="0"/>
                            </p:stCondLst>
                            <p:childTnLst>
                              <p:par>
                                <p:cTn id="24" presetID="10" presetClass="entr" presetSubtype="0" fill="hold" grpId="0" nodeType="click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6"/>
                                        </p:tgtEl>
                                      </p:cBhvr>
                                    </p:animEffect>
                                  </p:childTnLst>
                                </p:cTn>
                              </p:par>
                              <p:par>
                                <p:cTn id="28" presetID="10" presetClass="entr" presetSubtype="0" fill="hold" grpId="0" nodeType="withEffect">
                                  <p:stCondLst>
                                    <p:cond delay="0"/>
                                  </p:stCondLst>
                                  <p:childTnLst>
                                    <p:animEffect transition="in" filter="fade">
                                      <p:cBhvr>
                                        <p:cTn id="29" dur="450"/>
                                        <p:tgtEl>
                                          <p:spTgt spid="17"/>
                                        </p:tgtEl>
                                      </p:cBhvr>
                                    </p:animEffect>
                                  </p:childTnLst>
                                </p:cTn>
                              </p:par>
                              <p:par>
                                <p:cTn id="30" presetID="10" presetClass="entr" presetSubtype="0" fill="hold" grpId="0" nodeType="withEffect">
                                  <p:stCondLst>
                                    <p:cond delay="0"/>
                                  </p:stCondLst>
                                  <p:childTnLst>
                                    <p:animEffect transition="in" filter="fade">
                                      <p:cBhvr>
                                        <p:cTn id="3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34" presetID="10" presetClass="entr" presetSubtype="0" fill="hold" grpId="0" nodeType="click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par>
                                <p:cTn id="40" presetID="10" presetClass="entr" presetSubtype="0" fill="hold" grpId="0" nodeType="withEffect">
                                  <p:stCondLst>
                                    <p:cond delay="0"/>
                                  </p:stCondLst>
                                  <p:childTnLst>
                                    <p:animEffect transition="in" filter="fade">
                                      <p:cBhvr>
                                        <p:cTn id="41" dur="450"/>
                                        <p:tgtEl>
                                          <p:spTgt spid="22"/>
                                        </p:tgtEl>
                                      </p:cBhvr>
                                    </p:animEffect>
                                  </p:childTnLst>
                                </p:cTn>
                              </p:par>
                            </p:childTnLst>
                          </p:cTn>
                        </p:par>
                      </p:childTnLst>
                    </p:cTn>
                  </p:par>
                  <p:par>
                    <p:cTn id="52" fill="hold">
                      <p:stCondLst>
                        <p:cond delay="indefinite"/>
                      </p:stCondLst>
                      <p:childTnLst>
                        <p:par>
                          <p:cTn id="53" fill="hold">
                            <p:stCondLst>
                              <p:cond delay="0"/>
                            </p:stCondLst>
                            <p:childTnLst>
                              <p:par>
                                <p:cTn id="44" presetID="10" presetClass="entr" presetSubtype="0" fill="hold" grpId="0" nodeType="clickEffect">
                                  <p:stCondLst>
                                    <p:cond delay="0"/>
                                  </p:stCondLst>
                                  <p:childTnLst>
                                    <p:animEffect transition="in" filter="fade">
                                      <p:cBhvr>
                                        <p:cTn id="45" dur="450"/>
                                        <p:tgtEl>
                                          <p:spTgt spid="23"/>
                                        </p:tgtEl>
                                      </p:cBhvr>
                                    </p:animEffect>
                                  </p:childTnLst>
                                </p:cTn>
                              </p:par>
                              <p:par>
                                <p:cTn id="46" presetID="10" presetClass="entr" presetSubtype="0" fill="hold" grpId="0" nodeType="withEffect">
                                  <p:stCondLst>
                                    <p:cond delay="0"/>
                                  </p:stCondLst>
                                  <p:childTnLst>
                                    <p:animEffect transition="in" filter="fade">
                                      <p:cBhvr>
                                        <p:cTn id="47" dur="450"/>
                                        <p:tgtEl>
                                          <p:spTgt spid="24"/>
                                        </p:tgtEl>
                                      </p:cBhvr>
                                    </p:animEffect>
                                  </p:childTnLst>
                                </p:cTn>
                              </p:par>
                              <p:par>
                                <p:cTn id="48" presetID="10" presetClass="entr" presetSubtype="0" fill="hold" grpId="0" nodeType="withEffect">
                                  <p:stCondLst>
                                    <p:cond delay="0"/>
                                  </p:stCondLst>
                                  <p:childTnLst>
                                    <p:animEffect transition="in" filter="fade">
                                      <p:cBhvr>
                                        <p:cTn id="49" dur="450"/>
                                        <p:tgtEl>
                                          <p:spTgt spid="25"/>
                                        </p:tgtEl>
                                      </p:cBhvr>
                                    </p:animEffect>
                                  </p:childTnLst>
                                </p:cTn>
                              </p:par>
                              <p:par>
                                <p:cTn id="50" presetID="10" presetClass="entr" presetSubtype="0" fill="hold" grpId="0" nodeType="withEffect">
                                  <p:stCondLst>
                                    <p:cond delay="0"/>
                                  </p:stCondLst>
                                  <p:childTnLst>
                                    <p:animEffect transition="in" filter="fade">
                                      <p:cBhvr>
                                        <p:cTn id="51" dur="450"/>
                                        <p:tgtEl>
                                          <p:spTgt spid="26"/>
                                        </p:tgtEl>
                                      </p:cBhvr>
                                    </p:animEffect>
                                  </p:childTnLst>
                                </p:cTn>
                              </p:par>
                            </p:childTnLst>
                          </p:cTn>
                        </p:par>
                      </p:childTnLst>
                    </p:cTn>
                  </p:par>
                  <p:par>
                    <p:cTn id="62" fill="hold">
                      <p:stCondLst>
                        <p:cond delay="indefinite"/>
                      </p:stCondLst>
                      <p:childTnLst>
                        <p:par>
                          <p:cTn id="63" fill="hold">
                            <p:stCondLst>
                              <p:cond delay="0"/>
                            </p:stCondLst>
                            <p:childTnLst>
                              <p:par>
                                <p:cTn id="54" presetID="10" presetClass="entr" presetSubtype="0" fill="hold" grpId="0" nodeType="clickEffect">
                                  <p:stCondLst>
                                    <p:cond delay="0"/>
                                  </p:stCondLst>
                                  <p:childTnLst>
                                    <p:animEffect transition="in" filter="fade">
                                      <p:cBhvr>
                                        <p:cTn id="55" dur="450"/>
                                        <p:tgtEl>
                                          <p:spTgt spid="27"/>
                                        </p:tgtEl>
                                      </p:cBhvr>
                                    </p:animEffect>
                                  </p:childTnLst>
                                </p:cTn>
                              </p:par>
                              <p:par>
                                <p:cTn id="56" presetID="10" presetClass="entr" presetSubtype="0" fill="hold" grpId="0" nodeType="withEffect">
                                  <p:stCondLst>
                                    <p:cond delay="0"/>
                                  </p:stCondLst>
                                  <p:childTnLst>
                                    <p:animEffect transition="in" filter="fade">
                                      <p:cBhvr>
                                        <p:cTn id="57" dur="450"/>
                                        <p:tgtEl>
                                          <p:spTgt spid="28"/>
                                        </p:tgtEl>
                                      </p:cBhvr>
                                    </p:animEffect>
                                  </p:childTnLst>
                                </p:cTn>
                              </p:par>
                              <p:par>
                                <p:cTn id="58" presetID="10" presetClass="entr" presetSubtype="0" fill="hold" grpId="0" nodeType="withEffect">
                                  <p:stCondLst>
                                    <p:cond delay="0"/>
                                  </p:stCondLst>
                                  <p:childTnLst>
                                    <p:animEffect transition="in" filter="fade">
                                      <p:cBhvr>
                                        <p:cTn id="59" dur="450"/>
                                        <p:tgtEl>
                                          <p:spTgt spid="29"/>
                                        </p:tgtEl>
                                      </p:cBhvr>
                                    </p:animEffect>
                                  </p:childTnLst>
                                </p:cTn>
                              </p:par>
                              <p:par>
                                <p:cTn id="60" presetID="10" presetClass="entr" presetSubtype="0" fill="hold" grpId="0" nodeType="withEffect">
                                  <p:stCondLst>
                                    <p:cond delay="0"/>
                                  </p:stCondLst>
                                  <p:childTnLst>
                                    <p:animEffect transition="in" filter="fade">
                                      <p:cBhvr>
                                        <p:cTn id="61" dur="450"/>
                                        <p:tgtEl>
                                          <p:spTgt spid="30"/>
                                        </p:tgtEl>
                                      </p:cBhvr>
                                    </p:animEffect>
                                  </p:childTnLst>
                                </p:cTn>
                              </p:par>
                            </p:childTnLst>
                          </p:cTn>
                        </p:par>
                      </p:childTnLst>
                    </p:cTn>
                  </p:par>
                  <p:par>
                    <p:cTn id="72" fill="hold">
                      <p:stCondLst>
                        <p:cond delay="indefinite"/>
                      </p:stCondLst>
                      <p:childTnLst>
                        <p:par>
                          <p:cTn id="73" fill="hold">
                            <p:stCondLst>
                              <p:cond delay="0"/>
                            </p:stCondLst>
                            <p:childTnLst>
                              <p:par>
                                <p:cTn id="64" presetID="10" presetClass="entr" presetSubtype="0" fill="hold" grpId="0" nodeType="clickEffect">
                                  <p:stCondLst>
                                    <p:cond delay="0"/>
                                  </p:stCondLst>
                                  <p:childTnLst>
                                    <p:animEffect transition="in" filter="fade">
                                      <p:cBhvr>
                                        <p:cTn id="65" dur="450"/>
                                        <p:tgtEl>
                                          <p:spTgt spid="31"/>
                                        </p:tgtEl>
                                      </p:cBhvr>
                                    </p:animEffect>
                                  </p:childTnLst>
                                </p:cTn>
                              </p:par>
                              <p:par>
                                <p:cTn id="66" presetID="10" presetClass="entr" presetSubtype="0" fill="hold" grpId="0" nodeType="withEffect">
                                  <p:stCondLst>
                                    <p:cond delay="0"/>
                                  </p:stCondLst>
                                  <p:childTnLst>
                                    <p:animEffect transition="in" filter="fade">
                                      <p:cBhvr>
                                        <p:cTn id="67" dur="450"/>
                                        <p:tgtEl>
                                          <p:spTgt spid="32"/>
                                        </p:tgtEl>
                                      </p:cBhvr>
                                    </p:animEffect>
                                  </p:childTnLst>
                                </p:cTn>
                              </p:par>
                              <p:par>
                                <p:cTn id="68" presetID="10" presetClass="entr" presetSubtype="0" fill="hold" grpId="0" nodeType="withEffect">
                                  <p:stCondLst>
                                    <p:cond delay="0"/>
                                  </p:stCondLst>
                                  <p:childTnLst>
                                    <p:animEffect transition="in" filter="fade">
                                      <p:cBhvr>
                                        <p:cTn id="69" dur="450"/>
                                        <p:tgtEl>
                                          <p:spTgt spid="33"/>
                                        </p:tgtEl>
                                      </p:cBhvr>
                                    </p:animEffect>
                                  </p:childTnLst>
                                </p:cTn>
                              </p:par>
                              <p:par>
                                <p:cTn id="70" presetID="10" presetClass="entr" presetSubtype="0" fill="hold" grpId="0" nodeType="withEffect">
                                  <p:stCondLst>
                                    <p:cond delay="0"/>
                                  </p:stCondLst>
                                  <p:childTnLst>
                                    <p:animEffect transition="in" filter="fade">
                                      <p:cBhvr>
                                        <p:cTn id="71" dur="450"/>
                                        <p:tgtEl>
                                          <p:spTgt spid="34"/>
                                        </p:tgtEl>
                                      </p:cBhvr>
                                    </p:animEffect>
                                  </p:childTnLst>
                                </p:cTn>
                              </p:par>
                            </p:childTnLst>
                          </p:cTn>
                        </p:par>
                      </p:childTnLst>
                    </p:cTn>
                  </p:par>
                  <p:par>
                    <p:cTn id="82" fill="hold">
                      <p:stCondLst>
                        <p:cond delay="indefinite"/>
                      </p:stCondLst>
                      <p:childTnLst>
                        <p:par>
                          <p:cTn id="83" fill="hold">
                            <p:stCondLst>
                              <p:cond delay="0"/>
                            </p:stCondLst>
                            <p:childTnLst>
                              <p:par>
                                <p:cTn id="74" presetID="10" presetClass="entr" presetSubtype="0" fill="hold" grpId="0" nodeType="clickEffect">
                                  <p:stCondLst>
                                    <p:cond delay="0"/>
                                  </p:stCondLst>
                                  <p:childTnLst>
                                    <p:animEffect transition="in" filter="fade">
                                      <p:cBhvr>
                                        <p:cTn id="75" dur="450"/>
                                        <p:tgtEl>
                                          <p:spTgt spid="35"/>
                                        </p:tgtEl>
                                      </p:cBhvr>
                                    </p:animEffect>
                                  </p:childTnLst>
                                </p:cTn>
                              </p:par>
                              <p:par>
                                <p:cTn id="76" presetID="10" presetClass="entr" presetSubtype="0" fill="hold" grpId="0" nodeType="withEffect">
                                  <p:stCondLst>
                                    <p:cond delay="0"/>
                                  </p:stCondLst>
                                  <p:childTnLst>
                                    <p:animEffect transition="in" filter="fade">
                                      <p:cBhvr>
                                        <p:cTn id="77" dur="450"/>
                                        <p:tgtEl>
                                          <p:spTgt spid="36"/>
                                        </p:tgtEl>
                                      </p:cBhvr>
                                    </p:animEffect>
                                  </p:childTnLst>
                                </p:cTn>
                              </p:par>
                              <p:par>
                                <p:cTn id="78" presetID="10" presetClass="entr" presetSubtype="0" fill="hold" grpId="0" nodeType="withEffect">
                                  <p:stCondLst>
                                    <p:cond delay="0"/>
                                  </p:stCondLst>
                                  <p:childTnLst>
                                    <p:animEffect transition="in" filter="fade">
                                      <p:cBhvr>
                                        <p:cTn id="79" dur="450"/>
                                        <p:tgtEl>
                                          <p:spTgt spid="37"/>
                                        </p:tgtEl>
                                      </p:cBhvr>
                                    </p:animEffect>
                                  </p:childTnLst>
                                </p:cTn>
                              </p:par>
                              <p:par>
                                <p:cTn id="80" presetID="10" presetClass="entr" presetSubtype="0" fill="hold" grpId="0" nodeType="withEffect">
                                  <p:stCondLst>
                                    <p:cond delay="0"/>
                                  </p:stCondLst>
                                  <p:childTnLst>
                                    <p:animEffect transition="in" filter="fade">
                                      <p:cBhvr>
                                        <p:cTn id="81" dur="450"/>
                                        <p:tgtEl>
                                          <p:spTgt spid="38"/>
                                        </p:tgtEl>
                                      </p:cBhvr>
                                    </p:animEffect>
                                  </p:childTnLst>
                                </p:cTn>
                              </p:par>
                            </p:childTnLst>
                          </p:cTn>
                        </p:par>
                      </p:childTnLst>
                    </p:cTn>
                  </p:par>
                  <p:par>
                    <p:cTn id="92" fill="hold">
                      <p:stCondLst>
                        <p:cond delay="indefinite"/>
                      </p:stCondLst>
                      <p:childTnLst>
                        <p:par>
                          <p:cTn id="93" fill="hold">
                            <p:stCondLst>
                              <p:cond delay="0"/>
                            </p:stCondLst>
                            <p:childTnLst>
                              <p:par>
                                <p:cTn id="84" presetID="10" presetClass="entr" presetSubtype="0" fill="hold" grpId="0" nodeType="clickEffect">
                                  <p:stCondLst>
                                    <p:cond delay="0"/>
                                  </p:stCondLst>
                                  <p:childTnLst>
                                    <p:animEffect transition="in" filter="fade">
                                      <p:cBhvr>
                                        <p:cTn id="85" dur="450"/>
                                        <p:tgtEl>
                                          <p:spTgt spid="39"/>
                                        </p:tgtEl>
                                      </p:cBhvr>
                                    </p:animEffect>
                                  </p:childTnLst>
                                </p:cTn>
                              </p:par>
                              <p:par>
                                <p:cTn id="86" presetID="10" presetClass="entr" presetSubtype="0" fill="hold" grpId="0" nodeType="withEffect">
                                  <p:stCondLst>
                                    <p:cond delay="0"/>
                                  </p:stCondLst>
                                  <p:childTnLst>
                                    <p:animEffect transition="in" filter="fade">
                                      <p:cBhvr>
                                        <p:cTn id="87" dur="450"/>
                                        <p:tgtEl>
                                          <p:spTgt spid="40"/>
                                        </p:tgtEl>
                                      </p:cBhvr>
                                    </p:animEffect>
                                  </p:childTnLst>
                                </p:cTn>
                              </p:par>
                              <p:par>
                                <p:cTn id="88" presetID="10" presetClass="entr" presetSubtype="0" fill="hold" grpId="0" nodeType="withEffect">
                                  <p:stCondLst>
                                    <p:cond delay="0"/>
                                  </p:stCondLst>
                                  <p:childTnLst>
                                    <p:animEffect transition="in" filter="fade">
                                      <p:cBhvr>
                                        <p:cTn id="89" dur="450"/>
                                        <p:tgtEl>
                                          <p:spTgt spid="41"/>
                                        </p:tgtEl>
                                      </p:cBhvr>
                                    </p:animEffect>
                                  </p:childTnLst>
                                </p:cTn>
                              </p:par>
                              <p:par>
                                <p:cTn id="90" presetID="10" presetClass="entr" presetSubtype="0" fill="hold" grpId="0" nodeType="withEffect">
                                  <p:stCondLst>
                                    <p:cond delay="0"/>
                                  </p:stCondLst>
                                  <p:childTnLst>
                                    <p:animEffect transition="in" filter="fade">
                                      <p:cBhvr>
                                        <p:cTn id="91" dur="450"/>
                                        <p:tgtEl>
                                          <p:spTgt spid="42"/>
                                        </p:tgtEl>
                                      </p:cBhvr>
                                    </p:animEffect>
                                  </p:childTnLst>
                                </p:cTn>
                              </p:par>
                            </p:childTnLst>
                          </p:cTn>
                        </p:par>
                      </p:childTnLst>
                    </p:cTn>
                  </p:par>
                  <p:par>
                    <p:cTn id="102" fill="hold">
                      <p:stCondLst>
                        <p:cond delay="indefinite"/>
                      </p:stCondLst>
                      <p:childTnLst>
                        <p:par>
                          <p:cTn id="103" fill="hold">
                            <p:stCondLst>
                              <p:cond delay="0"/>
                            </p:stCondLst>
                            <p:childTnLst>
                              <p:par>
                                <p:cTn id="94" presetID="10" presetClass="entr" presetSubtype="0" fill="hold" grpId="0" nodeType="clickEffect">
                                  <p:stCondLst>
                                    <p:cond delay="0"/>
                                  </p:stCondLst>
                                  <p:childTnLst>
                                    <p:animEffect transition="in" filter="fade">
                                      <p:cBhvr>
                                        <p:cTn id="95" dur="450"/>
                                        <p:tgtEl>
                                          <p:spTgt spid="43"/>
                                        </p:tgtEl>
                                      </p:cBhvr>
                                    </p:animEffect>
                                  </p:childTnLst>
                                </p:cTn>
                              </p:par>
                              <p:par>
                                <p:cTn id="96" presetID="10" presetClass="entr" presetSubtype="0" fill="hold" grpId="0" nodeType="withEffect">
                                  <p:stCondLst>
                                    <p:cond delay="0"/>
                                  </p:stCondLst>
                                  <p:childTnLst>
                                    <p:animEffect transition="in" filter="fade">
                                      <p:cBhvr>
                                        <p:cTn id="97" dur="450"/>
                                        <p:tgtEl>
                                          <p:spTgt spid="44"/>
                                        </p:tgtEl>
                                      </p:cBhvr>
                                    </p:animEffect>
                                  </p:childTnLst>
                                </p:cTn>
                              </p:par>
                              <p:par>
                                <p:cTn id="98" presetID="10" presetClass="entr" presetSubtype="0" fill="hold" grpId="0" nodeType="withEffect">
                                  <p:stCondLst>
                                    <p:cond delay="0"/>
                                  </p:stCondLst>
                                  <p:childTnLst>
                                    <p:animEffect transition="in" filter="fade">
                                      <p:cBhvr>
                                        <p:cTn id="99" dur="450"/>
                                        <p:tgtEl>
                                          <p:spTgt spid="45"/>
                                        </p:tgtEl>
                                      </p:cBhvr>
                                    </p:animEffect>
                                  </p:childTnLst>
                                </p:cTn>
                              </p:par>
                              <p:par>
                                <p:cTn id="100" presetID="10" presetClass="entr" presetSubtype="0" fill="hold" grpId="0" nodeType="withEffect">
                                  <p:stCondLst>
                                    <p:cond delay="0"/>
                                  </p:stCondLst>
                                  <p:childTnLst>
                                    <p:animEffect transition="in" filter="fade">
                                      <p:cBhvr>
                                        <p:cTn id="101" dur="4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1" grpId="0"/>
      <p:bldP spid="12" grpId="0"/>
      <p:bldP spid="13" grpId="0"/>
      <p:bldP spid="14" grpId="0"/>
      <p:bldP spid="10"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Lst>
  </p:timing>
</p:sld>
</file>

<file path=ppt/slides/slide6.xml><?xml version="1.0" encoding="utf-8"?>
<p:sld xmlns:a="http://schemas.openxmlformats.org/drawingml/2006/main"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06  ·  PROPOSED METHODOLOGY</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06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How Care Pathway works — Part 1</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bg"/>
          <p:cNvSpPr/>
          <p:nvPr/>
        </p:nvSpPr>
        <p:spPr>
          <a:xfrm>
            <a:off x="548640" y="1280160"/>
            <a:ext cx="11091672" cy="1152144"/>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8" name="click_02_bar"/>
          <p:cNvSpPr/>
          <p:nvPr/>
        </p:nvSpPr>
        <p:spPr>
          <a:xfrm>
            <a:off x="548640" y="1280160"/>
            <a:ext cx="64008" cy="1152144"/>
          </a:xfrm>
          <a:prstGeom prst="rect">
            <a:avLst/>
          </a:prstGeom>
          <a:solidFill>
            <a:srgbClr val="16324F"/>
          </a:solidFill>
          <a:ln/>
        </p:spPr>
      </p:sp>
      <p:sp>
        <p:nvSpPr>
          <p:cNvPr id="9" name="click_02_ov"/>
          <p:cNvSpPr/>
          <p:nvPr/>
        </p:nvSpPr>
        <p:spPr>
          <a:xfrm>
            <a:off x="749808" y="1682496"/>
            <a:ext cx="347472" cy="347472"/>
          </a:xfrm>
          <a:prstGeom prst="ellipse">
            <a:avLst/>
          </a:prstGeom>
          <a:solidFill>
            <a:srgbClr val="B8954A"/>
          </a:solidFill>
          <a:ln/>
        </p:spPr>
      </p:sp>
      <p:sp>
        <p:nvSpPr>
          <p:cNvPr id="10" name="click_02_ovt"/>
          <p:cNvSpPr/>
          <p:nvPr/>
        </p:nvSpPr>
        <p:spPr>
          <a:xfrm>
            <a:off x="749808" y="16824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click_02_t"/>
          <p:cNvSpPr/>
          <p:nvPr/>
        </p:nvSpPr>
        <p:spPr>
          <a:xfrm>
            <a:off x="1261872" y="1389888"/>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Official sources</a:t>
            </a:r>
            <a:endParaRPr lang="en-US" sz="1600" dirty="0"/>
          </a:p>
        </p:txBody>
      </p:sp>
      <p:sp>
        <p:nvSpPr>
          <p:cNvPr id="12" name="click_02_d"/>
          <p:cNvSpPr/>
          <p:nvPr/>
        </p:nvSpPr>
        <p:spPr>
          <a:xfrm>
            <a:off x="1261872" y="1700784"/>
            <a:ext cx="100126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Index ICMR STW page images, NLEM 2022 (384 medicines), and dated CDSCO NSQ snapshots. Absence from NSQ is never rendered as “safe”.</a:t>
            </a:r>
            <a:endParaRPr lang="en-US" sz="1300" dirty="0"/>
          </a:p>
        </p:txBody>
      </p:sp>
      <p:sp>
        <p:nvSpPr>
          <p:cNvPr id="13" name="click_03_bg"/>
          <p:cNvSpPr/>
          <p:nvPr/>
        </p:nvSpPr>
        <p:spPr>
          <a:xfrm>
            <a:off x="548640" y="2542032"/>
            <a:ext cx="11091672" cy="1152144"/>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4" name="click_03_bar"/>
          <p:cNvSpPr/>
          <p:nvPr/>
        </p:nvSpPr>
        <p:spPr>
          <a:xfrm>
            <a:off x="548640" y="2542032"/>
            <a:ext cx="64008" cy="1152144"/>
          </a:xfrm>
          <a:prstGeom prst="rect">
            <a:avLst/>
          </a:prstGeom>
          <a:solidFill>
            <a:srgbClr val="16324F"/>
          </a:solidFill>
          <a:ln/>
        </p:spPr>
      </p:sp>
      <p:sp>
        <p:nvSpPr>
          <p:cNvPr id="15" name="click_03_ov"/>
          <p:cNvSpPr/>
          <p:nvPr/>
        </p:nvSpPr>
        <p:spPr>
          <a:xfrm>
            <a:off x="749808" y="2944368"/>
            <a:ext cx="347472" cy="347472"/>
          </a:xfrm>
          <a:prstGeom prst="ellipse">
            <a:avLst/>
          </a:prstGeom>
          <a:solidFill>
            <a:srgbClr val="B8954A"/>
          </a:solidFill>
          <a:ln/>
        </p:spPr>
      </p:sp>
      <p:sp>
        <p:nvSpPr>
          <p:cNvPr id="16" name="click_03_ovt"/>
          <p:cNvSpPr/>
          <p:nvPr/>
        </p:nvSpPr>
        <p:spPr>
          <a:xfrm>
            <a:off x="749808" y="2944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click_03_t"/>
          <p:cNvSpPr/>
          <p:nvPr/>
        </p:nvSpPr>
        <p:spPr>
          <a:xfrm>
            <a:off x="1261872" y="2651760"/>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Train and freeze specialists</a:t>
            </a:r>
            <a:endParaRPr lang="en-US" sz="1600" dirty="0"/>
          </a:p>
        </p:txBody>
      </p:sp>
      <p:sp>
        <p:nvSpPr>
          <p:cNvPr id="18" name="click_03_d"/>
          <p:cNvSpPr/>
          <p:nvPr/>
        </p:nvSpPr>
        <p:spPr>
          <a:xfrm>
            <a:off x="1261872" y="2962656"/>
            <a:ext cx="100126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CheXpert CXR (DenseNet-121 / EfficientNet), patient-level splits, U-ones/U-zeros. HAM10000/ISIC skin, split by lesion_id. Document OCR/KIE on synthetic packs and self-collected OTC photos — no patient prescriptions.</a:t>
            </a:r>
            <a:endParaRPr lang="en-US" sz="1300" dirty="0"/>
          </a:p>
        </p:txBody>
      </p:sp>
      <p:sp>
        <p:nvSpPr>
          <p:cNvPr id="19" name="click_04_bg"/>
          <p:cNvSpPr/>
          <p:nvPr/>
        </p:nvSpPr>
        <p:spPr>
          <a:xfrm>
            <a:off x="548640" y="3803904"/>
            <a:ext cx="11091672" cy="1152144"/>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0" name="click_04_bar"/>
          <p:cNvSpPr/>
          <p:nvPr/>
        </p:nvSpPr>
        <p:spPr>
          <a:xfrm>
            <a:off x="548640" y="3803904"/>
            <a:ext cx="64008" cy="1152144"/>
          </a:xfrm>
          <a:prstGeom prst="rect">
            <a:avLst/>
          </a:prstGeom>
          <a:solidFill>
            <a:srgbClr val="16324F"/>
          </a:solidFill>
          <a:ln/>
        </p:spPr>
      </p:sp>
      <p:sp>
        <p:nvSpPr>
          <p:cNvPr id="21" name="click_04_ov"/>
          <p:cNvSpPr/>
          <p:nvPr/>
        </p:nvSpPr>
        <p:spPr>
          <a:xfrm>
            <a:off x="749808" y="4206240"/>
            <a:ext cx="347472" cy="347472"/>
          </a:xfrm>
          <a:prstGeom prst="ellipse">
            <a:avLst/>
          </a:prstGeom>
          <a:solidFill>
            <a:srgbClr val="B8954A"/>
          </a:solidFill>
          <a:ln/>
        </p:spPr>
      </p:sp>
      <p:sp>
        <p:nvSpPr>
          <p:cNvPr id="22" name="click_04_ovt"/>
          <p:cNvSpPr/>
          <p:nvPr/>
        </p:nvSpPr>
        <p:spPr>
          <a:xfrm>
            <a:off x="749808" y="42062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click_04_t"/>
          <p:cNvSpPr/>
          <p:nvPr/>
        </p:nvSpPr>
        <p:spPr>
          <a:xfrm>
            <a:off x="1261872" y="3913632"/>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Register the catalogue</a:t>
            </a:r>
            <a:endParaRPr lang="en-US" sz="1600" dirty="0"/>
          </a:p>
        </p:txBody>
      </p:sp>
      <p:sp>
        <p:nvSpPr>
          <p:cNvPr id="24" name="click_04_d"/>
          <p:cNvSpPr/>
          <p:nvPr/>
        </p:nvSpPr>
        <p:spPr>
          <a:xfrm>
            <a:off x="1261872" y="4224528"/>
            <a:ext cx="100126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cxr_tool, skin_tool, document_tool, nlem_lookup, cdsco_lookup, stw_retrieve, out_of_scope. The model may emit only these names. The host executes.</a:t>
            </a:r>
            <a:endParaRPr lang="en-US" sz="1300" dirty="0"/>
          </a:p>
        </p:txBody>
      </p:sp>
      <p:sp>
        <p:nvSpPr>
          <p:cNvPr id="25" name="click_05_bg"/>
          <p:cNvSpPr/>
          <p:nvPr/>
        </p:nvSpPr>
        <p:spPr>
          <a:xfrm>
            <a:off x="548640" y="5065776"/>
            <a:ext cx="11091672" cy="1152144"/>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6" name="click_05_bar"/>
          <p:cNvSpPr/>
          <p:nvPr/>
        </p:nvSpPr>
        <p:spPr>
          <a:xfrm>
            <a:off x="548640" y="5065776"/>
            <a:ext cx="64008" cy="1152144"/>
          </a:xfrm>
          <a:prstGeom prst="rect">
            <a:avLst/>
          </a:prstGeom>
          <a:solidFill>
            <a:srgbClr val="16324F"/>
          </a:solidFill>
          <a:ln/>
        </p:spPr>
      </p:sp>
      <p:sp>
        <p:nvSpPr>
          <p:cNvPr id="27" name="click_05_ov"/>
          <p:cNvSpPr/>
          <p:nvPr/>
        </p:nvSpPr>
        <p:spPr>
          <a:xfrm>
            <a:off x="749808" y="5468112"/>
            <a:ext cx="347472" cy="347472"/>
          </a:xfrm>
          <a:prstGeom prst="ellipse">
            <a:avLst/>
          </a:prstGeom>
          <a:solidFill>
            <a:srgbClr val="B8954A"/>
          </a:solidFill>
          <a:ln/>
        </p:spPr>
      </p:sp>
      <p:sp>
        <p:nvSpPr>
          <p:cNvPr id="28" name="click_05_ovt"/>
          <p:cNvSpPr/>
          <p:nvPr/>
        </p:nvSpPr>
        <p:spPr>
          <a:xfrm>
            <a:off x="749808" y="54681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click_05_t"/>
          <p:cNvSpPr/>
          <p:nvPr/>
        </p:nvSpPr>
        <p:spPr>
          <a:xfrm>
            <a:off x="1261872" y="5175504"/>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Gold questions</a:t>
            </a:r>
            <a:endParaRPr lang="en-US" sz="1600" dirty="0"/>
          </a:p>
        </p:txBody>
      </p:sp>
      <p:sp>
        <p:nvSpPr>
          <p:cNvPr id="30" name="click_05_d"/>
          <p:cNvSpPr/>
          <p:nvPr/>
        </p:nvSpPr>
        <p:spPr>
          <a:xfrm>
            <a:off x="1261872" y="5486400"/>
            <a:ext cx="100126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Student-labelled items with gold_route, gold_status, gold_span_id. Include Hinglish and near-miss refusals. This set is not a public download.</a:t>
            </a:r>
            <a:endParaRPr lang="en-US" sz="1300" dirty="0"/>
          </a:p>
        </p:txBody>
      </p:sp>
    </p:spTree>
  </p:cSld>
  <p:clrMapOvr>
    <a:masterClrMapping/>
  </p:clrMapOvr>
  <p:transition spd="med" advClick="1">
    <p:fade/>
  </p:transition>
  <p:timing>
    <p:tnLst>
      <p:par>
        <p:cTn id="1" dur="indefinite" restart="never" nodeType="tmRoot">
          <p:childTnLst>
            <p:seq concurrent="true" nextAc="seek">
              <p:cTn id="62"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8" fill="hold">
                      <p:stCondLst>
                        <p:cond delay="indefinite"/>
                      </p:stCondLst>
                      <p:childTnLst>
                        <p:par>
                          <p:cTn id="1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par>
                                <p:cTn id="16" presetID="10" presetClass="entr" presetSubtype="0" fill="hold" grpId="0" nodeType="withEffect">
                                  <p:stCondLst>
                                    <p:cond delay="0"/>
                                  </p:stCondLst>
                                  <p:childTnLst>
                                    <p:animEffect transition="in" filter="fade">
                                      <p:cBhvr>
                                        <p:cTn id="17" dur="450"/>
                                        <p:tgtEl>
                                          <p:spTgt spid="12"/>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grpId="0" nodeType="click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6"/>
                                        </p:tgtEl>
                                      </p:cBhvr>
                                    </p:animEffect>
                                  </p:childTnLst>
                                </p:cTn>
                              </p:par>
                              <p:par>
                                <p:cTn id="28" presetID="10" presetClass="entr" presetSubtype="0" fill="hold" grpId="0" nodeType="withEffect">
                                  <p:stCondLst>
                                    <p:cond delay="0"/>
                                  </p:stCondLst>
                                  <p:childTnLst>
                                    <p:animEffect transition="in" filter="fade">
                                      <p:cBhvr>
                                        <p:cTn id="29" dur="450"/>
                                        <p:tgtEl>
                                          <p:spTgt spid="17"/>
                                        </p:tgtEl>
                                      </p:cBhvr>
                                    </p:animEffect>
                                  </p:childTnLst>
                                </p:cTn>
                              </p:par>
                              <p:par>
                                <p:cTn id="30" presetID="10" presetClass="entr" presetSubtype="0" fill="hold" grpId="0" nodeType="withEffect">
                                  <p:stCondLst>
                                    <p:cond delay="0"/>
                                  </p:stCondLst>
                                  <p:childTnLst>
                                    <p:animEffect transition="in" filter="fade">
                                      <p:cBhvr>
                                        <p:cTn id="31" dur="450"/>
                                        <p:tgtEl>
                                          <p:spTgt spid="18"/>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grpId="0" nodeType="click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par>
                                <p:cTn id="40" presetID="10" presetClass="entr" presetSubtype="0" fill="hold" grpId="0" nodeType="withEffect">
                                  <p:stCondLst>
                                    <p:cond delay="0"/>
                                  </p:stCondLst>
                                  <p:childTnLst>
                                    <p:animEffect transition="in" filter="fade">
                                      <p:cBhvr>
                                        <p:cTn id="41" dur="450"/>
                                        <p:tgtEl>
                                          <p:spTgt spid="22"/>
                                        </p:tgtEl>
                                      </p:cBhvr>
                                    </p:animEffect>
                                  </p:childTnLst>
                                </p:cTn>
                              </p:par>
                              <p:par>
                                <p:cTn id="42" presetID="10" presetClass="entr" presetSubtype="0" fill="hold" grpId="0" nodeType="withEffect">
                                  <p:stCondLst>
                                    <p:cond delay="0"/>
                                  </p:stCondLst>
                                  <p:childTnLst>
                                    <p:animEffect transition="in" filter="fade">
                                      <p:cBhvr>
                                        <p:cTn id="43" dur="450"/>
                                        <p:tgtEl>
                                          <p:spTgt spid="23"/>
                                        </p:tgtEl>
                                      </p:cBhvr>
                                    </p:animEffect>
                                  </p:childTnLst>
                                </p:cTn>
                              </p:par>
                              <p:par>
                                <p:cTn id="44" presetID="10" presetClass="entr" presetSubtype="0" fill="hold" grpId="0" nodeType="withEffect">
                                  <p:stCondLst>
                                    <p:cond delay="0"/>
                                  </p:stCondLst>
                                  <p:childTnLst>
                                    <p:animEffect transition="in" filter="fade">
                                      <p:cBhvr>
                                        <p:cTn id="45" dur="450"/>
                                        <p:tgtEl>
                                          <p:spTgt spid="24"/>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grpId="0" nodeType="clickEffect">
                                  <p:stCondLst>
                                    <p:cond delay="0"/>
                                  </p:stCondLst>
                                  <p:childTnLst>
                                    <p:animEffect transition="in" filter="fade">
                                      <p:cBhvr>
                                        <p:cTn id="49" dur="450"/>
                                        <p:tgtEl>
                                          <p:spTgt spid="25"/>
                                        </p:tgtEl>
                                      </p:cBhvr>
                                    </p:animEffect>
                                  </p:childTnLst>
                                </p:cTn>
                              </p:par>
                              <p:par>
                                <p:cTn id="50" presetID="10" presetClass="entr" presetSubtype="0" fill="hold" grpId="0" nodeType="withEffect">
                                  <p:stCondLst>
                                    <p:cond delay="0"/>
                                  </p:stCondLst>
                                  <p:childTnLst>
                                    <p:animEffect transition="in" filter="fade">
                                      <p:cBhvr>
                                        <p:cTn id="51" dur="450"/>
                                        <p:tgtEl>
                                          <p:spTgt spid="26"/>
                                        </p:tgtEl>
                                      </p:cBhvr>
                                    </p:animEffect>
                                  </p:childTnLst>
                                </p:cTn>
                              </p:par>
                              <p:par>
                                <p:cTn id="52" presetID="10" presetClass="entr" presetSubtype="0" fill="hold" grpId="0" nodeType="withEffect">
                                  <p:stCondLst>
                                    <p:cond delay="0"/>
                                  </p:stCondLst>
                                  <p:childTnLst>
                                    <p:animEffect transition="in" filter="fade">
                                      <p:cBhvr>
                                        <p:cTn id="53" dur="450"/>
                                        <p:tgtEl>
                                          <p:spTgt spid="27"/>
                                        </p:tgtEl>
                                      </p:cBhvr>
                                    </p:animEffect>
                                  </p:childTnLst>
                                </p:cTn>
                              </p:par>
                              <p:par>
                                <p:cTn id="54" presetID="10" presetClass="entr" presetSubtype="0" fill="hold" grpId="0" nodeType="withEffect">
                                  <p:stCondLst>
                                    <p:cond delay="0"/>
                                  </p:stCondLst>
                                  <p:childTnLst>
                                    <p:animEffect transition="in" filter="fade">
                                      <p:cBhvr>
                                        <p:cTn id="55" dur="450"/>
                                        <p:tgtEl>
                                          <p:spTgt spid="28"/>
                                        </p:tgtEl>
                                      </p:cBhvr>
                                    </p:animEffect>
                                  </p:childTnLst>
                                </p:cTn>
                              </p:par>
                              <p:par>
                                <p:cTn id="56" presetID="10" presetClass="entr" presetSubtype="0" fill="hold" grpId="0" nodeType="withEffect">
                                  <p:stCondLst>
                                    <p:cond delay="0"/>
                                  </p:stCondLst>
                                  <p:childTnLst>
                                    <p:animEffect transition="in" filter="fade">
                                      <p:cBhvr>
                                        <p:cTn id="57" dur="450"/>
                                        <p:tgtEl>
                                          <p:spTgt spid="29"/>
                                        </p:tgtEl>
                                      </p:cBhvr>
                                    </p:animEffect>
                                  </p:childTnLst>
                                </p:cTn>
                              </p:par>
                              <p:par>
                                <p:cTn id="58" presetID="10" presetClass="entr" presetSubtype="0" fill="hold" grpId="0" nodeType="withEffect">
                                  <p:stCondLst>
                                    <p:cond delay="0"/>
                                  </p:stCondLst>
                                  <p:childTnLst>
                                    <p:animEffect transition="in" filter="fade">
                                      <p:cBhvr>
                                        <p:cTn id="59"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7.xml><?xml version="1.0" encoding="utf-8"?>
<p:sld xmlns:a="http://schemas.openxmlformats.org/drawingml/2006/main"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07  ·  PROPOSED METHODOLOGY</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07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How Care Pathway works — Part 2</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bg"/>
          <p:cNvSpPr/>
          <p:nvPr/>
        </p:nvSpPr>
        <p:spPr>
          <a:xfrm>
            <a:off x="548640" y="1280160"/>
            <a:ext cx="11091672" cy="128016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8" name="click_02_bar"/>
          <p:cNvSpPr/>
          <p:nvPr/>
        </p:nvSpPr>
        <p:spPr>
          <a:xfrm>
            <a:off x="548640" y="1280160"/>
            <a:ext cx="64008" cy="1280160"/>
          </a:xfrm>
          <a:prstGeom prst="rect">
            <a:avLst/>
          </a:prstGeom>
          <a:solidFill>
            <a:srgbClr val="16324F"/>
          </a:solidFill>
          <a:ln/>
        </p:spPr>
      </p:sp>
      <p:sp>
        <p:nvSpPr>
          <p:cNvPr id="9" name="click_02_ov"/>
          <p:cNvSpPr/>
          <p:nvPr/>
        </p:nvSpPr>
        <p:spPr>
          <a:xfrm>
            <a:off x="749808" y="1737360"/>
            <a:ext cx="347472" cy="347472"/>
          </a:xfrm>
          <a:prstGeom prst="ellipse">
            <a:avLst/>
          </a:prstGeom>
          <a:solidFill>
            <a:srgbClr val="B8954A"/>
          </a:solidFill>
          <a:ln/>
        </p:spPr>
      </p:sp>
      <p:sp>
        <p:nvSpPr>
          <p:cNvPr id="10" name="click_02_ovt"/>
          <p:cNvSpPr/>
          <p:nvPr/>
        </p:nvSpPr>
        <p:spPr>
          <a:xfrm>
            <a:off x="749808" y="1737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1" name="click_02_t"/>
          <p:cNvSpPr/>
          <p:nvPr/>
        </p:nvSpPr>
        <p:spPr>
          <a:xfrm>
            <a:off x="1261872" y="1389888"/>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Router and answer prompts</a:t>
            </a:r>
            <a:endParaRPr lang="en-US" sz="1600" dirty="0"/>
          </a:p>
        </p:txBody>
      </p:sp>
      <p:sp>
        <p:nvSpPr>
          <p:cNvPr id="12" name="click_02_d"/>
          <p:cNvSpPr/>
          <p:nvPr/>
        </p:nvSpPr>
        <p:spPr>
          <a:xfrm>
            <a:off x="1261872" y="1719072"/>
            <a:ext cx="10012680" cy="74980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Same local Qwen-class weights, two frozen prompts. Router emits a tool call or out_of_scope. Answer drafts only from retrieved spans plus tool JSON — or stays silent. Demonstrations include near-miss refusals.</a:t>
            </a:r>
            <a:endParaRPr lang="en-US" sz="1300" dirty="0"/>
          </a:p>
        </p:txBody>
      </p:sp>
      <p:sp>
        <p:nvSpPr>
          <p:cNvPr id="13" name="click_03_bg"/>
          <p:cNvSpPr/>
          <p:nvPr/>
        </p:nvSpPr>
        <p:spPr>
          <a:xfrm>
            <a:off x="548640" y="2670048"/>
            <a:ext cx="11091672" cy="128016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4" name="click_03_bar"/>
          <p:cNvSpPr/>
          <p:nvPr/>
        </p:nvSpPr>
        <p:spPr>
          <a:xfrm>
            <a:off x="548640" y="2670048"/>
            <a:ext cx="64008" cy="1280160"/>
          </a:xfrm>
          <a:prstGeom prst="rect">
            <a:avLst/>
          </a:prstGeom>
          <a:solidFill>
            <a:srgbClr val="16324F"/>
          </a:solidFill>
          <a:ln/>
        </p:spPr>
      </p:sp>
      <p:sp>
        <p:nvSpPr>
          <p:cNvPr id="15" name="click_03_ov"/>
          <p:cNvSpPr/>
          <p:nvPr/>
        </p:nvSpPr>
        <p:spPr>
          <a:xfrm>
            <a:off x="749808" y="3127248"/>
            <a:ext cx="347472" cy="347472"/>
          </a:xfrm>
          <a:prstGeom prst="ellipse">
            <a:avLst/>
          </a:prstGeom>
          <a:solidFill>
            <a:srgbClr val="B8954A"/>
          </a:solidFill>
          <a:ln/>
        </p:spPr>
      </p:sp>
      <p:sp>
        <p:nvSpPr>
          <p:cNvPr id="16" name="click_03_ovt"/>
          <p:cNvSpPr/>
          <p:nvPr/>
        </p:nvSpPr>
        <p:spPr>
          <a:xfrm>
            <a:off x="749808" y="31272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click_03_t"/>
          <p:cNvSpPr/>
          <p:nvPr/>
        </p:nvSpPr>
        <p:spPr>
          <a:xfrm>
            <a:off x="1261872" y="2779776"/>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Fail-closed verifier</a:t>
            </a:r>
            <a:endParaRPr lang="en-US" sz="1600" dirty="0"/>
          </a:p>
        </p:txBody>
      </p:sp>
      <p:sp>
        <p:nvSpPr>
          <p:cNvPr id="18" name="click_03_d"/>
          <p:cNvSpPr/>
          <p:nvPr/>
        </p:nvSpPr>
        <p:spPr>
          <a:xfrm>
            <a:off x="1261872" y="3108960"/>
            <a:ext cx="10012680" cy="74980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Python in the API, not a fourth net. Empty JSON, unreadable input, missing span, or a clinical sentence on an out-of-scope item fails. Tool disagreement: one extra look, then insufficient. Card: grounded / insufficient / out_of_scope.</a:t>
            </a:r>
            <a:endParaRPr lang="en-US" sz="1300" dirty="0"/>
          </a:p>
        </p:txBody>
      </p:sp>
      <p:sp>
        <p:nvSpPr>
          <p:cNvPr id="19" name="click_04_bg"/>
          <p:cNvSpPr/>
          <p:nvPr/>
        </p:nvSpPr>
        <p:spPr>
          <a:xfrm>
            <a:off x="548640" y="4059936"/>
            <a:ext cx="11091672" cy="128016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0" name="click_04_bar"/>
          <p:cNvSpPr/>
          <p:nvPr/>
        </p:nvSpPr>
        <p:spPr>
          <a:xfrm>
            <a:off x="548640" y="4059936"/>
            <a:ext cx="64008" cy="1280160"/>
          </a:xfrm>
          <a:prstGeom prst="rect">
            <a:avLst/>
          </a:prstGeom>
          <a:solidFill>
            <a:srgbClr val="2F5D50"/>
          </a:solidFill>
          <a:ln/>
        </p:spPr>
      </p:sp>
      <p:sp>
        <p:nvSpPr>
          <p:cNvPr id="21" name="click_04_ov"/>
          <p:cNvSpPr/>
          <p:nvPr/>
        </p:nvSpPr>
        <p:spPr>
          <a:xfrm>
            <a:off x="749808" y="4517136"/>
            <a:ext cx="347472" cy="347472"/>
          </a:xfrm>
          <a:prstGeom prst="ellipse">
            <a:avLst/>
          </a:prstGeom>
          <a:solidFill>
            <a:srgbClr val="B8954A"/>
          </a:solidFill>
          <a:ln/>
        </p:spPr>
      </p:sp>
      <p:sp>
        <p:nvSpPr>
          <p:cNvPr id="22" name="click_04_ovt"/>
          <p:cNvSpPr/>
          <p:nvPr/>
        </p:nvSpPr>
        <p:spPr>
          <a:xfrm>
            <a:off x="749808" y="45171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3" name="click_04_t"/>
          <p:cNvSpPr/>
          <p:nvPr/>
        </p:nvSpPr>
        <p:spPr>
          <a:xfrm>
            <a:off x="1261872" y="4169664"/>
            <a:ext cx="10012680" cy="292608"/>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GEPA, offline only</a:t>
            </a:r>
            <a:endParaRPr lang="en-US" sz="1600" dirty="0"/>
          </a:p>
        </p:txBody>
      </p:sp>
      <p:sp>
        <p:nvSpPr>
          <p:cNvPr id="24" name="click_04_d"/>
          <p:cNvSpPr/>
          <p:nvPr/>
        </p:nvSpPr>
        <p:spPr>
          <a:xfrm>
            <a:off x="1261872" y="4498848"/>
            <a:ext cx="10012680" cy="74980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On the train split, GEPA (Agrawal et al., ICLR 2026 oral) mutates prompt text from traces and natural-language feedback (e.g. “cited a drug not in the NLEM span”). Specialist weights are never mutated. The chosen Pareto prompt is frozen. No genetic search per live user.</a:t>
            </a:r>
            <a:endParaRPr lang="en-US" sz="1300" dirty="0"/>
          </a:p>
        </p:txBody>
      </p:sp>
      <p:sp>
        <p:nvSpPr>
          <p:cNvPr id="25" name="click_05_note"/>
          <p:cNvSpPr/>
          <p:nvPr/>
        </p:nvSpPr>
        <p:spPr>
          <a:xfrm>
            <a:off x="548640" y="5577840"/>
            <a:ext cx="11091672" cy="640080"/>
          </a:xfrm>
          <a:prstGeom prst="rect">
            <a:avLst/>
          </a:prstGeom>
          <a:noFill/>
          <a:ln/>
        </p:spPr>
        <p:txBody>
          <a:bodyPr wrap="square" lIns="0" tIns="0" rIns="0" bIns="0" rtlCol="0" anchor="ctr"/>
          <a:lstStyle/>
          <a:p>
            <a:pPr indent="0" marL="0">
              <a:buNone/>
            </a:pPr>
            <a:r>
              <a:rPr lang="en-US" sz="1300" i="1" dirty="0">
                <a:solidFill>
                  <a:srgbClr val="6B6560"/>
                </a:solidFill>
                <a:latin typeface="Calibri" pitchFamily="34" charset="0"/>
                <a:ea typeface="Calibri" pitchFamily="34" charset="-122"/>
                <a:cs typeface="Calibri" pitchFamily="34" charset="-120"/>
              </a:rPr>
              <a:t>No improved numerical result is claimed in this synopsis. Imaging metrics will be reported against the source papers after experiments.</a:t>
            </a:r>
            <a:endParaRPr lang="en-US" sz="1300" dirty="0"/>
          </a:p>
        </p:txBody>
      </p:sp>
    </p:spTree>
  </p:cSld>
  <p:clrMapOvr>
    <a:masterClrMapping/>
  </p:clrMapOvr>
  <p:transition spd="med" advClick="1">
    <p:fade/>
  </p:transition>
  <p:timing>
    <p:tnLst>
      <p:par>
        <p:cTn id="1" dur="indefinite" restart="never" nodeType="tmRoot">
          <p:childTnLst>
            <p:seq concurrent="true" nextAc="seek">
              <p:cTn id="52"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8" fill="hold">
                      <p:stCondLst>
                        <p:cond delay="indefinite"/>
                      </p:stCondLst>
                      <p:childTnLst>
                        <p:par>
                          <p:cTn id="1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par>
                                <p:cTn id="16" presetID="10" presetClass="entr" presetSubtype="0" fill="hold" grpId="0" nodeType="withEffect">
                                  <p:stCondLst>
                                    <p:cond delay="0"/>
                                  </p:stCondLst>
                                  <p:childTnLst>
                                    <p:animEffect transition="in" filter="fade">
                                      <p:cBhvr>
                                        <p:cTn id="17" dur="450"/>
                                        <p:tgtEl>
                                          <p:spTgt spid="12"/>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grpId="0" nodeType="click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6"/>
                                        </p:tgtEl>
                                      </p:cBhvr>
                                    </p:animEffect>
                                  </p:childTnLst>
                                </p:cTn>
                              </p:par>
                              <p:par>
                                <p:cTn id="28" presetID="10" presetClass="entr" presetSubtype="0" fill="hold" grpId="0" nodeType="withEffect">
                                  <p:stCondLst>
                                    <p:cond delay="0"/>
                                  </p:stCondLst>
                                  <p:childTnLst>
                                    <p:animEffect transition="in" filter="fade">
                                      <p:cBhvr>
                                        <p:cTn id="29" dur="450"/>
                                        <p:tgtEl>
                                          <p:spTgt spid="17"/>
                                        </p:tgtEl>
                                      </p:cBhvr>
                                    </p:animEffect>
                                  </p:childTnLst>
                                </p:cTn>
                              </p:par>
                              <p:par>
                                <p:cTn id="30" presetID="10" presetClass="entr" presetSubtype="0" fill="hold" grpId="0" nodeType="withEffect">
                                  <p:stCondLst>
                                    <p:cond delay="0"/>
                                  </p:stCondLst>
                                  <p:childTnLst>
                                    <p:animEffect transition="in" filter="fade">
                                      <p:cBhvr>
                                        <p:cTn id="31" dur="450"/>
                                        <p:tgtEl>
                                          <p:spTgt spid="18"/>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grpId="0" nodeType="click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par>
                                <p:cTn id="40" presetID="10" presetClass="entr" presetSubtype="0" fill="hold" grpId="0" nodeType="withEffect">
                                  <p:stCondLst>
                                    <p:cond delay="0"/>
                                  </p:stCondLst>
                                  <p:childTnLst>
                                    <p:animEffect transition="in" filter="fade">
                                      <p:cBhvr>
                                        <p:cTn id="41" dur="450"/>
                                        <p:tgtEl>
                                          <p:spTgt spid="22"/>
                                        </p:tgtEl>
                                      </p:cBhvr>
                                    </p:animEffect>
                                  </p:childTnLst>
                                </p:cTn>
                              </p:par>
                              <p:par>
                                <p:cTn id="42" presetID="10" presetClass="entr" presetSubtype="0" fill="hold" grpId="0" nodeType="withEffect">
                                  <p:stCondLst>
                                    <p:cond delay="0"/>
                                  </p:stCondLst>
                                  <p:childTnLst>
                                    <p:animEffect transition="in" filter="fade">
                                      <p:cBhvr>
                                        <p:cTn id="43" dur="450"/>
                                        <p:tgtEl>
                                          <p:spTgt spid="23"/>
                                        </p:tgtEl>
                                      </p:cBhvr>
                                    </p:animEffect>
                                  </p:childTnLst>
                                </p:cTn>
                              </p:par>
                              <p:par>
                                <p:cTn id="44" presetID="10" presetClass="entr" presetSubtype="0" fill="hold" grpId="0" nodeType="withEffect">
                                  <p:stCondLst>
                                    <p:cond delay="0"/>
                                  </p:stCondLst>
                                  <p:childTnLst>
                                    <p:animEffect transition="in" filter="fade">
                                      <p:cBhvr>
                                        <p:cTn id="45" dur="450"/>
                                        <p:tgtEl>
                                          <p:spTgt spid="24"/>
                                        </p:tgtEl>
                                      </p:cBhvr>
                                    </p:animEffect>
                                  </p:childTnLst>
                                </p:cTn>
                              </p:par>
                            </p:childTnLst>
                          </p:cTn>
                        </p:par>
                      </p:childTnLst>
                    </p:cTn>
                  </p:par>
                  <p:par>
                    <p:cTn id="50" fill="hold">
                      <p:stCondLst>
                        <p:cond delay="indefinite"/>
                      </p:stCondLst>
                      <p:childTnLst>
                        <p:par>
                          <p:cTn id="51" fill="hold">
                            <p:stCondLst>
                              <p:cond delay="0"/>
                            </p:stCondLst>
                            <p:childTnLst>
                              <p:par>
                                <p:cTn id="48" presetID="10" presetClass="entr" presetSubtype="0" fill="hold" grpId="0" nodeType="clickEffect">
                                  <p:stCondLst>
                                    <p:cond delay="0"/>
                                  </p:stCondLst>
                                  <p:childTnLst>
                                    <p:animEffect transition="in" filter="fade">
                                      <p:cBhvr>
                                        <p:cTn id="49"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slides/slide8.xml><?xml version="1.0" encoding="utf-8"?>
<p:sld xmlns:a="http://schemas.openxmlformats.org/drawingml/2006/main"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08  ·  SYSTEM ARCHITECTURE</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08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End-to-end serve-time flow</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n0"/>
          <p:cNvSpPr/>
          <p:nvPr/>
        </p:nvSpPr>
        <p:spPr>
          <a:xfrm>
            <a:off x="548640" y="1298448"/>
            <a:ext cx="1956816" cy="621792"/>
          </a:xfrm>
          <a:prstGeom prst="roundRect">
            <a:avLst>
              <a:gd name="adj" fmla="val 7353"/>
            </a:avLst>
          </a:prstGeom>
          <a:solidFill>
            <a:srgbClr val="16324F"/>
          </a:solidFill>
          <a:ln/>
        </p:spPr>
      </p:sp>
      <p:sp>
        <p:nvSpPr>
          <p:cNvPr id="8" name="click_02_nt0"/>
          <p:cNvSpPr/>
          <p:nvPr/>
        </p:nvSpPr>
        <p:spPr>
          <a:xfrm>
            <a:off x="548640" y="1298448"/>
            <a:ext cx="1956816"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Question + file</a:t>
            </a:r>
            <a:endParaRPr lang="en-US" sz="1200" dirty="0"/>
          </a:p>
        </p:txBody>
      </p:sp>
      <p:sp>
        <p:nvSpPr>
          <p:cNvPr id="9" name="click_02_a0"/>
          <p:cNvSpPr/>
          <p:nvPr/>
        </p:nvSpPr>
        <p:spPr>
          <a:xfrm>
            <a:off x="2578608" y="1490472"/>
            <a:ext cx="219456" cy="219456"/>
          </a:xfrm>
          <a:prstGeom prst="rightArrow">
            <a:avLst/>
          </a:prstGeom>
          <a:solidFill>
            <a:srgbClr val="B8954A"/>
          </a:solidFill>
          <a:ln/>
        </p:spPr>
      </p:sp>
      <p:sp>
        <p:nvSpPr>
          <p:cNvPr id="10" name="click_02_n1"/>
          <p:cNvSpPr/>
          <p:nvPr/>
        </p:nvSpPr>
        <p:spPr>
          <a:xfrm>
            <a:off x="2871216" y="1298448"/>
            <a:ext cx="1956816" cy="621792"/>
          </a:xfrm>
          <a:prstGeom prst="roundRect">
            <a:avLst>
              <a:gd name="adj" fmla="val 7353"/>
            </a:avLst>
          </a:prstGeom>
          <a:solidFill>
            <a:srgbClr val="16324F"/>
          </a:solidFill>
          <a:ln/>
        </p:spPr>
      </p:sp>
      <p:sp>
        <p:nvSpPr>
          <p:cNvPr id="11" name="click_02_nt1"/>
          <p:cNvSpPr/>
          <p:nvPr/>
        </p:nvSpPr>
        <p:spPr>
          <a:xfrm>
            <a:off x="2871216" y="1298448"/>
            <a:ext cx="1956816"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Retrieve official pages</a:t>
            </a:r>
            <a:endParaRPr lang="en-US" sz="1200" dirty="0"/>
          </a:p>
        </p:txBody>
      </p:sp>
      <p:sp>
        <p:nvSpPr>
          <p:cNvPr id="12" name="click_02_a1"/>
          <p:cNvSpPr/>
          <p:nvPr/>
        </p:nvSpPr>
        <p:spPr>
          <a:xfrm>
            <a:off x="4901184" y="1490472"/>
            <a:ext cx="219456" cy="219456"/>
          </a:xfrm>
          <a:prstGeom prst="rightArrow">
            <a:avLst/>
          </a:prstGeom>
          <a:solidFill>
            <a:srgbClr val="B8954A"/>
          </a:solidFill>
          <a:ln/>
        </p:spPr>
      </p:sp>
      <p:sp>
        <p:nvSpPr>
          <p:cNvPr id="13" name="click_02_n2"/>
          <p:cNvSpPr/>
          <p:nvPr/>
        </p:nvSpPr>
        <p:spPr>
          <a:xfrm>
            <a:off x="5193792" y="1298448"/>
            <a:ext cx="1956816" cy="621792"/>
          </a:xfrm>
          <a:prstGeom prst="roundRect">
            <a:avLst>
              <a:gd name="adj" fmla="val 7353"/>
            </a:avLst>
          </a:prstGeom>
          <a:solidFill>
            <a:srgbClr val="16324F"/>
          </a:solidFill>
          <a:ln/>
        </p:spPr>
      </p:sp>
      <p:sp>
        <p:nvSpPr>
          <p:cNvPr id="14" name="click_02_nt2"/>
          <p:cNvSpPr/>
          <p:nvPr/>
        </p:nvSpPr>
        <p:spPr>
          <a:xfrm>
            <a:off x="5193792" y="1298448"/>
            <a:ext cx="1956816"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Router LLM</a:t>
            </a:r>
            <a:endParaRPr lang="en-US" sz="1200" dirty="0"/>
          </a:p>
        </p:txBody>
      </p:sp>
      <p:sp>
        <p:nvSpPr>
          <p:cNvPr id="15" name="click_02_a2"/>
          <p:cNvSpPr/>
          <p:nvPr/>
        </p:nvSpPr>
        <p:spPr>
          <a:xfrm>
            <a:off x="7223760" y="1490472"/>
            <a:ext cx="219456" cy="219456"/>
          </a:xfrm>
          <a:prstGeom prst="rightArrow">
            <a:avLst/>
          </a:prstGeom>
          <a:solidFill>
            <a:srgbClr val="B8954A"/>
          </a:solidFill>
          <a:ln/>
        </p:spPr>
      </p:sp>
      <p:sp>
        <p:nvSpPr>
          <p:cNvPr id="16" name="click_02_n3"/>
          <p:cNvSpPr/>
          <p:nvPr/>
        </p:nvSpPr>
        <p:spPr>
          <a:xfrm>
            <a:off x="7516368" y="1298448"/>
            <a:ext cx="1956816" cy="621792"/>
          </a:xfrm>
          <a:prstGeom prst="roundRect">
            <a:avLst>
              <a:gd name="adj" fmla="val 7353"/>
            </a:avLst>
          </a:prstGeom>
          <a:solidFill>
            <a:srgbClr val="16324F"/>
          </a:solidFill>
          <a:ln/>
        </p:spPr>
      </p:sp>
      <p:sp>
        <p:nvSpPr>
          <p:cNvPr id="17" name="click_02_nt3"/>
          <p:cNvSpPr/>
          <p:nvPr/>
        </p:nvSpPr>
        <p:spPr>
          <a:xfrm>
            <a:off x="7516368" y="1298448"/>
            <a:ext cx="1956816"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Host runs tool</a:t>
            </a:r>
            <a:endParaRPr lang="en-US" sz="1200" dirty="0"/>
          </a:p>
        </p:txBody>
      </p:sp>
      <p:sp>
        <p:nvSpPr>
          <p:cNvPr id="18" name="click_02_a3"/>
          <p:cNvSpPr/>
          <p:nvPr/>
        </p:nvSpPr>
        <p:spPr>
          <a:xfrm>
            <a:off x="9546336" y="1490472"/>
            <a:ext cx="219456" cy="219456"/>
          </a:xfrm>
          <a:prstGeom prst="rightArrow">
            <a:avLst/>
          </a:prstGeom>
          <a:solidFill>
            <a:srgbClr val="B8954A"/>
          </a:solidFill>
          <a:ln/>
        </p:spPr>
      </p:sp>
      <p:sp>
        <p:nvSpPr>
          <p:cNvPr id="19" name="click_02_n4"/>
          <p:cNvSpPr/>
          <p:nvPr/>
        </p:nvSpPr>
        <p:spPr>
          <a:xfrm>
            <a:off x="9838944" y="1298448"/>
            <a:ext cx="1956816" cy="621792"/>
          </a:xfrm>
          <a:prstGeom prst="roundRect">
            <a:avLst>
              <a:gd name="adj" fmla="val 7353"/>
            </a:avLst>
          </a:prstGeom>
          <a:solidFill>
            <a:srgbClr val="16324F"/>
          </a:solidFill>
          <a:ln/>
        </p:spPr>
      </p:sp>
      <p:sp>
        <p:nvSpPr>
          <p:cNvPr id="20" name="click_02_nt4"/>
          <p:cNvSpPr/>
          <p:nvPr/>
        </p:nvSpPr>
        <p:spPr>
          <a:xfrm>
            <a:off x="9838944" y="1298448"/>
            <a:ext cx="1956816"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Answer LLM</a:t>
            </a:r>
            <a:endParaRPr lang="en-US" sz="1200" dirty="0"/>
          </a:p>
        </p:txBody>
      </p:sp>
      <p:sp>
        <p:nvSpPr>
          <p:cNvPr id="21" name="click_03_lab"/>
          <p:cNvSpPr/>
          <p:nvPr/>
        </p:nvSpPr>
        <p:spPr>
          <a:xfrm>
            <a:off x="548640" y="2066544"/>
            <a:ext cx="11091672" cy="237744"/>
          </a:xfrm>
          <a:prstGeom prst="rect">
            <a:avLst/>
          </a:prstGeom>
          <a:noFill/>
          <a:ln/>
        </p:spPr>
        <p:txBody>
          <a:bodyPr wrap="square" lIns="0" tIns="0" rIns="0" bIns="0" rtlCol="0" anchor="ctr"/>
          <a:lstStyle/>
          <a:p>
            <a:pPr indent="0" marL="0">
              <a:buNone/>
            </a:pPr>
            <a:r>
              <a:rPr lang="en-US" sz="1100" spc="120" kern="0" dirty="0">
                <a:solidFill>
                  <a:srgbClr val="B8954A"/>
                </a:solidFill>
                <a:latin typeface="Calibri" pitchFamily="34" charset="0"/>
                <a:ea typeface="Calibri" pitchFamily="34" charset="-122"/>
                <a:cs typeface="Calibri" pitchFamily="34" charset="-120"/>
              </a:rPr>
              <a:t>SPECIALIST CATALOGUE  ·  HOST EXECUTION</a:t>
            </a:r>
            <a:endParaRPr lang="en-US" sz="1100" dirty="0"/>
          </a:p>
        </p:txBody>
      </p:sp>
      <p:sp>
        <p:nvSpPr>
          <p:cNvPr id="22" name="click_03_tb0"/>
          <p:cNvSpPr/>
          <p:nvPr/>
        </p:nvSpPr>
        <p:spPr>
          <a:xfrm>
            <a:off x="548640" y="2359152"/>
            <a:ext cx="1517904" cy="841248"/>
          </a:xfrm>
          <a:prstGeom prst="rect">
            <a:avLst/>
          </a:prstGeom>
          <a:solidFill>
            <a:srgbClr val="FFFCF7"/>
          </a:solidFill>
          <a:ln w="12700">
            <a:solidFill>
              <a:srgbClr val="D9D2C5"/>
            </a:solidFill>
            <a:prstDash val="solid"/>
          </a:ln>
        </p:spPr>
      </p:sp>
      <p:sp>
        <p:nvSpPr>
          <p:cNvPr id="23" name="click_03_tt0"/>
          <p:cNvSpPr/>
          <p:nvPr/>
        </p:nvSpPr>
        <p:spPr>
          <a:xfrm>
            <a:off x="548640"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cxr_tool</a:t>
            </a:r>
            <a:endParaRPr lang="en-US" sz="1000" dirty="0"/>
          </a:p>
        </p:txBody>
      </p:sp>
      <p:sp>
        <p:nvSpPr>
          <p:cNvPr id="24" name="click_03_td0"/>
          <p:cNvSpPr/>
          <p:nvPr/>
        </p:nvSpPr>
        <p:spPr>
          <a:xfrm>
            <a:off x="548640"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CheXpert CNN</a:t>
            </a:r>
            <a:endParaRPr lang="en-US" sz="1000" dirty="0"/>
          </a:p>
        </p:txBody>
      </p:sp>
      <p:sp>
        <p:nvSpPr>
          <p:cNvPr id="25" name="click_03_tb1"/>
          <p:cNvSpPr/>
          <p:nvPr/>
        </p:nvSpPr>
        <p:spPr>
          <a:xfrm>
            <a:off x="2157984" y="2359152"/>
            <a:ext cx="1517904" cy="841248"/>
          </a:xfrm>
          <a:prstGeom prst="rect">
            <a:avLst/>
          </a:prstGeom>
          <a:solidFill>
            <a:srgbClr val="FFFCF7"/>
          </a:solidFill>
          <a:ln w="12700">
            <a:solidFill>
              <a:srgbClr val="D9D2C5"/>
            </a:solidFill>
            <a:prstDash val="solid"/>
          </a:ln>
        </p:spPr>
      </p:sp>
      <p:sp>
        <p:nvSpPr>
          <p:cNvPr id="26" name="click_03_tt1"/>
          <p:cNvSpPr/>
          <p:nvPr/>
        </p:nvSpPr>
        <p:spPr>
          <a:xfrm>
            <a:off x="2157984"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skin_tool</a:t>
            </a:r>
            <a:endParaRPr lang="en-US" sz="1000" dirty="0"/>
          </a:p>
        </p:txBody>
      </p:sp>
      <p:sp>
        <p:nvSpPr>
          <p:cNvPr id="27" name="click_03_td1"/>
          <p:cNvSpPr/>
          <p:nvPr/>
        </p:nvSpPr>
        <p:spPr>
          <a:xfrm>
            <a:off x="2157984"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HAM10000 / ISIC</a:t>
            </a:r>
            <a:endParaRPr lang="en-US" sz="1000" dirty="0"/>
          </a:p>
        </p:txBody>
      </p:sp>
      <p:sp>
        <p:nvSpPr>
          <p:cNvPr id="28" name="click_03_tb2"/>
          <p:cNvSpPr/>
          <p:nvPr/>
        </p:nvSpPr>
        <p:spPr>
          <a:xfrm>
            <a:off x="3767328" y="2359152"/>
            <a:ext cx="1517904" cy="841248"/>
          </a:xfrm>
          <a:prstGeom prst="rect">
            <a:avLst/>
          </a:prstGeom>
          <a:solidFill>
            <a:srgbClr val="FFFCF7"/>
          </a:solidFill>
          <a:ln w="12700">
            <a:solidFill>
              <a:srgbClr val="D9D2C5"/>
            </a:solidFill>
            <a:prstDash val="solid"/>
          </a:ln>
        </p:spPr>
      </p:sp>
      <p:sp>
        <p:nvSpPr>
          <p:cNvPr id="29" name="click_03_tt2"/>
          <p:cNvSpPr/>
          <p:nvPr/>
        </p:nvSpPr>
        <p:spPr>
          <a:xfrm>
            <a:off x="3767328"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document_tool</a:t>
            </a:r>
            <a:endParaRPr lang="en-US" sz="1000" dirty="0"/>
          </a:p>
        </p:txBody>
      </p:sp>
      <p:sp>
        <p:nvSpPr>
          <p:cNvPr id="30" name="click_03_td2"/>
          <p:cNvSpPr/>
          <p:nvPr/>
        </p:nvSpPr>
        <p:spPr>
          <a:xfrm>
            <a:off x="3767328"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OCR / KIE</a:t>
            </a:r>
            <a:endParaRPr lang="en-US" sz="1000" dirty="0"/>
          </a:p>
        </p:txBody>
      </p:sp>
      <p:sp>
        <p:nvSpPr>
          <p:cNvPr id="31" name="click_03_tb3"/>
          <p:cNvSpPr/>
          <p:nvPr/>
        </p:nvSpPr>
        <p:spPr>
          <a:xfrm>
            <a:off x="5376672" y="2359152"/>
            <a:ext cx="1517904" cy="841248"/>
          </a:xfrm>
          <a:prstGeom prst="rect">
            <a:avLst/>
          </a:prstGeom>
          <a:solidFill>
            <a:srgbClr val="FFFCF7"/>
          </a:solidFill>
          <a:ln w="12700">
            <a:solidFill>
              <a:srgbClr val="D9D2C5"/>
            </a:solidFill>
            <a:prstDash val="solid"/>
          </a:ln>
        </p:spPr>
      </p:sp>
      <p:sp>
        <p:nvSpPr>
          <p:cNvPr id="32" name="click_03_tt3"/>
          <p:cNvSpPr/>
          <p:nvPr/>
        </p:nvSpPr>
        <p:spPr>
          <a:xfrm>
            <a:off x="5376672"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nlem_lookup</a:t>
            </a:r>
            <a:endParaRPr lang="en-US" sz="1000" dirty="0"/>
          </a:p>
        </p:txBody>
      </p:sp>
      <p:sp>
        <p:nvSpPr>
          <p:cNvPr id="33" name="click_03_td3"/>
          <p:cNvSpPr/>
          <p:nvPr/>
        </p:nvSpPr>
        <p:spPr>
          <a:xfrm>
            <a:off x="5376672"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NLEM 2022</a:t>
            </a:r>
            <a:endParaRPr lang="en-US" sz="1000" dirty="0"/>
          </a:p>
        </p:txBody>
      </p:sp>
      <p:sp>
        <p:nvSpPr>
          <p:cNvPr id="34" name="click_03_tb4"/>
          <p:cNvSpPr/>
          <p:nvPr/>
        </p:nvSpPr>
        <p:spPr>
          <a:xfrm>
            <a:off x="6986016" y="2359152"/>
            <a:ext cx="1517904" cy="841248"/>
          </a:xfrm>
          <a:prstGeom prst="rect">
            <a:avLst/>
          </a:prstGeom>
          <a:solidFill>
            <a:srgbClr val="FFFCF7"/>
          </a:solidFill>
          <a:ln w="12700">
            <a:solidFill>
              <a:srgbClr val="D9D2C5"/>
            </a:solidFill>
            <a:prstDash val="solid"/>
          </a:ln>
        </p:spPr>
      </p:sp>
      <p:sp>
        <p:nvSpPr>
          <p:cNvPr id="35" name="click_03_tt4"/>
          <p:cNvSpPr/>
          <p:nvPr/>
        </p:nvSpPr>
        <p:spPr>
          <a:xfrm>
            <a:off x="6986016"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cdsco_lookup</a:t>
            </a:r>
            <a:endParaRPr lang="en-US" sz="1000" dirty="0"/>
          </a:p>
        </p:txBody>
      </p:sp>
      <p:sp>
        <p:nvSpPr>
          <p:cNvPr id="36" name="click_03_td4"/>
          <p:cNvSpPr/>
          <p:nvPr/>
        </p:nvSpPr>
        <p:spPr>
          <a:xfrm>
            <a:off x="6986016"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NSQ snapshot</a:t>
            </a:r>
            <a:endParaRPr lang="en-US" sz="1000" dirty="0"/>
          </a:p>
        </p:txBody>
      </p:sp>
      <p:sp>
        <p:nvSpPr>
          <p:cNvPr id="37" name="click_03_tb5"/>
          <p:cNvSpPr/>
          <p:nvPr/>
        </p:nvSpPr>
        <p:spPr>
          <a:xfrm>
            <a:off x="8595360" y="2359152"/>
            <a:ext cx="1517904" cy="841248"/>
          </a:xfrm>
          <a:prstGeom prst="rect">
            <a:avLst/>
          </a:prstGeom>
          <a:solidFill>
            <a:srgbClr val="FFFCF7"/>
          </a:solidFill>
          <a:ln w="12700">
            <a:solidFill>
              <a:srgbClr val="D9D2C5"/>
            </a:solidFill>
            <a:prstDash val="solid"/>
          </a:ln>
        </p:spPr>
      </p:sp>
      <p:sp>
        <p:nvSpPr>
          <p:cNvPr id="38" name="click_03_tt5"/>
          <p:cNvSpPr/>
          <p:nvPr/>
        </p:nvSpPr>
        <p:spPr>
          <a:xfrm>
            <a:off x="8595360"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stw_retrieve</a:t>
            </a:r>
            <a:endParaRPr lang="en-US" sz="1000" dirty="0"/>
          </a:p>
        </p:txBody>
      </p:sp>
      <p:sp>
        <p:nvSpPr>
          <p:cNvPr id="39" name="click_03_td5"/>
          <p:cNvSpPr/>
          <p:nvPr/>
        </p:nvSpPr>
        <p:spPr>
          <a:xfrm>
            <a:off x="8595360"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ColPali pages</a:t>
            </a:r>
            <a:endParaRPr lang="en-US" sz="1000" dirty="0"/>
          </a:p>
        </p:txBody>
      </p:sp>
      <p:sp>
        <p:nvSpPr>
          <p:cNvPr id="40" name="click_03_tb6"/>
          <p:cNvSpPr/>
          <p:nvPr/>
        </p:nvSpPr>
        <p:spPr>
          <a:xfrm>
            <a:off x="10204704" y="2359152"/>
            <a:ext cx="1517904" cy="841248"/>
          </a:xfrm>
          <a:prstGeom prst="rect">
            <a:avLst/>
          </a:prstGeom>
          <a:solidFill>
            <a:srgbClr val="FFFCF7"/>
          </a:solidFill>
          <a:ln w="12700">
            <a:solidFill>
              <a:srgbClr val="D9D2C5"/>
            </a:solidFill>
            <a:prstDash val="solid"/>
          </a:ln>
        </p:spPr>
      </p:sp>
      <p:sp>
        <p:nvSpPr>
          <p:cNvPr id="41" name="click_03_tt6"/>
          <p:cNvSpPr/>
          <p:nvPr/>
        </p:nvSpPr>
        <p:spPr>
          <a:xfrm>
            <a:off x="10204704" y="2414016"/>
            <a:ext cx="1517904" cy="365760"/>
          </a:xfrm>
          <a:prstGeom prst="rect">
            <a:avLst/>
          </a:prstGeom>
          <a:noFill/>
          <a:ln/>
        </p:spPr>
        <p:txBody>
          <a:bodyPr wrap="square" lIns="0" tIns="0" rIns="0" bIns="0" rtlCol="0" anchor="ctr"/>
          <a:lstStyle/>
          <a:p>
            <a:pPr algn="ctr" indent="0" marL="0">
              <a:buNone/>
            </a:pPr>
            <a:r>
              <a:rPr lang="en-US" sz="1000" b="1" dirty="0">
                <a:solidFill>
                  <a:srgbClr val="16324F"/>
                </a:solidFill>
                <a:latin typeface="Calibri" pitchFamily="34" charset="0"/>
                <a:ea typeface="Calibri" pitchFamily="34" charset="-122"/>
                <a:cs typeface="Calibri" pitchFamily="34" charset="-120"/>
              </a:rPr>
              <a:t>out_of_scope</a:t>
            </a:r>
            <a:endParaRPr lang="en-US" sz="1000" dirty="0"/>
          </a:p>
        </p:txBody>
      </p:sp>
      <p:sp>
        <p:nvSpPr>
          <p:cNvPr id="42" name="click_03_td6"/>
          <p:cNvSpPr/>
          <p:nvPr/>
        </p:nvSpPr>
        <p:spPr>
          <a:xfrm>
            <a:off x="10204704" y="2779776"/>
            <a:ext cx="1517904" cy="329184"/>
          </a:xfrm>
          <a:prstGeom prst="rect">
            <a:avLst/>
          </a:prstGeom>
          <a:noFill/>
          <a:ln/>
        </p:spPr>
        <p:txBody>
          <a:bodyPr wrap="square" lIns="0" tIns="0" rIns="0" bIns="0" rtlCol="0" anchor="ctr"/>
          <a:lstStyle/>
          <a:p>
            <a:pPr algn="ctr" indent="0" marL="0">
              <a:buNone/>
            </a:pPr>
            <a:r>
              <a:rPr lang="en-US" sz="1000" dirty="0">
                <a:solidFill>
                  <a:srgbClr val="6B6560"/>
                </a:solidFill>
                <a:latin typeface="Calibri" pitchFamily="34" charset="0"/>
                <a:ea typeface="Calibri" pitchFamily="34" charset="-122"/>
                <a:cs typeface="Calibri" pitchFamily="34" charset="-120"/>
              </a:rPr>
              <a:t>Refuse</a:t>
            </a:r>
            <a:endParaRPr lang="en-US" sz="1000" dirty="0"/>
          </a:p>
        </p:txBody>
      </p:sp>
      <p:sp>
        <p:nvSpPr>
          <p:cNvPr id="43" name="click_04_bg"/>
          <p:cNvSpPr/>
          <p:nvPr/>
        </p:nvSpPr>
        <p:spPr>
          <a:xfrm>
            <a:off x="548640" y="3383280"/>
            <a:ext cx="3611880" cy="138988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44" name="click_04_bar"/>
          <p:cNvSpPr/>
          <p:nvPr/>
        </p:nvSpPr>
        <p:spPr>
          <a:xfrm>
            <a:off x="548640" y="3383280"/>
            <a:ext cx="64008" cy="1389888"/>
          </a:xfrm>
          <a:prstGeom prst="rect">
            <a:avLst/>
          </a:prstGeom>
          <a:solidFill>
            <a:srgbClr val="2F5D50"/>
          </a:solidFill>
          <a:ln/>
        </p:spPr>
      </p:sp>
      <p:sp>
        <p:nvSpPr>
          <p:cNvPr id="45" name="click_04_ot0"/>
          <p:cNvSpPr/>
          <p:nvPr/>
        </p:nvSpPr>
        <p:spPr>
          <a:xfrm>
            <a:off x="804672" y="3493008"/>
            <a:ext cx="315468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Grounded</a:t>
            </a:r>
            <a:endParaRPr lang="en-US" sz="1600" dirty="0"/>
          </a:p>
        </p:txBody>
      </p:sp>
      <p:sp>
        <p:nvSpPr>
          <p:cNvPr id="46" name="click_04_od0"/>
          <p:cNvSpPr/>
          <p:nvPr/>
        </p:nvSpPr>
        <p:spPr>
          <a:xfrm>
            <a:off x="804672" y="3822192"/>
            <a:ext cx="3154680" cy="82296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Sentence entailed by an STW box, NLEM row, or CDSCO row plus tool JSON.</a:t>
            </a:r>
            <a:endParaRPr lang="en-US" sz="1300" dirty="0"/>
          </a:p>
        </p:txBody>
      </p:sp>
      <p:sp>
        <p:nvSpPr>
          <p:cNvPr id="47" name="click_04_bg"/>
          <p:cNvSpPr/>
          <p:nvPr/>
        </p:nvSpPr>
        <p:spPr>
          <a:xfrm>
            <a:off x="4343400" y="3383280"/>
            <a:ext cx="3611880" cy="138988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48" name="click_04_bar"/>
          <p:cNvSpPr/>
          <p:nvPr/>
        </p:nvSpPr>
        <p:spPr>
          <a:xfrm>
            <a:off x="4343400" y="3383280"/>
            <a:ext cx="64008" cy="1389888"/>
          </a:xfrm>
          <a:prstGeom prst="rect">
            <a:avLst/>
          </a:prstGeom>
          <a:solidFill>
            <a:srgbClr val="16324F"/>
          </a:solidFill>
          <a:ln/>
        </p:spPr>
      </p:sp>
      <p:sp>
        <p:nvSpPr>
          <p:cNvPr id="49" name="click_04_ot1"/>
          <p:cNvSpPr/>
          <p:nvPr/>
        </p:nvSpPr>
        <p:spPr>
          <a:xfrm>
            <a:off x="4599432" y="3493008"/>
            <a:ext cx="315468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Insufficient</a:t>
            </a:r>
            <a:endParaRPr lang="en-US" sz="1600" dirty="0"/>
          </a:p>
        </p:txBody>
      </p:sp>
      <p:sp>
        <p:nvSpPr>
          <p:cNvPr id="50" name="click_04_od1"/>
          <p:cNvSpPr/>
          <p:nvPr/>
        </p:nvSpPr>
        <p:spPr>
          <a:xfrm>
            <a:off x="4599432" y="3822192"/>
            <a:ext cx="3154680" cy="82296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Unreadable, missing span, or tools disagree after one extra look.</a:t>
            </a:r>
            <a:endParaRPr lang="en-US" sz="1300" dirty="0"/>
          </a:p>
        </p:txBody>
      </p:sp>
      <p:sp>
        <p:nvSpPr>
          <p:cNvPr id="51" name="click_04_bg"/>
          <p:cNvSpPr/>
          <p:nvPr/>
        </p:nvSpPr>
        <p:spPr>
          <a:xfrm>
            <a:off x="8138160" y="3383280"/>
            <a:ext cx="3611880" cy="138988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52" name="click_04_bar"/>
          <p:cNvSpPr/>
          <p:nvPr/>
        </p:nvSpPr>
        <p:spPr>
          <a:xfrm>
            <a:off x="8138160" y="3383280"/>
            <a:ext cx="64008" cy="1389888"/>
          </a:xfrm>
          <a:prstGeom prst="rect">
            <a:avLst/>
          </a:prstGeom>
          <a:solidFill>
            <a:srgbClr val="8B3A3A"/>
          </a:solidFill>
          <a:ln/>
        </p:spPr>
      </p:sp>
      <p:sp>
        <p:nvSpPr>
          <p:cNvPr id="53" name="click_04_ot2"/>
          <p:cNvSpPr/>
          <p:nvPr/>
        </p:nvSpPr>
        <p:spPr>
          <a:xfrm>
            <a:off x="8394192" y="3493008"/>
            <a:ext cx="315468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Out of scope</a:t>
            </a:r>
            <a:endParaRPr lang="en-US" sz="1600" dirty="0"/>
          </a:p>
        </p:txBody>
      </p:sp>
      <p:sp>
        <p:nvSpPr>
          <p:cNvPr id="54" name="click_04_od2"/>
          <p:cNvSpPr/>
          <p:nvPr/>
        </p:nvSpPr>
        <p:spPr>
          <a:xfrm>
            <a:off x="8394192" y="3822192"/>
            <a:ext cx="3154680" cy="82296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No specialist is run. No clinical sentence is written.</a:t>
            </a:r>
            <a:endParaRPr lang="en-US" sz="1300" dirty="0"/>
          </a:p>
        </p:txBody>
      </p:sp>
      <p:sp>
        <p:nvSpPr>
          <p:cNvPr id="55" name="click_05_note"/>
          <p:cNvSpPr/>
          <p:nvPr/>
        </p:nvSpPr>
        <p:spPr>
          <a:xfrm>
            <a:off x="548640" y="4956048"/>
            <a:ext cx="11091672" cy="822960"/>
          </a:xfrm>
          <a:prstGeom prst="rect">
            <a:avLst/>
          </a:prstGeom>
          <a:noFill/>
          <a:ln/>
        </p:spPr>
        <p:txBody>
          <a:bodyPr wrap="square" lIns="0" tIns="0" rIns="0" bIns="0" rtlCol="0" anchor="ctr"/>
          <a:lstStyle/>
          <a:p>
            <a:pPr indent="0" marL="0">
              <a:buNone/>
            </a:pPr>
            <a:r>
              <a:rPr lang="en-US" sz="1300" i="1" dirty="0">
                <a:solidFill>
                  <a:srgbClr val="6B6560"/>
                </a:solidFill>
                <a:latin typeface="Calibri" pitchFamily="34" charset="0"/>
                <a:ea typeface="Calibri" pitchFamily="34" charset="-122"/>
                <a:cs typeface="Calibri" pitchFamily="34" charset="-120"/>
              </a:rPr>
              <a:t>Verifier is code in FastAPI. GEPA does not run on this path. Watermark on every card: not a diagnosis.</a:t>
            </a:r>
            <a:endParaRPr lang="en-US" sz="1300" dirty="0"/>
          </a:p>
        </p:txBody>
      </p:sp>
    </p:spTree>
  </p:cSld>
  <p:clrMapOvr>
    <a:masterClrMapping/>
  </p:clrMapOvr>
  <p:transition spd="med" advClick="1">
    <p:fade/>
  </p:transition>
  <p:timing>
    <p:tnLst>
      <p:par>
        <p:cTn id="1" dur="indefinite" restart="never" nodeType="tmRoot">
          <p:childTnLst>
            <p:seq concurrent="true" nextAc="seek">
              <p:cTn id="112"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34" fill="hold">
                      <p:stCondLst>
                        <p:cond delay="indefinite"/>
                      </p:stCondLst>
                      <p:childTnLst>
                        <p:par>
                          <p:cTn id="35"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par>
                                <p:cTn id="16" presetID="10" presetClass="entr" presetSubtype="0" fill="hold" grpId="0" nodeType="withEffect">
                                  <p:stCondLst>
                                    <p:cond delay="0"/>
                                  </p:stCondLst>
                                  <p:childTnLst>
                                    <p:animEffect transition="in" filter="fade">
                                      <p:cBhvr>
                                        <p:cTn id="17" dur="450"/>
                                        <p:tgtEl>
                                          <p:spTgt spid="12"/>
                                        </p:tgtEl>
                                      </p:cBhvr>
                                    </p:animEffect>
                                  </p:childTnLst>
                                </p:cTn>
                              </p:par>
                              <p:par>
                                <p:cTn id="18" presetID="10" presetClass="entr" presetSubtype="0" fill="hold" grpId="0" nodeType="withEffect">
                                  <p:stCondLst>
                                    <p:cond delay="0"/>
                                  </p:stCondLst>
                                  <p:childTnLst>
                                    <p:animEffect transition="in" filter="fade">
                                      <p:cBhvr>
                                        <p:cTn id="19" dur="450"/>
                                        <p:tgtEl>
                                          <p:spTgt spid="13"/>
                                        </p:tgtEl>
                                      </p:cBhvr>
                                    </p:animEffect>
                                  </p:childTnLst>
                                </p:cTn>
                              </p:par>
                              <p:par>
                                <p:cTn id="20" presetID="10" presetClass="entr" presetSubtype="0" fill="hold" grpId="0" nodeType="withEffect">
                                  <p:stCondLst>
                                    <p:cond delay="0"/>
                                  </p:stCondLst>
                                  <p:childTnLst>
                                    <p:animEffect transition="in" filter="fade">
                                      <p:cBhvr>
                                        <p:cTn id="21" dur="450"/>
                                        <p:tgtEl>
                                          <p:spTgt spid="14"/>
                                        </p:tgtEl>
                                      </p:cBhvr>
                                    </p:animEffect>
                                  </p:childTnLst>
                                </p:cTn>
                              </p:par>
                              <p:par>
                                <p:cTn id="22" presetID="10" presetClass="entr" presetSubtype="0" fill="hold" grpId="0" nodeType="withEffect">
                                  <p:stCondLst>
                                    <p:cond delay="0"/>
                                  </p:stCondLst>
                                  <p:childTnLst>
                                    <p:animEffect transition="in" filter="fade">
                                      <p:cBhvr>
                                        <p:cTn id="23" dur="450"/>
                                        <p:tgtEl>
                                          <p:spTgt spid="15"/>
                                        </p:tgtEl>
                                      </p:cBhvr>
                                    </p:animEffect>
                                  </p:childTnLst>
                                </p:cTn>
                              </p:par>
                              <p:par>
                                <p:cTn id="24" presetID="10" presetClass="entr" presetSubtype="0" fill="hold" grpId="0" nodeType="withEffect">
                                  <p:stCondLst>
                                    <p:cond delay="0"/>
                                  </p:stCondLst>
                                  <p:childTnLst>
                                    <p:animEffect transition="in" filter="fade">
                                      <p:cBhvr>
                                        <p:cTn id="25" dur="450"/>
                                        <p:tgtEl>
                                          <p:spTgt spid="16"/>
                                        </p:tgtEl>
                                      </p:cBhvr>
                                    </p:animEffect>
                                  </p:childTnLst>
                                </p:cTn>
                              </p:par>
                              <p:par>
                                <p:cTn id="26" presetID="10" presetClass="entr" presetSubtype="0" fill="hold" grpId="0" nodeType="withEffect">
                                  <p:stCondLst>
                                    <p:cond delay="0"/>
                                  </p:stCondLst>
                                  <p:childTnLst>
                                    <p:animEffect transition="in" filter="fade">
                                      <p:cBhvr>
                                        <p:cTn id="27" dur="450"/>
                                        <p:tgtEl>
                                          <p:spTgt spid="17"/>
                                        </p:tgtEl>
                                      </p:cBhvr>
                                    </p:animEffect>
                                  </p:childTnLst>
                                </p:cTn>
                              </p:par>
                              <p:par>
                                <p:cTn id="28" presetID="10" presetClass="entr" presetSubtype="0" fill="hold" grpId="0" nodeType="withEffect">
                                  <p:stCondLst>
                                    <p:cond delay="0"/>
                                  </p:stCondLst>
                                  <p:childTnLst>
                                    <p:animEffect transition="in" filter="fade">
                                      <p:cBhvr>
                                        <p:cTn id="29" dur="450"/>
                                        <p:tgtEl>
                                          <p:spTgt spid="18"/>
                                        </p:tgtEl>
                                      </p:cBhvr>
                                    </p:animEffect>
                                  </p:childTnLst>
                                </p:cTn>
                              </p:par>
                              <p:par>
                                <p:cTn id="30" presetID="10" presetClass="entr" presetSubtype="0" fill="hold" grpId="0" nodeType="withEffect">
                                  <p:stCondLst>
                                    <p:cond delay="0"/>
                                  </p:stCondLst>
                                  <p:childTnLst>
                                    <p:animEffect transition="in" filter="fade">
                                      <p:cBhvr>
                                        <p:cTn id="31" dur="450"/>
                                        <p:tgtEl>
                                          <p:spTgt spid="19"/>
                                        </p:tgtEl>
                                      </p:cBhvr>
                                    </p:animEffect>
                                  </p:childTnLst>
                                </p:cTn>
                              </p:par>
                              <p:par>
                                <p:cTn id="32" presetID="10" presetClass="entr" presetSubtype="0" fill="hold" grpId="0" nodeType="withEffect">
                                  <p:stCondLst>
                                    <p:cond delay="0"/>
                                  </p:stCondLst>
                                  <p:childTnLst>
                                    <p:animEffect transition="in" filter="fade">
                                      <p:cBhvr>
                                        <p:cTn id="33" dur="450"/>
                                        <p:tgtEl>
                                          <p:spTgt spid="20"/>
                                        </p:tgtEl>
                                      </p:cBhvr>
                                    </p:animEffect>
                                  </p:childTnLst>
                                </p:cTn>
                              </p:par>
                            </p:childTnLst>
                          </p:cTn>
                        </p:par>
                      </p:childTnLst>
                    </p:cTn>
                  </p:par>
                  <p:par>
                    <p:cTn id="80" fill="hold">
                      <p:stCondLst>
                        <p:cond delay="indefinite"/>
                      </p:stCondLst>
                      <p:childTnLst>
                        <p:par>
                          <p:cTn id="81" fill="hold">
                            <p:stCondLst>
                              <p:cond delay="0"/>
                            </p:stCondLst>
                            <p:childTnLst>
                              <p:par>
                                <p:cTn id="36" presetID="10" presetClass="entr" presetSubtype="0" fill="hold" grpId="0" nodeType="clickEffect">
                                  <p:stCondLst>
                                    <p:cond delay="0"/>
                                  </p:stCondLst>
                                  <p:childTnLst>
                                    <p:animEffect transition="in" filter="fade">
                                      <p:cBhvr>
                                        <p:cTn id="37" dur="450"/>
                                        <p:tgtEl>
                                          <p:spTgt spid="21"/>
                                        </p:tgtEl>
                                      </p:cBhvr>
                                    </p:animEffect>
                                  </p:childTnLst>
                                </p:cTn>
                              </p:par>
                              <p:par>
                                <p:cTn id="38" presetID="10" presetClass="entr" presetSubtype="0" fill="hold" grpId="0" nodeType="withEffect">
                                  <p:stCondLst>
                                    <p:cond delay="0"/>
                                  </p:stCondLst>
                                  <p:childTnLst>
                                    <p:animEffect transition="in" filter="fade">
                                      <p:cBhvr>
                                        <p:cTn id="39" dur="450"/>
                                        <p:tgtEl>
                                          <p:spTgt spid="22"/>
                                        </p:tgtEl>
                                      </p:cBhvr>
                                    </p:animEffect>
                                  </p:childTnLst>
                                </p:cTn>
                              </p:par>
                              <p:par>
                                <p:cTn id="40" presetID="10" presetClass="entr" presetSubtype="0" fill="hold" grpId="0" nodeType="withEffect">
                                  <p:stCondLst>
                                    <p:cond delay="0"/>
                                  </p:stCondLst>
                                  <p:childTnLst>
                                    <p:animEffect transition="in" filter="fade">
                                      <p:cBhvr>
                                        <p:cTn id="41" dur="450"/>
                                        <p:tgtEl>
                                          <p:spTgt spid="23"/>
                                        </p:tgtEl>
                                      </p:cBhvr>
                                    </p:animEffect>
                                  </p:childTnLst>
                                </p:cTn>
                              </p:par>
                              <p:par>
                                <p:cTn id="42" presetID="10" presetClass="entr" presetSubtype="0" fill="hold" grpId="0" nodeType="withEffect">
                                  <p:stCondLst>
                                    <p:cond delay="0"/>
                                  </p:stCondLst>
                                  <p:childTnLst>
                                    <p:animEffect transition="in" filter="fade">
                                      <p:cBhvr>
                                        <p:cTn id="43" dur="450"/>
                                        <p:tgtEl>
                                          <p:spTgt spid="24"/>
                                        </p:tgtEl>
                                      </p:cBhvr>
                                    </p:animEffect>
                                  </p:childTnLst>
                                </p:cTn>
                              </p:par>
                              <p:par>
                                <p:cTn id="44" presetID="10" presetClass="entr" presetSubtype="0" fill="hold" grpId="0" nodeType="withEffect">
                                  <p:stCondLst>
                                    <p:cond delay="0"/>
                                  </p:stCondLst>
                                  <p:childTnLst>
                                    <p:animEffect transition="in" filter="fade">
                                      <p:cBhvr>
                                        <p:cTn id="45" dur="450"/>
                                        <p:tgtEl>
                                          <p:spTgt spid="25"/>
                                        </p:tgtEl>
                                      </p:cBhvr>
                                    </p:animEffect>
                                  </p:childTnLst>
                                </p:cTn>
                              </p:par>
                              <p:par>
                                <p:cTn id="46" presetID="10" presetClass="entr" presetSubtype="0" fill="hold" grpId="0" nodeType="withEffect">
                                  <p:stCondLst>
                                    <p:cond delay="0"/>
                                  </p:stCondLst>
                                  <p:childTnLst>
                                    <p:animEffect transition="in" filter="fade">
                                      <p:cBhvr>
                                        <p:cTn id="47" dur="450"/>
                                        <p:tgtEl>
                                          <p:spTgt spid="26"/>
                                        </p:tgtEl>
                                      </p:cBhvr>
                                    </p:animEffect>
                                  </p:childTnLst>
                                </p:cTn>
                              </p:par>
                              <p:par>
                                <p:cTn id="48" presetID="10" presetClass="entr" presetSubtype="0" fill="hold" grpId="0" nodeType="withEffect">
                                  <p:stCondLst>
                                    <p:cond delay="0"/>
                                  </p:stCondLst>
                                  <p:childTnLst>
                                    <p:animEffect transition="in" filter="fade">
                                      <p:cBhvr>
                                        <p:cTn id="49" dur="450"/>
                                        <p:tgtEl>
                                          <p:spTgt spid="27"/>
                                        </p:tgtEl>
                                      </p:cBhvr>
                                    </p:animEffect>
                                  </p:childTnLst>
                                </p:cTn>
                              </p:par>
                              <p:par>
                                <p:cTn id="50" presetID="10" presetClass="entr" presetSubtype="0" fill="hold" grpId="0" nodeType="withEffect">
                                  <p:stCondLst>
                                    <p:cond delay="0"/>
                                  </p:stCondLst>
                                  <p:childTnLst>
                                    <p:animEffect transition="in" filter="fade">
                                      <p:cBhvr>
                                        <p:cTn id="51" dur="450"/>
                                        <p:tgtEl>
                                          <p:spTgt spid="28"/>
                                        </p:tgtEl>
                                      </p:cBhvr>
                                    </p:animEffect>
                                  </p:childTnLst>
                                </p:cTn>
                              </p:par>
                              <p:par>
                                <p:cTn id="52" presetID="10" presetClass="entr" presetSubtype="0" fill="hold" grpId="0" nodeType="withEffect">
                                  <p:stCondLst>
                                    <p:cond delay="0"/>
                                  </p:stCondLst>
                                  <p:childTnLst>
                                    <p:animEffect transition="in" filter="fade">
                                      <p:cBhvr>
                                        <p:cTn id="53" dur="450"/>
                                        <p:tgtEl>
                                          <p:spTgt spid="29"/>
                                        </p:tgtEl>
                                      </p:cBhvr>
                                    </p:animEffect>
                                  </p:childTnLst>
                                </p:cTn>
                              </p:par>
                              <p:par>
                                <p:cTn id="54" presetID="10" presetClass="entr" presetSubtype="0" fill="hold" grpId="0" nodeType="withEffect">
                                  <p:stCondLst>
                                    <p:cond delay="0"/>
                                  </p:stCondLst>
                                  <p:childTnLst>
                                    <p:animEffect transition="in" filter="fade">
                                      <p:cBhvr>
                                        <p:cTn id="55" dur="450"/>
                                        <p:tgtEl>
                                          <p:spTgt spid="30"/>
                                        </p:tgtEl>
                                      </p:cBhvr>
                                    </p:animEffect>
                                  </p:childTnLst>
                                </p:cTn>
                              </p:par>
                              <p:par>
                                <p:cTn id="56" presetID="10" presetClass="entr" presetSubtype="0" fill="hold" grpId="0" nodeType="withEffect">
                                  <p:stCondLst>
                                    <p:cond delay="0"/>
                                  </p:stCondLst>
                                  <p:childTnLst>
                                    <p:animEffect transition="in" filter="fade">
                                      <p:cBhvr>
                                        <p:cTn id="57" dur="450"/>
                                        <p:tgtEl>
                                          <p:spTgt spid="31"/>
                                        </p:tgtEl>
                                      </p:cBhvr>
                                    </p:animEffect>
                                  </p:childTnLst>
                                </p:cTn>
                              </p:par>
                              <p:par>
                                <p:cTn id="58" presetID="10" presetClass="entr" presetSubtype="0" fill="hold" grpId="0" nodeType="withEffect">
                                  <p:stCondLst>
                                    <p:cond delay="0"/>
                                  </p:stCondLst>
                                  <p:childTnLst>
                                    <p:animEffect transition="in" filter="fade">
                                      <p:cBhvr>
                                        <p:cTn id="59" dur="450"/>
                                        <p:tgtEl>
                                          <p:spTgt spid="32"/>
                                        </p:tgtEl>
                                      </p:cBhvr>
                                    </p:animEffect>
                                  </p:childTnLst>
                                </p:cTn>
                              </p:par>
                              <p:par>
                                <p:cTn id="60" presetID="10" presetClass="entr" presetSubtype="0" fill="hold" grpId="0" nodeType="withEffect">
                                  <p:stCondLst>
                                    <p:cond delay="0"/>
                                  </p:stCondLst>
                                  <p:childTnLst>
                                    <p:animEffect transition="in" filter="fade">
                                      <p:cBhvr>
                                        <p:cTn id="61" dur="450"/>
                                        <p:tgtEl>
                                          <p:spTgt spid="33"/>
                                        </p:tgtEl>
                                      </p:cBhvr>
                                    </p:animEffect>
                                  </p:childTnLst>
                                </p:cTn>
                              </p:par>
                              <p:par>
                                <p:cTn id="62" presetID="10" presetClass="entr" presetSubtype="0" fill="hold" grpId="0" nodeType="withEffect">
                                  <p:stCondLst>
                                    <p:cond delay="0"/>
                                  </p:stCondLst>
                                  <p:childTnLst>
                                    <p:animEffect transition="in" filter="fade">
                                      <p:cBhvr>
                                        <p:cTn id="63" dur="450"/>
                                        <p:tgtEl>
                                          <p:spTgt spid="34"/>
                                        </p:tgtEl>
                                      </p:cBhvr>
                                    </p:animEffect>
                                  </p:childTnLst>
                                </p:cTn>
                              </p:par>
                              <p:par>
                                <p:cTn id="64" presetID="10" presetClass="entr" presetSubtype="0" fill="hold" grpId="0" nodeType="withEffect">
                                  <p:stCondLst>
                                    <p:cond delay="0"/>
                                  </p:stCondLst>
                                  <p:childTnLst>
                                    <p:animEffect transition="in" filter="fade">
                                      <p:cBhvr>
                                        <p:cTn id="65" dur="450"/>
                                        <p:tgtEl>
                                          <p:spTgt spid="35"/>
                                        </p:tgtEl>
                                      </p:cBhvr>
                                    </p:animEffect>
                                  </p:childTnLst>
                                </p:cTn>
                              </p:par>
                              <p:par>
                                <p:cTn id="66" presetID="10" presetClass="entr" presetSubtype="0" fill="hold" grpId="0" nodeType="withEffect">
                                  <p:stCondLst>
                                    <p:cond delay="0"/>
                                  </p:stCondLst>
                                  <p:childTnLst>
                                    <p:animEffect transition="in" filter="fade">
                                      <p:cBhvr>
                                        <p:cTn id="67" dur="450"/>
                                        <p:tgtEl>
                                          <p:spTgt spid="36"/>
                                        </p:tgtEl>
                                      </p:cBhvr>
                                    </p:animEffect>
                                  </p:childTnLst>
                                </p:cTn>
                              </p:par>
                              <p:par>
                                <p:cTn id="68" presetID="10" presetClass="entr" presetSubtype="0" fill="hold" grpId="0" nodeType="withEffect">
                                  <p:stCondLst>
                                    <p:cond delay="0"/>
                                  </p:stCondLst>
                                  <p:childTnLst>
                                    <p:animEffect transition="in" filter="fade">
                                      <p:cBhvr>
                                        <p:cTn id="69" dur="450"/>
                                        <p:tgtEl>
                                          <p:spTgt spid="37"/>
                                        </p:tgtEl>
                                      </p:cBhvr>
                                    </p:animEffect>
                                  </p:childTnLst>
                                </p:cTn>
                              </p:par>
                              <p:par>
                                <p:cTn id="70" presetID="10" presetClass="entr" presetSubtype="0" fill="hold" grpId="0" nodeType="withEffect">
                                  <p:stCondLst>
                                    <p:cond delay="0"/>
                                  </p:stCondLst>
                                  <p:childTnLst>
                                    <p:animEffect transition="in" filter="fade">
                                      <p:cBhvr>
                                        <p:cTn id="71" dur="450"/>
                                        <p:tgtEl>
                                          <p:spTgt spid="38"/>
                                        </p:tgtEl>
                                      </p:cBhvr>
                                    </p:animEffect>
                                  </p:childTnLst>
                                </p:cTn>
                              </p:par>
                              <p:par>
                                <p:cTn id="72" presetID="10" presetClass="entr" presetSubtype="0" fill="hold" grpId="0" nodeType="withEffect">
                                  <p:stCondLst>
                                    <p:cond delay="0"/>
                                  </p:stCondLst>
                                  <p:childTnLst>
                                    <p:animEffect transition="in" filter="fade">
                                      <p:cBhvr>
                                        <p:cTn id="73" dur="450"/>
                                        <p:tgtEl>
                                          <p:spTgt spid="39"/>
                                        </p:tgtEl>
                                      </p:cBhvr>
                                    </p:animEffect>
                                  </p:childTnLst>
                                </p:cTn>
                              </p:par>
                              <p:par>
                                <p:cTn id="74" presetID="10" presetClass="entr" presetSubtype="0" fill="hold" grpId="0" nodeType="withEffect">
                                  <p:stCondLst>
                                    <p:cond delay="0"/>
                                  </p:stCondLst>
                                  <p:childTnLst>
                                    <p:animEffect transition="in" filter="fade">
                                      <p:cBhvr>
                                        <p:cTn id="75" dur="450"/>
                                        <p:tgtEl>
                                          <p:spTgt spid="40"/>
                                        </p:tgtEl>
                                      </p:cBhvr>
                                    </p:animEffect>
                                  </p:childTnLst>
                                </p:cTn>
                              </p:par>
                              <p:par>
                                <p:cTn id="76" presetID="10" presetClass="entr" presetSubtype="0" fill="hold" grpId="0" nodeType="withEffect">
                                  <p:stCondLst>
                                    <p:cond delay="0"/>
                                  </p:stCondLst>
                                  <p:childTnLst>
                                    <p:animEffect transition="in" filter="fade">
                                      <p:cBhvr>
                                        <p:cTn id="77" dur="450"/>
                                        <p:tgtEl>
                                          <p:spTgt spid="41"/>
                                        </p:tgtEl>
                                      </p:cBhvr>
                                    </p:animEffect>
                                  </p:childTnLst>
                                </p:cTn>
                              </p:par>
                              <p:par>
                                <p:cTn id="78" presetID="10" presetClass="entr" presetSubtype="0" fill="hold" grpId="0" nodeType="withEffect">
                                  <p:stCondLst>
                                    <p:cond delay="0"/>
                                  </p:stCondLst>
                                  <p:childTnLst>
                                    <p:animEffect transition="in" filter="fade">
                                      <p:cBhvr>
                                        <p:cTn id="79" dur="450"/>
                                        <p:tgtEl>
                                          <p:spTgt spid="42"/>
                                        </p:tgtEl>
                                      </p:cBhvr>
                                    </p:animEffect>
                                  </p:childTnLst>
                                </p:cTn>
                              </p:par>
                            </p:childTnLst>
                          </p:cTn>
                        </p:par>
                      </p:childTnLst>
                    </p:cTn>
                  </p:par>
                  <p:par>
                    <p:cTn id="106" fill="hold">
                      <p:stCondLst>
                        <p:cond delay="indefinite"/>
                      </p:stCondLst>
                      <p:childTnLst>
                        <p:par>
                          <p:cTn id="107" fill="hold">
                            <p:stCondLst>
                              <p:cond delay="0"/>
                            </p:stCondLst>
                            <p:childTnLst>
                              <p:par>
                                <p:cTn id="82" presetID="10" presetClass="entr" presetSubtype="0" fill="hold" grpId="0" nodeType="clickEffect">
                                  <p:stCondLst>
                                    <p:cond delay="0"/>
                                  </p:stCondLst>
                                  <p:childTnLst>
                                    <p:animEffect transition="in" filter="fade">
                                      <p:cBhvr>
                                        <p:cTn id="83" dur="450"/>
                                        <p:tgtEl>
                                          <p:spTgt spid="43"/>
                                        </p:tgtEl>
                                      </p:cBhvr>
                                    </p:animEffect>
                                  </p:childTnLst>
                                </p:cTn>
                              </p:par>
                              <p:par>
                                <p:cTn id="84" presetID="10" presetClass="entr" presetSubtype="0" fill="hold" grpId="0" nodeType="withEffect">
                                  <p:stCondLst>
                                    <p:cond delay="0"/>
                                  </p:stCondLst>
                                  <p:childTnLst>
                                    <p:animEffect transition="in" filter="fade">
                                      <p:cBhvr>
                                        <p:cTn id="85" dur="450"/>
                                        <p:tgtEl>
                                          <p:spTgt spid="44"/>
                                        </p:tgtEl>
                                      </p:cBhvr>
                                    </p:animEffect>
                                  </p:childTnLst>
                                </p:cTn>
                              </p:par>
                              <p:par>
                                <p:cTn id="86" presetID="10" presetClass="entr" presetSubtype="0" fill="hold" grpId="0" nodeType="withEffect">
                                  <p:stCondLst>
                                    <p:cond delay="0"/>
                                  </p:stCondLst>
                                  <p:childTnLst>
                                    <p:animEffect transition="in" filter="fade">
                                      <p:cBhvr>
                                        <p:cTn id="87" dur="450"/>
                                        <p:tgtEl>
                                          <p:spTgt spid="45"/>
                                        </p:tgtEl>
                                      </p:cBhvr>
                                    </p:animEffect>
                                  </p:childTnLst>
                                </p:cTn>
                              </p:par>
                              <p:par>
                                <p:cTn id="88" presetID="10" presetClass="entr" presetSubtype="0" fill="hold" grpId="0" nodeType="withEffect">
                                  <p:stCondLst>
                                    <p:cond delay="0"/>
                                  </p:stCondLst>
                                  <p:childTnLst>
                                    <p:animEffect transition="in" filter="fade">
                                      <p:cBhvr>
                                        <p:cTn id="89" dur="450"/>
                                        <p:tgtEl>
                                          <p:spTgt spid="46"/>
                                        </p:tgtEl>
                                      </p:cBhvr>
                                    </p:animEffect>
                                  </p:childTnLst>
                                </p:cTn>
                              </p:par>
                              <p:par>
                                <p:cTn id="90" presetID="10" presetClass="entr" presetSubtype="0" fill="hold" grpId="0" nodeType="withEffect">
                                  <p:stCondLst>
                                    <p:cond delay="0"/>
                                  </p:stCondLst>
                                  <p:childTnLst>
                                    <p:animEffect transition="in" filter="fade">
                                      <p:cBhvr>
                                        <p:cTn id="91" dur="450"/>
                                        <p:tgtEl>
                                          <p:spTgt spid="47"/>
                                        </p:tgtEl>
                                      </p:cBhvr>
                                    </p:animEffect>
                                  </p:childTnLst>
                                </p:cTn>
                              </p:par>
                              <p:par>
                                <p:cTn id="92" presetID="10" presetClass="entr" presetSubtype="0" fill="hold" grpId="0" nodeType="withEffect">
                                  <p:stCondLst>
                                    <p:cond delay="0"/>
                                  </p:stCondLst>
                                  <p:childTnLst>
                                    <p:animEffect transition="in" filter="fade">
                                      <p:cBhvr>
                                        <p:cTn id="93" dur="450"/>
                                        <p:tgtEl>
                                          <p:spTgt spid="48"/>
                                        </p:tgtEl>
                                      </p:cBhvr>
                                    </p:animEffect>
                                  </p:childTnLst>
                                </p:cTn>
                              </p:par>
                              <p:par>
                                <p:cTn id="94" presetID="10" presetClass="entr" presetSubtype="0" fill="hold" grpId="0" nodeType="withEffect">
                                  <p:stCondLst>
                                    <p:cond delay="0"/>
                                  </p:stCondLst>
                                  <p:childTnLst>
                                    <p:animEffect transition="in" filter="fade">
                                      <p:cBhvr>
                                        <p:cTn id="95" dur="450"/>
                                        <p:tgtEl>
                                          <p:spTgt spid="49"/>
                                        </p:tgtEl>
                                      </p:cBhvr>
                                    </p:animEffect>
                                  </p:childTnLst>
                                </p:cTn>
                              </p:par>
                              <p:par>
                                <p:cTn id="96" presetID="10" presetClass="entr" presetSubtype="0" fill="hold" grpId="0" nodeType="withEffect">
                                  <p:stCondLst>
                                    <p:cond delay="0"/>
                                  </p:stCondLst>
                                  <p:childTnLst>
                                    <p:animEffect transition="in" filter="fade">
                                      <p:cBhvr>
                                        <p:cTn id="97" dur="450"/>
                                        <p:tgtEl>
                                          <p:spTgt spid="50"/>
                                        </p:tgtEl>
                                      </p:cBhvr>
                                    </p:animEffect>
                                  </p:childTnLst>
                                </p:cTn>
                              </p:par>
                              <p:par>
                                <p:cTn id="98" presetID="10" presetClass="entr" presetSubtype="0" fill="hold" grpId="0" nodeType="withEffect">
                                  <p:stCondLst>
                                    <p:cond delay="0"/>
                                  </p:stCondLst>
                                  <p:childTnLst>
                                    <p:animEffect transition="in" filter="fade">
                                      <p:cBhvr>
                                        <p:cTn id="99" dur="450"/>
                                        <p:tgtEl>
                                          <p:spTgt spid="51"/>
                                        </p:tgtEl>
                                      </p:cBhvr>
                                    </p:animEffect>
                                  </p:childTnLst>
                                </p:cTn>
                              </p:par>
                              <p:par>
                                <p:cTn id="100" presetID="10" presetClass="entr" presetSubtype="0" fill="hold" grpId="0" nodeType="withEffect">
                                  <p:stCondLst>
                                    <p:cond delay="0"/>
                                  </p:stCondLst>
                                  <p:childTnLst>
                                    <p:animEffect transition="in" filter="fade">
                                      <p:cBhvr>
                                        <p:cTn id="101" dur="450"/>
                                        <p:tgtEl>
                                          <p:spTgt spid="52"/>
                                        </p:tgtEl>
                                      </p:cBhvr>
                                    </p:animEffect>
                                  </p:childTnLst>
                                </p:cTn>
                              </p:par>
                              <p:par>
                                <p:cTn id="102" presetID="10" presetClass="entr" presetSubtype="0" fill="hold" grpId="0" nodeType="withEffect">
                                  <p:stCondLst>
                                    <p:cond delay="0"/>
                                  </p:stCondLst>
                                  <p:childTnLst>
                                    <p:animEffect transition="in" filter="fade">
                                      <p:cBhvr>
                                        <p:cTn id="103" dur="450"/>
                                        <p:tgtEl>
                                          <p:spTgt spid="53"/>
                                        </p:tgtEl>
                                      </p:cBhvr>
                                    </p:animEffect>
                                  </p:childTnLst>
                                </p:cTn>
                              </p:par>
                              <p:par>
                                <p:cTn id="104" presetID="10" presetClass="entr" presetSubtype="0" fill="hold" grpId="0" nodeType="withEffect">
                                  <p:stCondLst>
                                    <p:cond delay="0"/>
                                  </p:stCondLst>
                                  <p:childTnLst>
                                    <p:animEffect transition="in" filter="fade">
                                      <p:cBhvr>
                                        <p:cTn id="105" dur="450"/>
                                        <p:tgtEl>
                                          <p:spTgt spid="54"/>
                                        </p:tgtEl>
                                      </p:cBhvr>
                                    </p:animEffect>
                                  </p:childTnLst>
                                </p:cTn>
                              </p:par>
                            </p:childTnLst>
                          </p:cTn>
                        </p:par>
                      </p:childTnLst>
                    </p:cTn>
                  </p:par>
                  <p:par>
                    <p:cTn id="110" fill="hold">
                      <p:stCondLst>
                        <p:cond delay="indefinite"/>
                      </p:stCondLst>
                      <p:childTnLst>
                        <p:par>
                          <p:cTn id="111" fill="hold">
                            <p:stCondLst>
                              <p:cond delay="0"/>
                            </p:stCondLst>
                            <p:childTnLst>
                              <p:par>
                                <p:cTn id="108" presetID="10" presetClass="entr" presetSubtype="0" fill="hold" grpId="0" nodeType="clickEffect">
                                  <p:stCondLst>
                                    <p:cond delay="0"/>
                                  </p:stCondLst>
                                  <p:childTnLst>
                                    <p:animEffect transition="in" filter="fade">
                                      <p:cBhvr>
                                        <p:cTn id="109" dur="4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Lst>
  </p:timing>
</p:sld>
</file>

<file path=ppt/slides/slide9.xml><?xml version="1.0" encoding="utf-8"?>
<p:sld xmlns:a="http://schemas.openxmlformats.org/drawingml/2006/main" xmlns:p="http://schemas.openxmlformats.org/presentationml/2006/main" xmlns:r="http://schemas.openxmlformats.org/officeDocument/2006/relationships">
  <p:cSld name="Slide 9">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09  ·  REQUIREMENTS</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09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Hardware &amp; software requirements</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bg"/>
          <p:cNvSpPr/>
          <p:nvPr/>
        </p:nvSpPr>
        <p:spPr>
          <a:xfrm>
            <a:off x="548640" y="1298448"/>
            <a:ext cx="5349240" cy="493776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8" name="click_02_bar"/>
          <p:cNvSpPr/>
          <p:nvPr/>
        </p:nvSpPr>
        <p:spPr>
          <a:xfrm>
            <a:off x="548640" y="1298448"/>
            <a:ext cx="64008" cy="4937760"/>
          </a:xfrm>
          <a:prstGeom prst="rect">
            <a:avLst/>
          </a:prstGeom>
          <a:solidFill>
            <a:srgbClr val="16324F"/>
          </a:solidFill>
          <a:ln/>
        </p:spPr>
      </p:sp>
      <p:sp>
        <p:nvSpPr>
          <p:cNvPr id="9" name="click_02_ov"/>
          <p:cNvSpPr/>
          <p:nvPr/>
        </p:nvSpPr>
        <p:spPr>
          <a:xfrm>
            <a:off x="804672" y="1463040"/>
            <a:ext cx="530352" cy="530352"/>
          </a:xfrm>
          <a:prstGeom prst="ellipse">
            <a:avLst/>
          </a:prstGeom>
          <a:solidFill>
            <a:srgbClr val="B8954A"/>
          </a:solidFill>
          <a:ln/>
        </p:spPr>
      </p:sp>
      <p:pic>
        <p:nvPicPr>
          <p:cNvPr id="10" name="click_02_ic" descr="preencoded.png">    </p:cNvPr>
          <p:cNvPicPr>
            <a:picLocks noChangeAspect="1"/>
          </p:cNvPicPr>
          <p:nvPr/>
        </p:nvPicPr>
        <p:blipFill>
          <a:blip r:embed="rId1"/>
          <a:stretch>
            <a:fillRect/>
          </a:stretch>
        </p:blipFill>
        <p:spPr>
          <a:xfrm>
            <a:off x="942564" y="1600932"/>
            <a:ext cx="254569" cy="254569"/>
          </a:xfrm>
          <a:prstGeom prst="rect">
            <a:avLst/>
          </a:prstGeom>
        </p:spPr>
      </p:pic>
      <p:sp>
        <p:nvSpPr>
          <p:cNvPr id="11" name="click_02_t"/>
          <p:cNvSpPr/>
          <p:nvPr/>
        </p:nvSpPr>
        <p:spPr>
          <a:xfrm>
            <a:off x="1481328" y="1499616"/>
            <a:ext cx="4023360" cy="457200"/>
          </a:xfrm>
          <a:prstGeom prst="rect">
            <a:avLst/>
          </a:prstGeom>
          <a:noFill/>
          <a:ln/>
        </p:spPr>
        <p:txBody>
          <a:bodyPr wrap="square" lIns="0" tIns="0" rIns="0" bIns="0" rtlCol="0" anchor="ctr"/>
          <a:lstStyle/>
          <a:p>
            <a:pPr indent="0" marL="0">
              <a:buNone/>
            </a:pPr>
            <a:r>
              <a:rPr lang="en-US" sz="1800" dirty="0">
                <a:solidFill>
                  <a:srgbClr val="1C1917"/>
                </a:solidFill>
                <a:latin typeface="Georgia" pitchFamily="34" charset="0"/>
                <a:ea typeface="Georgia" pitchFamily="34" charset="-122"/>
                <a:cs typeface="Georgia" pitchFamily="34" charset="-120"/>
              </a:rPr>
              <a:t>Hardware</a:t>
            </a:r>
            <a:endParaRPr lang="en-US" sz="1800" dirty="0"/>
          </a:p>
        </p:txBody>
      </p:sp>
      <p:sp>
        <p:nvSpPr>
          <p:cNvPr id="12" name="click_02_d0"/>
          <p:cNvSpPr/>
          <p:nvPr/>
        </p:nvSpPr>
        <p:spPr>
          <a:xfrm>
            <a:off x="841248" y="2212848"/>
            <a:ext cx="128016" cy="128016"/>
          </a:xfrm>
          <a:prstGeom prst="ellipse">
            <a:avLst/>
          </a:prstGeom>
          <a:solidFill>
            <a:srgbClr val="B8954A"/>
          </a:solidFill>
          <a:ln/>
        </p:spPr>
      </p:sp>
      <p:sp>
        <p:nvSpPr>
          <p:cNvPr id="13" name="click_02_h0"/>
          <p:cNvSpPr/>
          <p:nvPr/>
        </p:nvSpPr>
        <p:spPr>
          <a:xfrm>
            <a:off x="1078992" y="2084832"/>
            <a:ext cx="45262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Laptop with 16 GB RAM or higher for development</a:t>
            </a:r>
            <a:endParaRPr lang="en-US" sz="1300" dirty="0"/>
          </a:p>
        </p:txBody>
      </p:sp>
      <p:sp>
        <p:nvSpPr>
          <p:cNvPr id="14" name="click_02_d1"/>
          <p:cNvSpPr/>
          <p:nvPr/>
        </p:nvSpPr>
        <p:spPr>
          <a:xfrm>
            <a:off x="841248" y="2944368"/>
            <a:ext cx="128016" cy="128016"/>
          </a:xfrm>
          <a:prstGeom prst="ellipse">
            <a:avLst/>
          </a:prstGeom>
          <a:solidFill>
            <a:srgbClr val="B8954A"/>
          </a:solidFill>
          <a:ln/>
        </p:spPr>
      </p:sp>
      <p:sp>
        <p:nvSpPr>
          <p:cNvPr id="15" name="click_02_h1"/>
          <p:cNvSpPr/>
          <p:nvPr/>
        </p:nvSpPr>
        <p:spPr>
          <a:xfrm>
            <a:off x="1078992" y="2816352"/>
            <a:ext cx="45262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SSD for CheXpert-small, HAM10000, STW rasters, snapshots</a:t>
            </a:r>
            <a:endParaRPr lang="en-US" sz="1300" dirty="0"/>
          </a:p>
        </p:txBody>
      </p:sp>
      <p:sp>
        <p:nvSpPr>
          <p:cNvPr id="16" name="click_02_d2"/>
          <p:cNvSpPr/>
          <p:nvPr/>
        </p:nvSpPr>
        <p:spPr>
          <a:xfrm>
            <a:off x="841248" y="3675888"/>
            <a:ext cx="128016" cy="128016"/>
          </a:xfrm>
          <a:prstGeom prst="ellipse">
            <a:avLst/>
          </a:prstGeom>
          <a:solidFill>
            <a:srgbClr val="B8954A"/>
          </a:solidFill>
          <a:ln/>
        </p:spPr>
      </p:sp>
      <p:sp>
        <p:nvSpPr>
          <p:cNvPr id="17" name="click_02_h2"/>
          <p:cNvSpPr/>
          <p:nvPr/>
        </p:nvSpPr>
        <p:spPr>
          <a:xfrm>
            <a:off x="1078992" y="3547872"/>
            <a:ext cx="45262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Campus NVIDIA GPU (B200 or equivalent) for LLM serving and GEPA rollouts</a:t>
            </a:r>
            <a:endParaRPr lang="en-US" sz="1300" dirty="0"/>
          </a:p>
        </p:txBody>
      </p:sp>
      <p:sp>
        <p:nvSpPr>
          <p:cNvPr id="18" name="click_02_d3"/>
          <p:cNvSpPr/>
          <p:nvPr/>
        </p:nvSpPr>
        <p:spPr>
          <a:xfrm>
            <a:off x="841248" y="4407408"/>
            <a:ext cx="128016" cy="128016"/>
          </a:xfrm>
          <a:prstGeom prst="ellipse">
            <a:avLst/>
          </a:prstGeom>
          <a:solidFill>
            <a:srgbClr val="B8954A"/>
          </a:solidFill>
          <a:ln/>
        </p:spPr>
      </p:sp>
      <p:sp>
        <p:nvSpPr>
          <p:cNvPr id="19" name="click_02_h3"/>
          <p:cNvSpPr/>
          <p:nvPr/>
        </p:nvSpPr>
        <p:spPr>
          <a:xfrm>
            <a:off x="1078992" y="4279392"/>
            <a:ext cx="45262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A 7B model and fewer GEPA steps remain valid if the large GPU is busy</a:t>
            </a:r>
            <a:endParaRPr lang="en-US" sz="1300" dirty="0"/>
          </a:p>
        </p:txBody>
      </p:sp>
      <p:sp>
        <p:nvSpPr>
          <p:cNvPr id="20" name="click_02_d4"/>
          <p:cNvSpPr/>
          <p:nvPr/>
        </p:nvSpPr>
        <p:spPr>
          <a:xfrm>
            <a:off x="841248" y="5138928"/>
            <a:ext cx="128016" cy="128016"/>
          </a:xfrm>
          <a:prstGeom prst="ellipse">
            <a:avLst/>
          </a:prstGeom>
          <a:solidFill>
            <a:srgbClr val="B8954A"/>
          </a:solidFill>
          <a:ln/>
        </p:spPr>
      </p:sp>
      <p:sp>
        <p:nvSpPr>
          <p:cNvPr id="21" name="click_02_h4"/>
          <p:cNvSpPr/>
          <p:nvPr/>
        </p:nvSpPr>
        <p:spPr>
          <a:xfrm>
            <a:off x="1078992" y="5010912"/>
            <a:ext cx="4526280" cy="640080"/>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DenseNet-121 on CheXpert-small does not itself require a B200</a:t>
            </a:r>
            <a:endParaRPr lang="en-US" sz="1300" dirty="0"/>
          </a:p>
        </p:txBody>
      </p:sp>
      <p:sp>
        <p:nvSpPr>
          <p:cNvPr id="22" name="click_03_bg"/>
          <p:cNvSpPr/>
          <p:nvPr/>
        </p:nvSpPr>
        <p:spPr>
          <a:xfrm>
            <a:off x="6126480" y="1298448"/>
            <a:ext cx="5513832" cy="4937760"/>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3" name="click_03_bar"/>
          <p:cNvSpPr/>
          <p:nvPr/>
        </p:nvSpPr>
        <p:spPr>
          <a:xfrm>
            <a:off x="6126480" y="1298448"/>
            <a:ext cx="64008" cy="4937760"/>
          </a:xfrm>
          <a:prstGeom prst="rect">
            <a:avLst/>
          </a:prstGeom>
          <a:solidFill>
            <a:srgbClr val="B8954A"/>
          </a:solidFill>
          <a:ln/>
        </p:spPr>
      </p:sp>
      <p:sp>
        <p:nvSpPr>
          <p:cNvPr id="24" name="click_03_ov"/>
          <p:cNvSpPr/>
          <p:nvPr/>
        </p:nvSpPr>
        <p:spPr>
          <a:xfrm>
            <a:off x="6382512" y="1463040"/>
            <a:ext cx="530352" cy="530352"/>
          </a:xfrm>
          <a:prstGeom prst="ellipse">
            <a:avLst/>
          </a:prstGeom>
          <a:solidFill>
            <a:srgbClr val="B8954A"/>
          </a:solidFill>
          <a:ln/>
        </p:spPr>
      </p:sp>
      <p:pic>
        <p:nvPicPr>
          <p:cNvPr id="25" name="click_03_ic" descr="preencoded.png">    </p:cNvPr>
          <p:cNvPicPr>
            <a:picLocks noChangeAspect="1"/>
          </p:cNvPicPr>
          <p:nvPr/>
        </p:nvPicPr>
        <p:blipFill>
          <a:blip r:embed="rId2"/>
          <a:stretch>
            <a:fillRect/>
          </a:stretch>
        </p:blipFill>
        <p:spPr>
          <a:xfrm>
            <a:off x="6520404" y="1600932"/>
            <a:ext cx="254569" cy="254569"/>
          </a:xfrm>
          <a:prstGeom prst="rect">
            <a:avLst/>
          </a:prstGeom>
        </p:spPr>
      </p:pic>
      <p:sp>
        <p:nvSpPr>
          <p:cNvPr id="26" name="click_03_t"/>
          <p:cNvSpPr/>
          <p:nvPr/>
        </p:nvSpPr>
        <p:spPr>
          <a:xfrm>
            <a:off x="7059168" y="1499616"/>
            <a:ext cx="4297680" cy="457200"/>
          </a:xfrm>
          <a:prstGeom prst="rect">
            <a:avLst/>
          </a:prstGeom>
          <a:noFill/>
          <a:ln/>
        </p:spPr>
        <p:txBody>
          <a:bodyPr wrap="square" lIns="0" tIns="0" rIns="0" bIns="0" rtlCol="0" anchor="ctr"/>
          <a:lstStyle/>
          <a:p>
            <a:pPr indent="0" marL="0">
              <a:buNone/>
            </a:pPr>
            <a:r>
              <a:rPr lang="en-US" sz="1800" dirty="0">
                <a:solidFill>
                  <a:srgbClr val="1C1917"/>
                </a:solidFill>
                <a:latin typeface="Georgia" pitchFamily="34" charset="0"/>
                <a:ea typeface="Georgia" pitchFamily="34" charset="-122"/>
                <a:cs typeface="Georgia" pitchFamily="34" charset="-120"/>
              </a:rPr>
              <a:t>Software</a:t>
            </a:r>
            <a:endParaRPr lang="en-US" sz="1800" dirty="0"/>
          </a:p>
        </p:txBody>
      </p:sp>
      <p:sp>
        <p:nvSpPr>
          <p:cNvPr id="27" name="click_03_a0"/>
          <p:cNvSpPr/>
          <p:nvPr/>
        </p:nvSpPr>
        <p:spPr>
          <a:xfrm>
            <a:off x="6382512" y="2176272"/>
            <a:ext cx="1691640" cy="5029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Language / DL</a:t>
            </a:r>
            <a:endParaRPr lang="en-US" sz="1200" dirty="0"/>
          </a:p>
        </p:txBody>
      </p:sp>
      <p:sp>
        <p:nvSpPr>
          <p:cNvPr id="28" name="click_03_b0"/>
          <p:cNvSpPr/>
          <p:nvPr/>
        </p:nvSpPr>
        <p:spPr>
          <a:xfrm>
            <a:off x="8119872" y="2176272"/>
            <a:ext cx="3246120" cy="502920"/>
          </a:xfrm>
          <a:prstGeom prst="rect">
            <a:avLst/>
          </a:prstGeom>
          <a:noFill/>
          <a:ln/>
        </p:spPr>
        <p:txBody>
          <a:bodyPr wrap="square" lIns="0" tIns="0" rIns="0" bIns="0" rtlCol="0" anchor="ctr"/>
          <a:lstStyle/>
          <a:p>
            <a:pPr indent="0" marL="0">
              <a:buNone/>
            </a:pPr>
            <a:r>
              <a:rPr lang="en-US" sz="1200" dirty="0">
                <a:solidFill>
                  <a:srgbClr val="3F3A36"/>
                </a:solidFill>
                <a:latin typeface="Calibri" pitchFamily="34" charset="0"/>
                <a:ea typeface="Calibri" pitchFamily="34" charset="-122"/>
                <a:cs typeface="Calibri" pitchFamily="34" charset="-120"/>
              </a:rPr>
              <a:t>Python, PyTorch, Hugging Face, timm</a:t>
            </a:r>
            <a:endParaRPr lang="en-US" sz="1200" dirty="0"/>
          </a:p>
        </p:txBody>
      </p:sp>
      <p:sp>
        <p:nvSpPr>
          <p:cNvPr id="29" name="click_03_ln1"/>
          <p:cNvSpPr/>
          <p:nvPr/>
        </p:nvSpPr>
        <p:spPr>
          <a:xfrm>
            <a:off x="6382512" y="2743200"/>
            <a:ext cx="5029200" cy="9144"/>
          </a:xfrm>
          <a:prstGeom prst="rect">
            <a:avLst/>
          </a:prstGeom>
          <a:solidFill>
            <a:srgbClr val="D9D2C5"/>
          </a:solidFill>
          <a:ln/>
        </p:spPr>
      </p:sp>
      <p:sp>
        <p:nvSpPr>
          <p:cNvPr id="30" name="click_03_a1"/>
          <p:cNvSpPr/>
          <p:nvPr/>
        </p:nvSpPr>
        <p:spPr>
          <a:xfrm>
            <a:off x="6382512" y="2798064"/>
            <a:ext cx="1691640" cy="5029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Specialists</a:t>
            </a:r>
            <a:endParaRPr lang="en-US" sz="1200" dirty="0"/>
          </a:p>
        </p:txBody>
      </p:sp>
      <p:sp>
        <p:nvSpPr>
          <p:cNvPr id="31" name="click_03_b1"/>
          <p:cNvSpPr/>
          <p:nvPr/>
        </p:nvSpPr>
        <p:spPr>
          <a:xfrm>
            <a:off x="8119872" y="2798064"/>
            <a:ext cx="3246120" cy="502920"/>
          </a:xfrm>
          <a:prstGeom prst="rect">
            <a:avLst/>
          </a:prstGeom>
          <a:noFill/>
          <a:ln/>
        </p:spPr>
        <p:txBody>
          <a:bodyPr wrap="square" lIns="0" tIns="0" rIns="0" bIns="0" rtlCol="0" anchor="ctr"/>
          <a:lstStyle/>
          <a:p>
            <a:pPr indent="0" marL="0">
              <a:buNone/>
            </a:pPr>
            <a:r>
              <a:rPr lang="en-US" sz="1200" dirty="0">
                <a:solidFill>
                  <a:srgbClr val="3F3A36"/>
                </a:solidFill>
                <a:latin typeface="Calibri" pitchFamily="34" charset="0"/>
                <a:ea typeface="Calibri" pitchFamily="34" charset="-122"/>
                <a:cs typeface="Calibri" pitchFamily="34" charset="-120"/>
              </a:rPr>
              <a:t>DenseNet / EfficientNet; Donut / LayoutLMv3 / PaddleOCR</a:t>
            </a:r>
            <a:endParaRPr lang="en-US" sz="1200" dirty="0"/>
          </a:p>
        </p:txBody>
      </p:sp>
      <p:sp>
        <p:nvSpPr>
          <p:cNvPr id="32" name="click_03_ln2"/>
          <p:cNvSpPr/>
          <p:nvPr/>
        </p:nvSpPr>
        <p:spPr>
          <a:xfrm>
            <a:off x="6382512" y="3364992"/>
            <a:ext cx="5029200" cy="9144"/>
          </a:xfrm>
          <a:prstGeom prst="rect">
            <a:avLst/>
          </a:prstGeom>
          <a:solidFill>
            <a:srgbClr val="D9D2C5"/>
          </a:solidFill>
          <a:ln/>
        </p:spPr>
      </p:sp>
      <p:sp>
        <p:nvSpPr>
          <p:cNvPr id="33" name="click_03_a2"/>
          <p:cNvSpPr/>
          <p:nvPr/>
        </p:nvSpPr>
        <p:spPr>
          <a:xfrm>
            <a:off x="6382512" y="3419856"/>
            <a:ext cx="1691640" cy="5029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Retrieval</a:t>
            </a:r>
            <a:endParaRPr lang="en-US" sz="1200" dirty="0"/>
          </a:p>
        </p:txBody>
      </p:sp>
      <p:sp>
        <p:nvSpPr>
          <p:cNvPr id="34" name="click_03_b2"/>
          <p:cNvSpPr/>
          <p:nvPr/>
        </p:nvSpPr>
        <p:spPr>
          <a:xfrm>
            <a:off x="8119872" y="3419856"/>
            <a:ext cx="3246120" cy="502920"/>
          </a:xfrm>
          <a:prstGeom prst="rect">
            <a:avLst/>
          </a:prstGeom>
          <a:noFill/>
          <a:ln/>
        </p:spPr>
        <p:txBody>
          <a:bodyPr wrap="square" lIns="0" tIns="0" rIns="0" bIns="0" rtlCol="0" anchor="ctr"/>
          <a:lstStyle/>
          <a:p>
            <a:pPr indent="0" marL="0">
              <a:buNone/>
            </a:pPr>
            <a:r>
              <a:rPr lang="en-US" sz="1200" dirty="0">
                <a:solidFill>
                  <a:srgbClr val="3F3A36"/>
                </a:solidFill>
                <a:latin typeface="Calibri" pitchFamily="34" charset="0"/>
                <a:ea typeface="Calibri" pitchFamily="34" charset="-122"/>
                <a:cs typeface="Calibri" pitchFamily="34" charset="-120"/>
              </a:rPr>
              <a:t>ColPali or ColQwen class; FAISS / Qdrant</a:t>
            </a:r>
            <a:endParaRPr lang="en-US" sz="1200" dirty="0"/>
          </a:p>
        </p:txBody>
      </p:sp>
      <p:sp>
        <p:nvSpPr>
          <p:cNvPr id="35" name="click_03_ln3"/>
          <p:cNvSpPr/>
          <p:nvPr/>
        </p:nvSpPr>
        <p:spPr>
          <a:xfrm>
            <a:off x="6382512" y="3986784"/>
            <a:ext cx="5029200" cy="9144"/>
          </a:xfrm>
          <a:prstGeom prst="rect">
            <a:avLst/>
          </a:prstGeom>
          <a:solidFill>
            <a:srgbClr val="D9D2C5"/>
          </a:solidFill>
          <a:ln/>
        </p:spPr>
      </p:sp>
      <p:sp>
        <p:nvSpPr>
          <p:cNvPr id="36" name="click_03_a3"/>
          <p:cNvSpPr/>
          <p:nvPr/>
        </p:nvSpPr>
        <p:spPr>
          <a:xfrm>
            <a:off x="6382512" y="4041648"/>
            <a:ext cx="1691640" cy="5029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LLM + GEPA</a:t>
            </a:r>
            <a:endParaRPr lang="en-US" sz="1200" dirty="0"/>
          </a:p>
        </p:txBody>
      </p:sp>
      <p:sp>
        <p:nvSpPr>
          <p:cNvPr id="37" name="click_03_b3"/>
          <p:cNvSpPr/>
          <p:nvPr/>
        </p:nvSpPr>
        <p:spPr>
          <a:xfrm>
            <a:off x="8119872" y="4041648"/>
            <a:ext cx="3246120" cy="502920"/>
          </a:xfrm>
          <a:prstGeom prst="rect">
            <a:avLst/>
          </a:prstGeom>
          <a:noFill/>
          <a:ln/>
        </p:spPr>
        <p:txBody>
          <a:bodyPr wrap="square" lIns="0" tIns="0" rIns="0" bIns="0" rtlCol="0" anchor="ctr"/>
          <a:lstStyle/>
          <a:p>
            <a:pPr indent="0" marL="0">
              <a:buNone/>
            </a:pPr>
            <a:r>
              <a:rPr lang="en-US" sz="1200" dirty="0">
                <a:solidFill>
                  <a:srgbClr val="3F3A36"/>
                </a:solidFill>
                <a:latin typeface="Calibri" pitchFamily="34" charset="0"/>
                <a:ea typeface="Calibri" pitchFamily="34" charset="-122"/>
                <a:cs typeface="Calibri" pitchFamily="34" charset="-120"/>
              </a:rPr>
              <a:t>Qwen-class via vLLM (optional); DSPy + dspy.GEPA</a:t>
            </a:r>
            <a:endParaRPr lang="en-US" sz="1200" dirty="0"/>
          </a:p>
        </p:txBody>
      </p:sp>
      <p:sp>
        <p:nvSpPr>
          <p:cNvPr id="38" name="click_03_ln4"/>
          <p:cNvSpPr/>
          <p:nvPr/>
        </p:nvSpPr>
        <p:spPr>
          <a:xfrm>
            <a:off x="6382512" y="4608576"/>
            <a:ext cx="5029200" cy="9144"/>
          </a:xfrm>
          <a:prstGeom prst="rect">
            <a:avLst/>
          </a:prstGeom>
          <a:solidFill>
            <a:srgbClr val="D9D2C5"/>
          </a:solidFill>
          <a:ln/>
        </p:spPr>
      </p:sp>
      <p:sp>
        <p:nvSpPr>
          <p:cNvPr id="39" name="click_03_a4"/>
          <p:cNvSpPr/>
          <p:nvPr/>
        </p:nvSpPr>
        <p:spPr>
          <a:xfrm>
            <a:off x="6382512" y="4663440"/>
            <a:ext cx="1691640" cy="5029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Serve / UI</a:t>
            </a:r>
            <a:endParaRPr lang="en-US" sz="1200" dirty="0"/>
          </a:p>
        </p:txBody>
      </p:sp>
      <p:sp>
        <p:nvSpPr>
          <p:cNvPr id="40" name="click_03_b4"/>
          <p:cNvSpPr/>
          <p:nvPr/>
        </p:nvSpPr>
        <p:spPr>
          <a:xfrm>
            <a:off x="8119872" y="4663440"/>
            <a:ext cx="3246120" cy="502920"/>
          </a:xfrm>
          <a:prstGeom prst="rect">
            <a:avLst/>
          </a:prstGeom>
          <a:noFill/>
          <a:ln/>
        </p:spPr>
        <p:txBody>
          <a:bodyPr wrap="square" lIns="0" tIns="0" rIns="0" bIns="0" rtlCol="0" anchor="ctr"/>
          <a:lstStyle/>
          <a:p>
            <a:pPr indent="0" marL="0">
              <a:buNone/>
            </a:pPr>
            <a:r>
              <a:rPr lang="en-US" sz="1200" dirty="0">
                <a:solidFill>
                  <a:srgbClr val="3F3A36"/>
                </a:solidFill>
                <a:latin typeface="Calibri" pitchFamily="34" charset="0"/>
                <a:ea typeface="Calibri" pitchFamily="34" charset="-122"/>
                <a:cs typeface="Calibri" pitchFamily="34" charset="-120"/>
              </a:rPr>
              <a:t>FastAPI, HTML/JS or React</a:t>
            </a:r>
            <a:endParaRPr lang="en-US" sz="1200" dirty="0"/>
          </a:p>
        </p:txBody>
      </p:sp>
      <p:sp>
        <p:nvSpPr>
          <p:cNvPr id="41" name="click_03_ln5"/>
          <p:cNvSpPr/>
          <p:nvPr/>
        </p:nvSpPr>
        <p:spPr>
          <a:xfrm>
            <a:off x="6382512" y="5230368"/>
            <a:ext cx="5029200" cy="9144"/>
          </a:xfrm>
          <a:prstGeom prst="rect">
            <a:avLst/>
          </a:prstGeom>
          <a:solidFill>
            <a:srgbClr val="D9D2C5"/>
          </a:solidFill>
          <a:ln/>
        </p:spPr>
      </p:sp>
      <p:sp>
        <p:nvSpPr>
          <p:cNvPr id="42" name="click_03_a5"/>
          <p:cNvSpPr/>
          <p:nvPr/>
        </p:nvSpPr>
        <p:spPr>
          <a:xfrm>
            <a:off x="6382512" y="5285232"/>
            <a:ext cx="1691640" cy="5029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Tools</a:t>
            </a:r>
            <a:endParaRPr lang="en-US" sz="1200" dirty="0"/>
          </a:p>
        </p:txBody>
      </p:sp>
      <p:sp>
        <p:nvSpPr>
          <p:cNvPr id="43" name="click_03_b5"/>
          <p:cNvSpPr/>
          <p:nvPr/>
        </p:nvSpPr>
        <p:spPr>
          <a:xfrm>
            <a:off x="8119872" y="5285232"/>
            <a:ext cx="3246120" cy="502920"/>
          </a:xfrm>
          <a:prstGeom prst="rect">
            <a:avLst/>
          </a:prstGeom>
          <a:noFill/>
          <a:ln/>
        </p:spPr>
        <p:txBody>
          <a:bodyPr wrap="square" lIns="0" tIns="0" rIns="0" bIns="0" rtlCol="0" anchor="ctr"/>
          <a:lstStyle/>
          <a:p>
            <a:pPr indent="0" marL="0">
              <a:buNone/>
            </a:pPr>
            <a:r>
              <a:rPr lang="en-US" sz="1200" dirty="0">
                <a:solidFill>
                  <a:srgbClr val="3F3A36"/>
                </a:solidFill>
                <a:latin typeface="Calibri" pitchFamily="34" charset="0"/>
                <a:ea typeface="Calibri" pitchFamily="34" charset="-122"/>
                <a:cs typeface="Calibri" pitchFamily="34" charset="-120"/>
              </a:rPr>
              <a:t>VS Code, Git</a:t>
            </a:r>
            <a:endParaRPr lang="en-US" sz="1200" dirty="0"/>
          </a:p>
        </p:txBody>
      </p:sp>
    </p:spTree>
  </p:cSld>
  <p:clrMapOvr>
    <a:masterClrMapping/>
  </p:clrMapOvr>
  <p:transition spd="med" advClick="1">
    <p:fade/>
  </p:transition>
  <p:timing>
    <p:tnLst>
      <p:par>
        <p:cTn id="1" dur="indefinite" restart="never" nodeType="tmRoot">
          <p:childTnLst>
            <p:seq concurrent="true" nextAc="seek">
              <p:cTn id="84"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36" fill="hold">
                      <p:stCondLst>
                        <p:cond delay="indefinite"/>
                      </p:stCondLst>
                      <p:childTnLst>
                        <p:par>
                          <p:cTn id="37"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1"/>
                                        </p:tgtEl>
                                      </p:cBhvr>
                                    </p:animEffect>
                                  </p:childTnLst>
                                </p:cTn>
                              </p:par>
                              <p:par>
                                <p:cTn id="14" presetID="10" presetClass="entr" presetSubtype="0" fill="hold" grpId="0" nodeType="withEffect">
                                  <p:stCondLst>
                                    <p:cond delay="0"/>
                                  </p:stCondLst>
                                  <p:childTnLst>
                                    <p:animEffect transition="in" filter="fade">
                                      <p:cBhvr>
                                        <p:cTn id="15" dur="450"/>
                                        <p:tgtEl>
                                          <p:spTgt spid="12"/>
                                        </p:tgtEl>
                                      </p:cBhvr>
                                    </p:animEffect>
                                  </p:childTnLst>
                                </p:cTn>
                              </p:par>
                              <p:par>
                                <p:cTn id="16" presetID="10" presetClass="entr" presetSubtype="0" fill="hold" grpId="0" nodeType="withEffect">
                                  <p:stCondLst>
                                    <p:cond delay="0"/>
                                  </p:stCondLst>
                                  <p:childTnLst>
                                    <p:animEffect transition="in" filter="fade">
                                      <p:cBhvr>
                                        <p:cTn id="17" dur="450"/>
                                        <p:tgtEl>
                                          <p:spTgt spid="13"/>
                                        </p:tgtEl>
                                      </p:cBhvr>
                                    </p:animEffect>
                                  </p:childTnLst>
                                </p:cTn>
                              </p:par>
                              <p:par>
                                <p:cTn id="18" presetID="10" presetClass="entr" presetSubtype="0" fill="hold" grpId="0" nodeType="withEffect">
                                  <p:stCondLst>
                                    <p:cond delay="0"/>
                                  </p:stCondLst>
                                  <p:childTnLst>
                                    <p:animEffect transition="in" filter="fade">
                                      <p:cBhvr>
                                        <p:cTn id="19" dur="450"/>
                                        <p:tgtEl>
                                          <p:spTgt spid="14"/>
                                        </p:tgtEl>
                                      </p:cBhvr>
                                    </p:animEffect>
                                  </p:childTnLst>
                                </p:cTn>
                              </p:par>
                              <p:par>
                                <p:cTn id="20" presetID="10" presetClass="entr" presetSubtype="0" fill="hold" grpId="0" nodeType="withEffect">
                                  <p:stCondLst>
                                    <p:cond delay="0"/>
                                  </p:stCondLst>
                                  <p:childTnLst>
                                    <p:animEffect transition="in" filter="fade">
                                      <p:cBhvr>
                                        <p:cTn id="21" dur="450"/>
                                        <p:tgtEl>
                                          <p:spTgt spid="15"/>
                                        </p:tgtEl>
                                      </p:cBhvr>
                                    </p:animEffect>
                                  </p:childTnLst>
                                </p:cTn>
                              </p:par>
                              <p:par>
                                <p:cTn id="22" presetID="10" presetClass="entr" presetSubtype="0" fill="hold" grpId="0" nodeType="withEffect">
                                  <p:stCondLst>
                                    <p:cond delay="0"/>
                                  </p:stCondLst>
                                  <p:childTnLst>
                                    <p:animEffect transition="in" filter="fade">
                                      <p:cBhvr>
                                        <p:cTn id="23" dur="450"/>
                                        <p:tgtEl>
                                          <p:spTgt spid="16"/>
                                        </p:tgtEl>
                                      </p:cBhvr>
                                    </p:animEffect>
                                  </p:childTnLst>
                                </p:cTn>
                              </p:par>
                              <p:par>
                                <p:cTn id="24" presetID="10" presetClass="entr" presetSubtype="0" fill="hold" grpId="0" nodeType="withEffect">
                                  <p:stCondLst>
                                    <p:cond delay="0"/>
                                  </p:stCondLst>
                                  <p:childTnLst>
                                    <p:animEffect transition="in" filter="fade">
                                      <p:cBhvr>
                                        <p:cTn id="25" dur="450"/>
                                        <p:tgtEl>
                                          <p:spTgt spid="17"/>
                                        </p:tgtEl>
                                      </p:cBhvr>
                                    </p:animEffect>
                                  </p:childTnLst>
                                </p:cTn>
                              </p:par>
                              <p:par>
                                <p:cTn id="26" presetID="10" presetClass="entr" presetSubtype="0" fill="hold" grpId="0" nodeType="withEffect">
                                  <p:stCondLst>
                                    <p:cond delay="0"/>
                                  </p:stCondLst>
                                  <p:childTnLst>
                                    <p:animEffect transition="in" filter="fade">
                                      <p:cBhvr>
                                        <p:cTn id="27" dur="450"/>
                                        <p:tgtEl>
                                          <p:spTgt spid="18"/>
                                        </p:tgtEl>
                                      </p:cBhvr>
                                    </p:animEffect>
                                  </p:childTnLst>
                                </p:cTn>
                              </p:par>
                              <p:par>
                                <p:cTn id="28" presetID="10" presetClass="entr" presetSubtype="0" fill="hold" grpId="0" nodeType="withEffect">
                                  <p:stCondLst>
                                    <p:cond delay="0"/>
                                  </p:stCondLst>
                                  <p:childTnLst>
                                    <p:animEffect transition="in" filter="fade">
                                      <p:cBhvr>
                                        <p:cTn id="29" dur="450"/>
                                        <p:tgtEl>
                                          <p:spTgt spid="19"/>
                                        </p:tgtEl>
                                      </p:cBhvr>
                                    </p:animEffect>
                                  </p:childTnLst>
                                </p:cTn>
                              </p:par>
                              <p:par>
                                <p:cTn id="30" presetID="10" presetClass="entr" presetSubtype="0" fill="hold" grpId="0" nodeType="withEffect">
                                  <p:stCondLst>
                                    <p:cond delay="0"/>
                                  </p:stCondLst>
                                  <p:childTnLst>
                                    <p:animEffect transition="in" filter="fade">
                                      <p:cBhvr>
                                        <p:cTn id="31" dur="450"/>
                                        <p:tgtEl>
                                          <p:spTgt spid="20"/>
                                        </p:tgtEl>
                                      </p:cBhvr>
                                    </p:animEffect>
                                  </p:childTnLst>
                                </p:cTn>
                              </p:par>
                              <p:par>
                                <p:cTn id="32" presetID="10" presetClass="entr" presetSubtype="0" fill="hold" grpId="0" nodeType="withEffect">
                                  <p:stCondLst>
                                    <p:cond delay="0"/>
                                  </p:stCondLst>
                                  <p:childTnLst>
                                    <p:animEffect transition="in" filter="fade">
                                      <p:cBhvr>
                                        <p:cTn id="33" dur="450"/>
                                        <p:tgtEl>
                                          <p:spTgt spid="21"/>
                                        </p:tgtEl>
                                      </p:cBhvr>
                                    </p:animEffect>
                                  </p:childTnLst>
                                </p:cTn>
                              </p:par>
                              <p:par>
                                <p:cTn id="34" presetID="10" presetClass="entr" presetSubtype="0" fill="hold" grpId="0" nodeType="withEffect">
                                  <p:stCondLst>
                                    <p:cond delay="0"/>
                                  </p:stCondLst>
                                  <p:childTnLst>
                                    <p:animEffect transition="in" filter="fade">
                                      <p:cBhvr>
                                        <p:cTn id="35" dur="450"/>
                                        <p:tgtEl>
                                          <p:spTgt spid="10"/>
                                        </p:tgtEl>
                                      </p:cBhvr>
                                    </p:animEffect>
                                  </p:childTnLst>
                                </p:cTn>
                              </p:par>
                            </p:childTnLst>
                          </p:cTn>
                        </p:par>
                      </p:childTnLst>
                    </p:cTn>
                  </p:par>
                  <p:par>
                    <p:cTn id="82" fill="hold">
                      <p:stCondLst>
                        <p:cond delay="indefinite"/>
                      </p:stCondLst>
                      <p:childTnLst>
                        <p:par>
                          <p:cTn id="83" fill="hold">
                            <p:stCondLst>
                              <p:cond delay="0"/>
                            </p:stCondLst>
                            <p:childTnLst>
                              <p:par>
                                <p:cTn id="38" presetID="10" presetClass="entr" presetSubtype="0" fill="hold" grpId="0" nodeType="clickEffect">
                                  <p:stCondLst>
                                    <p:cond delay="0"/>
                                  </p:stCondLst>
                                  <p:childTnLst>
                                    <p:animEffect transition="in" filter="fade">
                                      <p:cBhvr>
                                        <p:cTn id="39" dur="450"/>
                                        <p:tgtEl>
                                          <p:spTgt spid="22"/>
                                        </p:tgtEl>
                                      </p:cBhvr>
                                    </p:animEffect>
                                  </p:childTnLst>
                                </p:cTn>
                              </p:par>
                              <p:par>
                                <p:cTn id="40" presetID="10" presetClass="entr" presetSubtype="0" fill="hold" grpId="0" nodeType="withEffect">
                                  <p:stCondLst>
                                    <p:cond delay="0"/>
                                  </p:stCondLst>
                                  <p:childTnLst>
                                    <p:animEffect transition="in" filter="fade">
                                      <p:cBhvr>
                                        <p:cTn id="41" dur="450"/>
                                        <p:tgtEl>
                                          <p:spTgt spid="23"/>
                                        </p:tgtEl>
                                      </p:cBhvr>
                                    </p:animEffect>
                                  </p:childTnLst>
                                </p:cTn>
                              </p:par>
                              <p:par>
                                <p:cTn id="42" presetID="10" presetClass="entr" presetSubtype="0" fill="hold" grpId="0" nodeType="withEffect">
                                  <p:stCondLst>
                                    <p:cond delay="0"/>
                                  </p:stCondLst>
                                  <p:childTnLst>
                                    <p:animEffect transition="in" filter="fade">
                                      <p:cBhvr>
                                        <p:cTn id="43" dur="450"/>
                                        <p:tgtEl>
                                          <p:spTgt spid="24"/>
                                        </p:tgtEl>
                                      </p:cBhvr>
                                    </p:animEffect>
                                  </p:childTnLst>
                                </p:cTn>
                              </p:par>
                              <p:par>
                                <p:cTn id="44" presetID="10" presetClass="entr" presetSubtype="0" fill="hold" grpId="0" nodeType="withEffect">
                                  <p:stCondLst>
                                    <p:cond delay="0"/>
                                  </p:stCondLst>
                                  <p:childTnLst>
                                    <p:animEffect transition="in" filter="fade">
                                      <p:cBhvr>
                                        <p:cTn id="45" dur="450"/>
                                        <p:tgtEl>
                                          <p:spTgt spid="26"/>
                                        </p:tgtEl>
                                      </p:cBhvr>
                                    </p:animEffect>
                                  </p:childTnLst>
                                </p:cTn>
                              </p:par>
                              <p:par>
                                <p:cTn id="46" presetID="10" presetClass="entr" presetSubtype="0" fill="hold" grpId="0" nodeType="withEffect">
                                  <p:stCondLst>
                                    <p:cond delay="0"/>
                                  </p:stCondLst>
                                  <p:childTnLst>
                                    <p:animEffect transition="in" filter="fade">
                                      <p:cBhvr>
                                        <p:cTn id="47" dur="450"/>
                                        <p:tgtEl>
                                          <p:spTgt spid="27"/>
                                        </p:tgtEl>
                                      </p:cBhvr>
                                    </p:animEffect>
                                  </p:childTnLst>
                                </p:cTn>
                              </p:par>
                              <p:par>
                                <p:cTn id="48" presetID="10" presetClass="entr" presetSubtype="0" fill="hold" grpId="0" nodeType="withEffect">
                                  <p:stCondLst>
                                    <p:cond delay="0"/>
                                  </p:stCondLst>
                                  <p:childTnLst>
                                    <p:animEffect transition="in" filter="fade">
                                      <p:cBhvr>
                                        <p:cTn id="49" dur="450"/>
                                        <p:tgtEl>
                                          <p:spTgt spid="28"/>
                                        </p:tgtEl>
                                      </p:cBhvr>
                                    </p:animEffect>
                                  </p:childTnLst>
                                </p:cTn>
                              </p:par>
                              <p:par>
                                <p:cTn id="50" presetID="10" presetClass="entr" presetSubtype="0" fill="hold" grpId="0" nodeType="withEffect">
                                  <p:stCondLst>
                                    <p:cond delay="0"/>
                                  </p:stCondLst>
                                  <p:childTnLst>
                                    <p:animEffect transition="in" filter="fade">
                                      <p:cBhvr>
                                        <p:cTn id="51" dur="450"/>
                                        <p:tgtEl>
                                          <p:spTgt spid="29"/>
                                        </p:tgtEl>
                                      </p:cBhvr>
                                    </p:animEffect>
                                  </p:childTnLst>
                                </p:cTn>
                              </p:par>
                              <p:par>
                                <p:cTn id="52" presetID="10" presetClass="entr" presetSubtype="0" fill="hold" grpId="0" nodeType="withEffect">
                                  <p:stCondLst>
                                    <p:cond delay="0"/>
                                  </p:stCondLst>
                                  <p:childTnLst>
                                    <p:animEffect transition="in" filter="fade">
                                      <p:cBhvr>
                                        <p:cTn id="53" dur="450"/>
                                        <p:tgtEl>
                                          <p:spTgt spid="30"/>
                                        </p:tgtEl>
                                      </p:cBhvr>
                                    </p:animEffect>
                                  </p:childTnLst>
                                </p:cTn>
                              </p:par>
                              <p:par>
                                <p:cTn id="54" presetID="10" presetClass="entr" presetSubtype="0" fill="hold" grpId="0" nodeType="withEffect">
                                  <p:stCondLst>
                                    <p:cond delay="0"/>
                                  </p:stCondLst>
                                  <p:childTnLst>
                                    <p:animEffect transition="in" filter="fade">
                                      <p:cBhvr>
                                        <p:cTn id="55" dur="450"/>
                                        <p:tgtEl>
                                          <p:spTgt spid="31"/>
                                        </p:tgtEl>
                                      </p:cBhvr>
                                    </p:animEffect>
                                  </p:childTnLst>
                                </p:cTn>
                              </p:par>
                              <p:par>
                                <p:cTn id="56" presetID="10" presetClass="entr" presetSubtype="0" fill="hold" grpId="0" nodeType="withEffect">
                                  <p:stCondLst>
                                    <p:cond delay="0"/>
                                  </p:stCondLst>
                                  <p:childTnLst>
                                    <p:animEffect transition="in" filter="fade">
                                      <p:cBhvr>
                                        <p:cTn id="57" dur="450"/>
                                        <p:tgtEl>
                                          <p:spTgt spid="32"/>
                                        </p:tgtEl>
                                      </p:cBhvr>
                                    </p:animEffect>
                                  </p:childTnLst>
                                </p:cTn>
                              </p:par>
                              <p:par>
                                <p:cTn id="58" presetID="10" presetClass="entr" presetSubtype="0" fill="hold" grpId="0" nodeType="withEffect">
                                  <p:stCondLst>
                                    <p:cond delay="0"/>
                                  </p:stCondLst>
                                  <p:childTnLst>
                                    <p:animEffect transition="in" filter="fade">
                                      <p:cBhvr>
                                        <p:cTn id="59" dur="450"/>
                                        <p:tgtEl>
                                          <p:spTgt spid="33"/>
                                        </p:tgtEl>
                                      </p:cBhvr>
                                    </p:animEffect>
                                  </p:childTnLst>
                                </p:cTn>
                              </p:par>
                              <p:par>
                                <p:cTn id="60" presetID="10" presetClass="entr" presetSubtype="0" fill="hold" grpId="0" nodeType="withEffect">
                                  <p:stCondLst>
                                    <p:cond delay="0"/>
                                  </p:stCondLst>
                                  <p:childTnLst>
                                    <p:animEffect transition="in" filter="fade">
                                      <p:cBhvr>
                                        <p:cTn id="61" dur="450"/>
                                        <p:tgtEl>
                                          <p:spTgt spid="34"/>
                                        </p:tgtEl>
                                      </p:cBhvr>
                                    </p:animEffect>
                                  </p:childTnLst>
                                </p:cTn>
                              </p:par>
                              <p:par>
                                <p:cTn id="62" presetID="10" presetClass="entr" presetSubtype="0" fill="hold" grpId="0" nodeType="withEffect">
                                  <p:stCondLst>
                                    <p:cond delay="0"/>
                                  </p:stCondLst>
                                  <p:childTnLst>
                                    <p:animEffect transition="in" filter="fade">
                                      <p:cBhvr>
                                        <p:cTn id="63" dur="450"/>
                                        <p:tgtEl>
                                          <p:spTgt spid="35"/>
                                        </p:tgtEl>
                                      </p:cBhvr>
                                    </p:animEffect>
                                  </p:childTnLst>
                                </p:cTn>
                              </p:par>
                              <p:par>
                                <p:cTn id="64" presetID="10" presetClass="entr" presetSubtype="0" fill="hold" grpId="0" nodeType="withEffect">
                                  <p:stCondLst>
                                    <p:cond delay="0"/>
                                  </p:stCondLst>
                                  <p:childTnLst>
                                    <p:animEffect transition="in" filter="fade">
                                      <p:cBhvr>
                                        <p:cTn id="65" dur="450"/>
                                        <p:tgtEl>
                                          <p:spTgt spid="36"/>
                                        </p:tgtEl>
                                      </p:cBhvr>
                                    </p:animEffect>
                                  </p:childTnLst>
                                </p:cTn>
                              </p:par>
                              <p:par>
                                <p:cTn id="66" presetID="10" presetClass="entr" presetSubtype="0" fill="hold" grpId="0" nodeType="withEffect">
                                  <p:stCondLst>
                                    <p:cond delay="0"/>
                                  </p:stCondLst>
                                  <p:childTnLst>
                                    <p:animEffect transition="in" filter="fade">
                                      <p:cBhvr>
                                        <p:cTn id="67" dur="450"/>
                                        <p:tgtEl>
                                          <p:spTgt spid="37"/>
                                        </p:tgtEl>
                                      </p:cBhvr>
                                    </p:animEffect>
                                  </p:childTnLst>
                                </p:cTn>
                              </p:par>
                              <p:par>
                                <p:cTn id="68" presetID="10" presetClass="entr" presetSubtype="0" fill="hold" grpId="0" nodeType="withEffect">
                                  <p:stCondLst>
                                    <p:cond delay="0"/>
                                  </p:stCondLst>
                                  <p:childTnLst>
                                    <p:animEffect transition="in" filter="fade">
                                      <p:cBhvr>
                                        <p:cTn id="69" dur="450"/>
                                        <p:tgtEl>
                                          <p:spTgt spid="38"/>
                                        </p:tgtEl>
                                      </p:cBhvr>
                                    </p:animEffect>
                                  </p:childTnLst>
                                </p:cTn>
                              </p:par>
                              <p:par>
                                <p:cTn id="70" presetID="10" presetClass="entr" presetSubtype="0" fill="hold" grpId="0" nodeType="withEffect">
                                  <p:stCondLst>
                                    <p:cond delay="0"/>
                                  </p:stCondLst>
                                  <p:childTnLst>
                                    <p:animEffect transition="in" filter="fade">
                                      <p:cBhvr>
                                        <p:cTn id="71" dur="450"/>
                                        <p:tgtEl>
                                          <p:spTgt spid="39"/>
                                        </p:tgtEl>
                                      </p:cBhvr>
                                    </p:animEffect>
                                  </p:childTnLst>
                                </p:cTn>
                              </p:par>
                              <p:par>
                                <p:cTn id="72" presetID="10" presetClass="entr" presetSubtype="0" fill="hold" grpId="0" nodeType="withEffect">
                                  <p:stCondLst>
                                    <p:cond delay="0"/>
                                  </p:stCondLst>
                                  <p:childTnLst>
                                    <p:animEffect transition="in" filter="fade">
                                      <p:cBhvr>
                                        <p:cTn id="73" dur="450"/>
                                        <p:tgtEl>
                                          <p:spTgt spid="40"/>
                                        </p:tgtEl>
                                      </p:cBhvr>
                                    </p:animEffect>
                                  </p:childTnLst>
                                </p:cTn>
                              </p:par>
                              <p:par>
                                <p:cTn id="74" presetID="10" presetClass="entr" presetSubtype="0" fill="hold" grpId="0" nodeType="withEffect">
                                  <p:stCondLst>
                                    <p:cond delay="0"/>
                                  </p:stCondLst>
                                  <p:childTnLst>
                                    <p:animEffect transition="in" filter="fade">
                                      <p:cBhvr>
                                        <p:cTn id="75" dur="450"/>
                                        <p:tgtEl>
                                          <p:spTgt spid="41"/>
                                        </p:tgtEl>
                                      </p:cBhvr>
                                    </p:animEffect>
                                  </p:childTnLst>
                                </p:cTn>
                              </p:par>
                              <p:par>
                                <p:cTn id="76" presetID="10" presetClass="entr" presetSubtype="0" fill="hold" grpId="0" nodeType="withEffect">
                                  <p:stCondLst>
                                    <p:cond delay="0"/>
                                  </p:stCondLst>
                                  <p:childTnLst>
                                    <p:animEffect transition="in" filter="fade">
                                      <p:cBhvr>
                                        <p:cTn id="77" dur="450"/>
                                        <p:tgtEl>
                                          <p:spTgt spid="42"/>
                                        </p:tgtEl>
                                      </p:cBhvr>
                                    </p:animEffect>
                                  </p:childTnLst>
                                </p:cTn>
                              </p:par>
                              <p:par>
                                <p:cTn id="78" presetID="10" presetClass="entr" presetSubtype="0" fill="hold" grpId="0" nodeType="withEffect">
                                  <p:stCondLst>
                                    <p:cond delay="0"/>
                                  </p:stCondLst>
                                  <p:childTnLst>
                                    <p:animEffect transition="in" filter="fade">
                                      <p:cBhvr>
                                        <p:cTn id="79" dur="450"/>
                                        <p:tgtEl>
                                          <p:spTgt spid="43"/>
                                        </p:tgtEl>
                                      </p:cBhvr>
                                    </p:animEffect>
                                  </p:childTnLst>
                                </p:cTn>
                              </p:par>
                              <p:par>
                                <p:cTn id="80" presetID="10" presetClass="entr" presetSubtype="0" fill="hold" grpId="0" nodeType="withEffect">
                                  <p:stCondLst>
                                    <p:cond delay="0"/>
                                  </p:stCondLst>
                                  <p:childTnLst>
                                    <p:animEffect transition="in" filter="fade">
                                      <p:cBhvr>
                                        <p:cTn id="81"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1" grpId="0"/>
      <p:bldP spid="12" grpId="0"/>
      <p:bldP spid="13" grpId="0"/>
      <p:bldP spid="14" grpId="0"/>
      <p:bldP spid="15" grpId="0"/>
      <p:bldP spid="16" grpId="0"/>
      <p:bldP spid="17" grpId="0"/>
      <p:bldP spid="18" grpId="0"/>
      <p:bldP spid="19" grpId="0"/>
      <p:bldP spid="20" grpId="0"/>
      <p:bldP spid="21" grpId="0"/>
      <p:bldP spid="10" grpId="0"/>
      <p:bldP spid="22" grpId="0"/>
      <p:bldP spid="23" grpId="0"/>
      <p:bldP spid="24"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25" grpId="0"/>
    </p:bldLst>
  </p:timing>
</p:sld>
</file>

<file path=ppt/slides/slide10.xml><?xml version="1.0" encoding="utf-8"?>
<p:sld xmlns:a="http://schemas.openxmlformats.org/drawingml/2006/main" xmlns:p="http://schemas.openxmlformats.org/presentationml/2006/main" xmlns:r="http://schemas.openxmlformats.org/officeDocument/2006/relationships">
  <p:cSld name="Slide 10">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10  ·  EXPECTED OUTCOMES</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10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What the project will deliver</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bg"/>
          <p:cNvSpPr/>
          <p:nvPr/>
        </p:nvSpPr>
        <p:spPr>
          <a:xfrm>
            <a:off x="548640" y="1298448"/>
            <a:ext cx="3611880" cy="212140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8" name="click_02_bar"/>
          <p:cNvSpPr/>
          <p:nvPr/>
        </p:nvSpPr>
        <p:spPr>
          <a:xfrm>
            <a:off x="548640" y="1298448"/>
            <a:ext cx="64008" cy="2121408"/>
          </a:xfrm>
          <a:prstGeom prst="rect">
            <a:avLst/>
          </a:prstGeom>
          <a:solidFill>
            <a:srgbClr val="16324F"/>
          </a:solidFill>
          <a:ln/>
        </p:spPr>
      </p:sp>
      <p:sp>
        <p:nvSpPr>
          <p:cNvPr id="9" name="click_02_ov"/>
          <p:cNvSpPr/>
          <p:nvPr/>
        </p:nvSpPr>
        <p:spPr>
          <a:xfrm>
            <a:off x="749808" y="1481328"/>
            <a:ext cx="457200" cy="457200"/>
          </a:xfrm>
          <a:prstGeom prst="ellipse">
            <a:avLst/>
          </a:prstGeom>
          <a:solidFill>
            <a:srgbClr val="B8954A"/>
          </a:solidFill>
          <a:ln/>
        </p:spPr>
      </p:sp>
      <p:pic>
        <p:nvPicPr>
          <p:cNvPr id="10" name="click_02_ic" descr="preencoded.png">    </p:cNvPr>
          <p:cNvPicPr>
            <a:picLocks noChangeAspect="1"/>
          </p:cNvPicPr>
          <p:nvPr/>
        </p:nvPicPr>
        <p:blipFill>
          <a:blip r:embed="rId1"/>
          <a:stretch>
            <a:fillRect/>
          </a:stretch>
        </p:blipFill>
        <p:spPr>
          <a:xfrm>
            <a:off x="868680" y="1600200"/>
            <a:ext cx="219456" cy="219456"/>
          </a:xfrm>
          <a:prstGeom prst="rect">
            <a:avLst/>
          </a:prstGeom>
        </p:spPr>
      </p:pic>
      <p:sp>
        <p:nvSpPr>
          <p:cNvPr id="11" name="click_02_t"/>
          <p:cNvSpPr/>
          <p:nvPr/>
        </p:nvSpPr>
        <p:spPr>
          <a:xfrm>
            <a:off x="1316736" y="1499616"/>
            <a:ext cx="2651760" cy="438912"/>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JSON catalogue</a:t>
            </a:r>
            <a:endParaRPr lang="en-US" sz="1500" dirty="0"/>
          </a:p>
        </p:txBody>
      </p:sp>
      <p:sp>
        <p:nvSpPr>
          <p:cNvPr id="12" name="click_02_d"/>
          <p:cNvSpPr/>
          <p:nvPr/>
        </p:nvSpPr>
        <p:spPr>
          <a:xfrm>
            <a:off x="749808" y="2048256"/>
            <a:ext cx="320040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An extensible tool interface with the Phase-1 set actually implemented, plus a documented path to register further tools.</a:t>
            </a:r>
            <a:endParaRPr lang="en-US" sz="1300" dirty="0"/>
          </a:p>
        </p:txBody>
      </p:sp>
      <p:sp>
        <p:nvSpPr>
          <p:cNvPr id="13" name="click_03_bg"/>
          <p:cNvSpPr/>
          <p:nvPr/>
        </p:nvSpPr>
        <p:spPr>
          <a:xfrm>
            <a:off x="4343400" y="1298448"/>
            <a:ext cx="3611880" cy="212140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4" name="click_03_bar"/>
          <p:cNvSpPr/>
          <p:nvPr/>
        </p:nvSpPr>
        <p:spPr>
          <a:xfrm>
            <a:off x="4343400" y="1298448"/>
            <a:ext cx="64008" cy="2121408"/>
          </a:xfrm>
          <a:prstGeom prst="rect">
            <a:avLst/>
          </a:prstGeom>
          <a:solidFill>
            <a:srgbClr val="16324F"/>
          </a:solidFill>
          <a:ln/>
        </p:spPr>
      </p:sp>
      <p:sp>
        <p:nvSpPr>
          <p:cNvPr id="15" name="click_03_ov"/>
          <p:cNvSpPr/>
          <p:nvPr/>
        </p:nvSpPr>
        <p:spPr>
          <a:xfrm>
            <a:off x="4544568" y="1481328"/>
            <a:ext cx="457200" cy="457200"/>
          </a:xfrm>
          <a:prstGeom prst="ellipse">
            <a:avLst/>
          </a:prstGeom>
          <a:solidFill>
            <a:srgbClr val="B8954A"/>
          </a:solidFill>
          <a:ln/>
        </p:spPr>
      </p:sp>
      <p:pic>
        <p:nvPicPr>
          <p:cNvPr id="16" name="click_03_ic" descr="preencoded.png">    </p:cNvPr>
          <p:cNvPicPr>
            <a:picLocks noChangeAspect="1"/>
          </p:cNvPicPr>
          <p:nvPr/>
        </p:nvPicPr>
        <p:blipFill>
          <a:blip r:embed="rId2"/>
          <a:stretch>
            <a:fillRect/>
          </a:stretch>
        </p:blipFill>
        <p:spPr>
          <a:xfrm>
            <a:off x="4663440" y="1600200"/>
            <a:ext cx="219456" cy="219456"/>
          </a:xfrm>
          <a:prstGeom prst="rect">
            <a:avLst/>
          </a:prstGeom>
        </p:spPr>
      </p:pic>
      <p:sp>
        <p:nvSpPr>
          <p:cNvPr id="17" name="click_03_t"/>
          <p:cNvSpPr/>
          <p:nvPr/>
        </p:nvSpPr>
        <p:spPr>
          <a:xfrm>
            <a:off x="5111496" y="1499616"/>
            <a:ext cx="2651760" cy="438912"/>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Frozen specialists</a:t>
            </a:r>
            <a:endParaRPr lang="en-US" sz="1500" dirty="0"/>
          </a:p>
        </p:txBody>
      </p:sp>
      <p:sp>
        <p:nvSpPr>
          <p:cNvPr id="18" name="click_03_d"/>
          <p:cNvSpPr/>
          <p:nvPr/>
        </p:nvSpPr>
        <p:spPr>
          <a:xfrm>
            <a:off x="4544568" y="2048256"/>
            <a:ext cx="320040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CXR and skin tools with honest baseline numbers versus CheXpert and HAM10000/ISIC papers — no unearned SOTA.</a:t>
            </a:r>
            <a:endParaRPr lang="en-US" sz="1300" dirty="0"/>
          </a:p>
        </p:txBody>
      </p:sp>
      <p:sp>
        <p:nvSpPr>
          <p:cNvPr id="19" name="click_04_bg"/>
          <p:cNvSpPr/>
          <p:nvPr/>
        </p:nvSpPr>
        <p:spPr>
          <a:xfrm>
            <a:off x="8138160" y="1298448"/>
            <a:ext cx="3611880" cy="212140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0" name="click_04_bar"/>
          <p:cNvSpPr/>
          <p:nvPr/>
        </p:nvSpPr>
        <p:spPr>
          <a:xfrm>
            <a:off x="8138160" y="1298448"/>
            <a:ext cx="64008" cy="2121408"/>
          </a:xfrm>
          <a:prstGeom prst="rect">
            <a:avLst/>
          </a:prstGeom>
          <a:solidFill>
            <a:srgbClr val="16324F"/>
          </a:solidFill>
          <a:ln/>
        </p:spPr>
      </p:sp>
      <p:sp>
        <p:nvSpPr>
          <p:cNvPr id="21" name="click_04_ov"/>
          <p:cNvSpPr/>
          <p:nvPr/>
        </p:nvSpPr>
        <p:spPr>
          <a:xfrm>
            <a:off x="8339328" y="1481328"/>
            <a:ext cx="457200" cy="457200"/>
          </a:xfrm>
          <a:prstGeom prst="ellipse">
            <a:avLst/>
          </a:prstGeom>
          <a:solidFill>
            <a:srgbClr val="B8954A"/>
          </a:solidFill>
          <a:ln/>
        </p:spPr>
      </p:sp>
      <p:pic>
        <p:nvPicPr>
          <p:cNvPr id="22" name="click_04_ic" descr="preencoded.png">    </p:cNvPr>
          <p:cNvPicPr>
            <a:picLocks noChangeAspect="1"/>
          </p:cNvPicPr>
          <p:nvPr/>
        </p:nvPicPr>
        <p:blipFill>
          <a:blip r:embed="rId3"/>
          <a:stretch>
            <a:fillRect/>
          </a:stretch>
        </p:blipFill>
        <p:spPr>
          <a:xfrm>
            <a:off x="8458200" y="1600200"/>
            <a:ext cx="219456" cy="219456"/>
          </a:xfrm>
          <a:prstGeom prst="rect">
            <a:avLst/>
          </a:prstGeom>
        </p:spPr>
      </p:pic>
      <p:sp>
        <p:nvSpPr>
          <p:cNvPr id="23" name="click_04_t"/>
          <p:cNvSpPr/>
          <p:nvPr/>
        </p:nvSpPr>
        <p:spPr>
          <a:xfrm>
            <a:off x="8906256" y="1499616"/>
            <a:ext cx="2651760" cy="438912"/>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Lookups + STW</a:t>
            </a:r>
            <a:endParaRPr lang="en-US" sz="1500" dirty="0"/>
          </a:p>
        </p:txBody>
      </p:sp>
      <p:sp>
        <p:nvSpPr>
          <p:cNvPr id="24" name="click_04_d"/>
          <p:cNvSpPr/>
          <p:nvPr/>
        </p:nvSpPr>
        <p:spPr>
          <a:xfrm>
            <a:off x="8339328" y="2048256"/>
            <a:ext cx="320040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Document tool, dated NLEM/CDSCO, visual STW retrieve, student box IDs on pages used.</a:t>
            </a:r>
            <a:endParaRPr lang="en-US" sz="1300" dirty="0"/>
          </a:p>
        </p:txBody>
      </p:sp>
      <p:sp>
        <p:nvSpPr>
          <p:cNvPr id="25" name="click_05_bg"/>
          <p:cNvSpPr/>
          <p:nvPr/>
        </p:nvSpPr>
        <p:spPr>
          <a:xfrm>
            <a:off x="548640" y="3566160"/>
            <a:ext cx="3611880" cy="212140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6" name="click_05_bar"/>
          <p:cNvSpPr/>
          <p:nvPr/>
        </p:nvSpPr>
        <p:spPr>
          <a:xfrm>
            <a:off x="548640" y="3566160"/>
            <a:ext cx="64008" cy="2121408"/>
          </a:xfrm>
          <a:prstGeom prst="rect">
            <a:avLst/>
          </a:prstGeom>
          <a:solidFill>
            <a:srgbClr val="16324F"/>
          </a:solidFill>
          <a:ln/>
        </p:spPr>
      </p:sp>
      <p:sp>
        <p:nvSpPr>
          <p:cNvPr id="27" name="click_05_ov"/>
          <p:cNvSpPr/>
          <p:nvPr/>
        </p:nvSpPr>
        <p:spPr>
          <a:xfrm>
            <a:off x="749808" y="3749040"/>
            <a:ext cx="457200" cy="457200"/>
          </a:xfrm>
          <a:prstGeom prst="ellipse">
            <a:avLst/>
          </a:prstGeom>
          <a:solidFill>
            <a:srgbClr val="B8954A"/>
          </a:solidFill>
          <a:ln/>
        </p:spPr>
      </p:sp>
      <p:pic>
        <p:nvPicPr>
          <p:cNvPr id="28" name="click_05_ic" descr="preencoded.png">    </p:cNvPr>
          <p:cNvPicPr>
            <a:picLocks noChangeAspect="1"/>
          </p:cNvPicPr>
          <p:nvPr/>
        </p:nvPicPr>
        <p:blipFill>
          <a:blip r:embed="rId4"/>
          <a:stretch>
            <a:fillRect/>
          </a:stretch>
        </p:blipFill>
        <p:spPr>
          <a:xfrm>
            <a:off x="868680" y="3867912"/>
            <a:ext cx="219456" cy="219456"/>
          </a:xfrm>
          <a:prstGeom prst="rect">
            <a:avLst/>
          </a:prstGeom>
        </p:spPr>
      </p:pic>
      <p:sp>
        <p:nvSpPr>
          <p:cNvPr id="29" name="click_05_t"/>
          <p:cNvSpPr/>
          <p:nvPr/>
        </p:nvSpPr>
        <p:spPr>
          <a:xfrm>
            <a:off x="1316736" y="3767328"/>
            <a:ext cx="2651760" cy="438912"/>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Gold + refusals</a:t>
            </a:r>
            <a:endParaRPr lang="en-US" sz="1500" dirty="0"/>
          </a:p>
        </p:txBody>
      </p:sp>
      <p:sp>
        <p:nvSpPr>
          <p:cNvPr id="30" name="click_05_d"/>
          <p:cNvSpPr/>
          <p:nvPr/>
        </p:nvSpPr>
        <p:spPr>
          <a:xfrm>
            <a:off x="749808" y="4315968"/>
            <a:ext cx="320040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A labelled question set including grounded, insufficient, and out-of-scope items, with Hinglish near-misses.</a:t>
            </a:r>
            <a:endParaRPr lang="en-US" sz="1300" dirty="0"/>
          </a:p>
        </p:txBody>
      </p:sp>
      <p:sp>
        <p:nvSpPr>
          <p:cNvPr id="31" name="click_06_bg"/>
          <p:cNvSpPr/>
          <p:nvPr/>
        </p:nvSpPr>
        <p:spPr>
          <a:xfrm>
            <a:off x="4343400" y="3566160"/>
            <a:ext cx="3611880" cy="212140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32" name="click_06_bar"/>
          <p:cNvSpPr/>
          <p:nvPr/>
        </p:nvSpPr>
        <p:spPr>
          <a:xfrm>
            <a:off x="4343400" y="3566160"/>
            <a:ext cx="64008" cy="2121408"/>
          </a:xfrm>
          <a:prstGeom prst="rect">
            <a:avLst/>
          </a:prstGeom>
          <a:solidFill>
            <a:srgbClr val="16324F"/>
          </a:solidFill>
          <a:ln/>
        </p:spPr>
      </p:sp>
      <p:sp>
        <p:nvSpPr>
          <p:cNvPr id="33" name="click_06_ov"/>
          <p:cNvSpPr/>
          <p:nvPr/>
        </p:nvSpPr>
        <p:spPr>
          <a:xfrm>
            <a:off x="4544568" y="3749040"/>
            <a:ext cx="457200" cy="457200"/>
          </a:xfrm>
          <a:prstGeom prst="ellipse">
            <a:avLst/>
          </a:prstGeom>
          <a:solidFill>
            <a:srgbClr val="B8954A"/>
          </a:solidFill>
          <a:ln/>
        </p:spPr>
      </p:sp>
      <p:pic>
        <p:nvPicPr>
          <p:cNvPr id="34" name="click_06_ic" descr="preencoded.png">    </p:cNvPr>
          <p:cNvPicPr>
            <a:picLocks noChangeAspect="1"/>
          </p:cNvPicPr>
          <p:nvPr/>
        </p:nvPicPr>
        <p:blipFill>
          <a:blip r:embed="rId5"/>
          <a:stretch>
            <a:fillRect/>
          </a:stretch>
        </p:blipFill>
        <p:spPr>
          <a:xfrm>
            <a:off x="4663440" y="3867912"/>
            <a:ext cx="219456" cy="219456"/>
          </a:xfrm>
          <a:prstGeom prst="rect">
            <a:avLst/>
          </a:prstGeom>
        </p:spPr>
      </p:pic>
      <p:sp>
        <p:nvSpPr>
          <p:cNvPr id="35" name="click_06_t"/>
          <p:cNvSpPr/>
          <p:nvPr/>
        </p:nvSpPr>
        <p:spPr>
          <a:xfrm>
            <a:off x="5111496" y="3767328"/>
            <a:ext cx="2651760" cy="438912"/>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GEPA ablation</a:t>
            </a:r>
            <a:endParaRPr lang="en-US" sz="1500" dirty="0"/>
          </a:p>
        </p:txBody>
      </p:sp>
      <p:sp>
        <p:nvSpPr>
          <p:cNvPr id="36" name="click_06_d"/>
          <p:cNvSpPr/>
          <p:nvPr/>
        </p:nvSpPr>
        <p:spPr>
          <a:xfrm>
            <a:off x="4544568" y="4315968"/>
            <a:ext cx="320040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Hand prompt vs GEPA vs refusal-aware ICL vs visual STW, and a coverage-versus-ungrounded Pareto. If GEPA loses, that is reported.</a:t>
            </a:r>
            <a:endParaRPr lang="en-US" sz="1300" dirty="0"/>
          </a:p>
        </p:txBody>
      </p:sp>
      <p:sp>
        <p:nvSpPr>
          <p:cNvPr id="37" name="click_07_bg"/>
          <p:cNvSpPr/>
          <p:nvPr/>
        </p:nvSpPr>
        <p:spPr>
          <a:xfrm>
            <a:off x="8138160" y="3566160"/>
            <a:ext cx="3611880" cy="212140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38" name="click_07_bar"/>
          <p:cNvSpPr/>
          <p:nvPr/>
        </p:nvSpPr>
        <p:spPr>
          <a:xfrm>
            <a:off x="8138160" y="3566160"/>
            <a:ext cx="64008" cy="2121408"/>
          </a:xfrm>
          <a:prstGeom prst="rect">
            <a:avLst/>
          </a:prstGeom>
          <a:solidFill>
            <a:srgbClr val="16324F"/>
          </a:solidFill>
          <a:ln/>
        </p:spPr>
      </p:sp>
      <p:sp>
        <p:nvSpPr>
          <p:cNvPr id="39" name="click_07_ov"/>
          <p:cNvSpPr/>
          <p:nvPr/>
        </p:nvSpPr>
        <p:spPr>
          <a:xfrm>
            <a:off x="8339328" y="3749040"/>
            <a:ext cx="457200" cy="457200"/>
          </a:xfrm>
          <a:prstGeom prst="ellipse">
            <a:avLst/>
          </a:prstGeom>
          <a:solidFill>
            <a:srgbClr val="B8954A"/>
          </a:solidFill>
          <a:ln/>
        </p:spPr>
      </p:sp>
      <p:pic>
        <p:nvPicPr>
          <p:cNvPr id="40" name="click_07_ic" descr="preencoded.png">    </p:cNvPr>
          <p:cNvPicPr>
            <a:picLocks noChangeAspect="1"/>
          </p:cNvPicPr>
          <p:nvPr/>
        </p:nvPicPr>
        <p:blipFill>
          <a:blip r:embed="rId6"/>
          <a:stretch>
            <a:fillRect/>
          </a:stretch>
        </p:blipFill>
        <p:spPr>
          <a:xfrm>
            <a:off x="8458200" y="3867912"/>
            <a:ext cx="219456" cy="219456"/>
          </a:xfrm>
          <a:prstGeom prst="rect">
            <a:avLst/>
          </a:prstGeom>
        </p:spPr>
      </p:pic>
      <p:sp>
        <p:nvSpPr>
          <p:cNvPr id="41" name="click_07_t"/>
          <p:cNvSpPr/>
          <p:nvPr/>
        </p:nvSpPr>
        <p:spPr>
          <a:xfrm>
            <a:off x="8906256" y="3767328"/>
            <a:ext cx="2651760" cy="438912"/>
          </a:xfrm>
          <a:prstGeom prst="rect">
            <a:avLst/>
          </a:prstGeom>
          <a:noFill/>
          <a:ln/>
        </p:spPr>
        <p:txBody>
          <a:bodyPr wrap="square" lIns="0" tIns="0" rIns="0" bIns="0" rtlCol="0" anchor="ctr"/>
          <a:lstStyle/>
          <a:p>
            <a:pPr indent="0" marL="0">
              <a:buNone/>
            </a:pPr>
            <a:r>
              <a:rPr lang="en-US" sz="1500" dirty="0">
                <a:solidFill>
                  <a:srgbClr val="1C1917"/>
                </a:solidFill>
                <a:latin typeface="Georgia" pitchFamily="34" charset="0"/>
                <a:ea typeface="Georgia" pitchFamily="34" charset="-122"/>
                <a:cs typeface="Georgia" pitchFamily="34" charset="-120"/>
              </a:rPr>
              <a:t>Watermarked demo</a:t>
            </a:r>
            <a:endParaRPr lang="en-US" sz="1500" dirty="0"/>
          </a:p>
        </p:txBody>
      </p:sp>
      <p:sp>
        <p:nvSpPr>
          <p:cNvPr id="42" name="click_07_d"/>
          <p:cNvSpPr/>
          <p:nvPr/>
        </p:nvSpPr>
        <p:spPr>
          <a:xfrm>
            <a:off x="8339328" y="4315968"/>
            <a:ext cx="3200400" cy="1298448"/>
          </a:xfrm>
          <a:prstGeom prst="rect">
            <a:avLst/>
          </a:prstGeom>
          <a:noFill/>
          <a:ln/>
        </p:spPr>
        <p:txBody>
          <a:bodyPr wrap="square" lIns="0" tIns="0" rIns="0" bIns="0" rtlCol="0" anchor="t"/>
          <a:lstStyle/>
          <a:p>
            <a:pPr indent="0" marL="0">
              <a:buNone/>
            </a:pPr>
            <a:r>
              <a:rPr lang="en-US" sz="1300" dirty="0">
                <a:solidFill>
                  <a:srgbClr val="3F3A36"/>
                </a:solidFill>
                <a:latin typeface="Calibri" pitchFamily="34" charset="0"/>
                <a:ea typeface="Calibri" pitchFamily="34" charset="-122"/>
                <a:cs typeface="Calibri" pitchFamily="34" charset="-120"/>
              </a:rPr>
              <a:t>A chat card. Not a diagnosis. No number we have not measured.</a:t>
            </a:r>
            <a:endParaRPr lang="en-US" sz="1300" dirty="0"/>
          </a:p>
        </p:txBody>
      </p:sp>
    </p:spTree>
  </p:cSld>
  <p:clrMapOvr>
    <a:masterClrMapping/>
  </p:clrMapOvr>
  <p:transition spd="med" advClick="1">
    <p:fade/>
  </p:transition>
  <p:timing>
    <p:tnLst>
      <p:par>
        <p:cTn id="1" dur="indefinite" restart="never" nodeType="tmRoot">
          <p:childTnLst>
            <p:seq concurrent="true" nextAc="seek">
              <p:cTn id="90"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8" fill="hold">
                      <p:stCondLst>
                        <p:cond delay="indefinite"/>
                      </p:stCondLst>
                      <p:childTnLst>
                        <p:par>
                          <p:cTn id="1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1"/>
                                        </p:tgtEl>
                                      </p:cBhvr>
                                    </p:animEffect>
                                  </p:childTnLst>
                                </p:cTn>
                              </p:par>
                              <p:par>
                                <p:cTn id="14" presetID="10" presetClass="entr" presetSubtype="0" fill="hold" grpId="0" nodeType="withEffect">
                                  <p:stCondLst>
                                    <p:cond delay="0"/>
                                  </p:stCondLst>
                                  <p:childTnLst>
                                    <p:animEffect transition="in" filter="fade">
                                      <p:cBhvr>
                                        <p:cTn id="15" dur="450"/>
                                        <p:tgtEl>
                                          <p:spTgt spid="12"/>
                                        </p:tgtEl>
                                      </p:cBhvr>
                                    </p:animEffect>
                                  </p:childTnLst>
                                </p:cTn>
                              </p:par>
                              <p:par>
                                <p:cTn id="16" presetID="10" presetClass="entr" presetSubtype="0" fill="hold" grpId="0" nodeType="withEffect">
                                  <p:stCondLst>
                                    <p:cond delay="0"/>
                                  </p:stCondLst>
                                  <p:childTnLst>
                                    <p:animEffect transition="in" filter="fade">
                                      <p:cBhvr>
                                        <p:cTn id="17" dur="450"/>
                                        <p:tgtEl>
                                          <p:spTgt spid="10"/>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grpId="0" nodeType="click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7"/>
                                        </p:tgtEl>
                                      </p:cBhvr>
                                    </p:animEffect>
                                  </p:childTnLst>
                                </p:cTn>
                              </p:par>
                              <p:par>
                                <p:cTn id="28" presetID="10" presetClass="entr" presetSubtype="0" fill="hold" grpId="0" nodeType="withEffect">
                                  <p:stCondLst>
                                    <p:cond delay="0"/>
                                  </p:stCondLst>
                                  <p:childTnLst>
                                    <p:animEffect transition="in" filter="fade">
                                      <p:cBhvr>
                                        <p:cTn id="29" dur="450"/>
                                        <p:tgtEl>
                                          <p:spTgt spid="18"/>
                                        </p:tgtEl>
                                      </p:cBhvr>
                                    </p:animEffect>
                                  </p:childTnLst>
                                </p:cTn>
                              </p:par>
                              <p:par>
                                <p:cTn id="30" presetID="10" presetClass="entr" presetSubtype="0" fill="hold" grpId="0" nodeType="withEffect">
                                  <p:stCondLst>
                                    <p:cond delay="0"/>
                                  </p:stCondLst>
                                  <p:childTnLst>
                                    <p:animEffect transition="in" filter="fade">
                                      <p:cBhvr>
                                        <p:cTn id="31" dur="450"/>
                                        <p:tgtEl>
                                          <p:spTgt spid="16"/>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grpId="0" nodeType="click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par>
                                <p:cTn id="40" presetID="10" presetClass="entr" presetSubtype="0" fill="hold" grpId="0" nodeType="withEffect">
                                  <p:stCondLst>
                                    <p:cond delay="0"/>
                                  </p:stCondLst>
                                  <p:childTnLst>
                                    <p:animEffect transition="in" filter="fade">
                                      <p:cBhvr>
                                        <p:cTn id="41" dur="450"/>
                                        <p:tgtEl>
                                          <p:spTgt spid="23"/>
                                        </p:tgtEl>
                                      </p:cBhvr>
                                    </p:animEffect>
                                  </p:childTnLst>
                                </p:cTn>
                              </p:par>
                              <p:par>
                                <p:cTn id="42" presetID="10" presetClass="entr" presetSubtype="0" fill="hold" grpId="0" nodeType="withEffect">
                                  <p:stCondLst>
                                    <p:cond delay="0"/>
                                  </p:stCondLst>
                                  <p:childTnLst>
                                    <p:animEffect transition="in" filter="fade">
                                      <p:cBhvr>
                                        <p:cTn id="43" dur="450"/>
                                        <p:tgtEl>
                                          <p:spTgt spid="24"/>
                                        </p:tgtEl>
                                      </p:cBhvr>
                                    </p:animEffect>
                                  </p:childTnLst>
                                </p:cTn>
                              </p:par>
                              <p:par>
                                <p:cTn id="44" presetID="10" presetClass="entr" presetSubtype="0" fill="hold" grpId="0" nodeType="withEffect">
                                  <p:stCondLst>
                                    <p:cond delay="0"/>
                                  </p:stCondLst>
                                  <p:childTnLst>
                                    <p:animEffect transition="in" filter="fade">
                                      <p:cBhvr>
                                        <p:cTn id="45" dur="450"/>
                                        <p:tgtEl>
                                          <p:spTgt spid="22"/>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grpId="0" nodeType="clickEffect">
                                  <p:stCondLst>
                                    <p:cond delay="0"/>
                                  </p:stCondLst>
                                  <p:childTnLst>
                                    <p:animEffect transition="in" filter="fade">
                                      <p:cBhvr>
                                        <p:cTn id="49" dur="450"/>
                                        <p:tgtEl>
                                          <p:spTgt spid="25"/>
                                        </p:tgtEl>
                                      </p:cBhvr>
                                    </p:animEffect>
                                  </p:childTnLst>
                                </p:cTn>
                              </p:par>
                              <p:par>
                                <p:cTn id="50" presetID="10" presetClass="entr" presetSubtype="0" fill="hold" grpId="0" nodeType="withEffect">
                                  <p:stCondLst>
                                    <p:cond delay="0"/>
                                  </p:stCondLst>
                                  <p:childTnLst>
                                    <p:animEffect transition="in" filter="fade">
                                      <p:cBhvr>
                                        <p:cTn id="51" dur="450"/>
                                        <p:tgtEl>
                                          <p:spTgt spid="26"/>
                                        </p:tgtEl>
                                      </p:cBhvr>
                                    </p:animEffect>
                                  </p:childTnLst>
                                </p:cTn>
                              </p:par>
                              <p:par>
                                <p:cTn id="52" presetID="10" presetClass="entr" presetSubtype="0" fill="hold" grpId="0" nodeType="withEffect">
                                  <p:stCondLst>
                                    <p:cond delay="0"/>
                                  </p:stCondLst>
                                  <p:childTnLst>
                                    <p:animEffect transition="in" filter="fade">
                                      <p:cBhvr>
                                        <p:cTn id="53" dur="450"/>
                                        <p:tgtEl>
                                          <p:spTgt spid="27"/>
                                        </p:tgtEl>
                                      </p:cBhvr>
                                    </p:animEffect>
                                  </p:childTnLst>
                                </p:cTn>
                              </p:par>
                              <p:par>
                                <p:cTn id="54" presetID="10" presetClass="entr" presetSubtype="0" fill="hold" grpId="0" nodeType="withEffect">
                                  <p:stCondLst>
                                    <p:cond delay="0"/>
                                  </p:stCondLst>
                                  <p:childTnLst>
                                    <p:animEffect transition="in" filter="fade">
                                      <p:cBhvr>
                                        <p:cTn id="55" dur="450"/>
                                        <p:tgtEl>
                                          <p:spTgt spid="29"/>
                                        </p:tgtEl>
                                      </p:cBhvr>
                                    </p:animEffect>
                                  </p:childTnLst>
                                </p:cTn>
                              </p:par>
                              <p:par>
                                <p:cTn id="56" presetID="10" presetClass="entr" presetSubtype="0" fill="hold" grpId="0" nodeType="withEffect">
                                  <p:stCondLst>
                                    <p:cond delay="0"/>
                                  </p:stCondLst>
                                  <p:childTnLst>
                                    <p:animEffect transition="in" filter="fade">
                                      <p:cBhvr>
                                        <p:cTn id="57" dur="450"/>
                                        <p:tgtEl>
                                          <p:spTgt spid="30"/>
                                        </p:tgtEl>
                                      </p:cBhvr>
                                    </p:animEffect>
                                  </p:childTnLst>
                                </p:cTn>
                              </p:par>
                              <p:par>
                                <p:cTn id="58" presetID="10" presetClass="entr" presetSubtype="0" fill="hold" grpId="0" nodeType="withEffect">
                                  <p:stCondLst>
                                    <p:cond delay="0"/>
                                  </p:stCondLst>
                                  <p:childTnLst>
                                    <p:animEffect transition="in" filter="fade">
                                      <p:cBhvr>
                                        <p:cTn id="59" dur="450"/>
                                        <p:tgtEl>
                                          <p:spTgt spid="28"/>
                                        </p:tgtEl>
                                      </p:cBhvr>
                                    </p:animEffect>
                                  </p:childTnLst>
                                </p:cTn>
                              </p:par>
                            </p:childTnLst>
                          </p:cTn>
                        </p:par>
                      </p:childTnLst>
                    </p:cTn>
                  </p:par>
                  <p:par>
                    <p:cTn id="74" fill="hold">
                      <p:stCondLst>
                        <p:cond delay="indefinite"/>
                      </p:stCondLst>
                      <p:childTnLst>
                        <p:par>
                          <p:cTn id="75" fill="hold">
                            <p:stCondLst>
                              <p:cond delay="0"/>
                            </p:stCondLst>
                            <p:childTnLst>
                              <p:par>
                                <p:cTn id="62" presetID="10" presetClass="entr" presetSubtype="0" fill="hold" grpId="0" nodeType="clickEffect">
                                  <p:stCondLst>
                                    <p:cond delay="0"/>
                                  </p:stCondLst>
                                  <p:childTnLst>
                                    <p:animEffect transition="in" filter="fade">
                                      <p:cBhvr>
                                        <p:cTn id="63" dur="450"/>
                                        <p:tgtEl>
                                          <p:spTgt spid="31"/>
                                        </p:tgtEl>
                                      </p:cBhvr>
                                    </p:animEffect>
                                  </p:childTnLst>
                                </p:cTn>
                              </p:par>
                              <p:par>
                                <p:cTn id="64" presetID="10" presetClass="entr" presetSubtype="0" fill="hold" grpId="0" nodeType="withEffect">
                                  <p:stCondLst>
                                    <p:cond delay="0"/>
                                  </p:stCondLst>
                                  <p:childTnLst>
                                    <p:animEffect transition="in" filter="fade">
                                      <p:cBhvr>
                                        <p:cTn id="65" dur="450"/>
                                        <p:tgtEl>
                                          <p:spTgt spid="32"/>
                                        </p:tgtEl>
                                      </p:cBhvr>
                                    </p:animEffect>
                                  </p:childTnLst>
                                </p:cTn>
                              </p:par>
                              <p:par>
                                <p:cTn id="66" presetID="10" presetClass="entr" presetSubtype="0" fill="hold" grpId="0" nodeType="withEffect">
                                  <p:stCondLst>
                                    <p:cond delay="0"/>
                                  </p:stCondLst>
                                  <p:childTnLst>
                                    <p:animEffect transition="in" filter="fade">
                                      <p:cBhvr>
                                        <p:cTn id="67" dur="450"/>
                                        <p:tgtEl>
                                          <p:spTgt spid="33"/>
                                        </p:tgtEl>
                                      </p:cBhvr>
                                    </p:animEffect>
                                  </p:childTnLst>
                                </p:cTn>
                              </p:par>
                              <p:par>
                                <p:cTn id="68" presetID="10" presetClass="entr" presetSubtype="0" fill="hold" grpId="0" nodeType="withEffect">
                                  <p:stCondLst>
                                    <p:cond delay="0"/>
                                  </p:stCondLst>
                                  <p:childTnLst>
                                    <p:animEffect transition="in" filter="fade">
                                      <p:cBhvr>
                                        <p:cTn id="69" dur="450"/>
                                        <p:tgtEl>
                                          <p:spTgt spid="35"/>
                                        </p:tgtEl>
                                      </p:cBhvr>
                                    </p:animEffect>
                                  </p:childTnLst>
                                </p:cTn>
                              </p:par>
                              <p:par>
                                <p:cTn id="70" presetID="10" presetClass="entr" presetSubtype="0" fill="hold" grpId="0" nodeType="withEffect">
                                  <p:stCondLst>
                                    <p:cond delay="0"/>
                                  </p:stCondLst>
                                  <p:childTnLst>
                                    <p:animEffect transition="in" filter="fade">
                                      <p:cBhvr>
                                        <p:cTn id="71" dur="450"/>
                                        <p:tgtEl>
                                          <p:spTgt spid="36"/>
                                        </p:tgtEl>
                                      </p:cBhvr>
                                    </p:animEffect>
                                  </p:childTnLst>
                                </p:cTn>
                              </p:par>
                              <p:par>
                                <p:cTn id="72" presetID="10" presetClass="entr" presetSubtype="0" fill="hold" grpId="0" nodeType="withEffect">
                                  <p:stCondLst>
                                    <p:cond delay="0"/>
                                  </p:stCondLst>
                                  <p:childTnLst>
                                    <p:animEffect transition="in" filter="fade">
                                      <p:cBhvr>
                                        <p:cTn id="73" dur="450"/>
                                        <p:tgtEl>
                                          <p:spTgt spid="34"/>
                                        </p:tgtEl>
                                      </p:cBhvr>
                                    </p:animEffect>
                                  </p:childTnLst>
                                </p:cTn>
                              </p:par>
                            </p:childTnLst>
                          </p:cTn>
                        </p:par>
                      </p:childTnLst>
                    </p:cTn>
                  </p:par>
                  <p:par>
                    <p:cTn id="88" fill="hold">
                      <p:stCondLst>
                        <p:cond delay="indefinite"/>
                      </p:stCondLst>
                      <p:childTnLst>
                        <p:par>
                          <p:cTn id="89" fill="hold">
                            <p:stCondLst>
                              <p:cond delay="0"/>
                            </p:stCondLst>
                            <p:childTnLst>
                              <p:par>
                                <p:cTn id="76" presetID="10" presetClass="entr" presetSubtype="0" fill="hold" grpId="0" nodeType="clickEffect">
                                  <p:stCondLst>
                                    <p:cond delay="0"/>
                                  </p:stCondLst>
                                  <p:childTnLst>
                                    <p:animEffect transition="in" filter="fade">
                                      <p:cBhvr>
                                        <p:cTn id="77" dur="450"/>
                                        <p:tgtEl>
                                          <p:spTgt spid="37"/>
                                        </p:tgtEl>
                                      </p:cBhvr>
                                    </p:animEffect>
                                  </p:childTnLst>
                                </p:cTn>
                              </p:par>
                              <p:par>
                                <p:cTn id="78" presetID="10" presetClass="entr" presetSubtype="0" fill="hold" grpId="0" nodeType="withEffect">
                                  <p:stCondLst>
                                    <p:cond delay="0"/>
                                  </p:stCondLst>
                                  <p:childTnLst>
                                    <p:animEffect transition="in" filter="fade">
                                      <p:cBhvr>
                                        <p:cTn id="79" dur="450"/>
                                        <p:tgtEl>
                                          <p:spTgt spid="38"/>
                                        </p:tgtEl>
                                      </p:cBhvr>
                                    </p:animEffect>
                                  </p:childTnLst>
                                </p:cTn>
                              </p:par>
                              <p:par>
                                <p:cTn id="80" presetID="10" presetClass="entr" presetSubtype="0" fill="hold" grpId="0" nodeType="withEffect">
                                  <p:stCondLst>
                                    <p:cond delay="0"/>
                                  </p:stCondLst>
                                  <p:childTnLst>
                                    <p:animEffect transition="in" filter="fade">
                                      <p:cBhvr>
                                        <p:cTn id="81" dur="450"/>
                                        <p:tgtEl>
                                          <p:spTgt spid="39"/>
                                        </p:tgtEl>
                                      </p:cBhvr>
                                    </p:animEffect>
                                  </p:childTnLst>
                                </p:cTn>
                              </p:par>
                              <p:par>
                                <p:cTn id="82" presetID="10" presetClass="entr" presetSubtype="0" fill="hold" grpId="0" nodeType="withEffect">
                                  <p:stCondLst>
                                    <p:cond delay="0"/>
                                  </p:stCondLst>
                                  <p:childTnLst>
                                    <p:animEffect transition="in" filter="fade">
                                      <p:cBhvr>
                                        <p:cTn id="83" dur="450"/>
                                        <p:tgtEl>
                                          <p:spTgt spid="41"/>
                                        </p:tgtEl>
                                      </p:cBhvr>
                                    </p:animEffect>
                                  </p:childTnLst>
                                </p:cTn>
                              </p:par>
                              <p:par>
                                <p:cTn id="84" presetID="10" presetClass="entr" presetSubtype="0" fill="hold" grpId="0" nodeType="withEffect">
                                  <p:stCondLst>
                                    <p:cond delay="0"/>
                                  </p:stCondLst>
                                  <p:childTnLst>
                                    <p:animEffect transition="in" filter="fade">
                                      <p:cBhvr>
                                        <p:cTn id="85" dur="450"/>
                                        <p:tgtEl>
                                          <p:spTgt spid="42"/>
                                        </p:tgtEl>
                                      </p:cBhvr>
                                    </p:animEffect>
                                  </p:childTnLst>
                                </p:cTn>
                              </p:par>
                              <p:par>
                                <p:cTn id="86" presetID="10" presetClass="entr" presetSubtype="0" fill="hold" grpId="0" nodeType="withEffect">
                                  <p:stCondLst>
                                    <p:cond delay="0"/>
                                  </p:stCondLst>
                                  <p:childTnLst>
                                    <p:animEffect transition="in" filter="fade">
                                      <p:cBhvr>
                                        <p:cTn id="87"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1" grpId="0"/>
      <p:bldP spid="12" grpId="0"/>
      <p:bldP spid="10" grpId="0"/>
      <p:bldP spid="13" grpId="0"/>
      <p:bldP spid="14" grpId="0"/>
      <p:bldP spid="15" grpId="0"/>
      <p:bldP spid="17" grpId="0"/>
      <p:bldP spid="18" grpId="0"/>
      <p:bldP spid="16" grpId="0"/>
      <p:bldP spid="19" grpId="0"/>
      <p:bldP spid="20" grpId="0"/>
      <p:bldP spid="21" grpId="0"/>
      <p:bldP spid="23" grpId="0"/>
      <p:bldP spid="24" grpId="0"/>
      <p:bldP spid="22" grpId="0"/>
      <p:bldP spid="25" grpId="0"/>
      <p:bldP spid="26" grpId="0"/>
      <p:bldP spid="27" grpId="0"/>
      <p:bldP spid="29" grpId="0"/>
      <p:bldP spid="30" grpId="0"/>
      <p:bldP spid="28" grpId="0"/>
      <p:bldP spid="31" grpId="0"/>
      <p:bldP spid="32" grpId="0"/>
      <p:bldP spid="33" grpId="0"/>
      <p:bldP spid="35" grpId="0"/>
      <p:bldP spid="36" grpId="0"/>
      <p:bldP spid="34" grpId="0"/>
      <p:bldP spid="37" grpId="0"/>
      <p:bldP spid="38" grpId="0"/>
      <p:bldP spid="39" grpId="0"/>
      <p:bldP spid="41" grpId="0"/>
      <p:bldP spid="42" grpId="0"/>
      <p:bldP spid="40" grpId="0"/>
    </p:bldLst>
  </p:timing>
</p:sld>
</file>

<file path=ppt/slides/slide11.xml><?xml version="1.0" encoding="utf-8"?>
<p:sld xmlns:a="http://schemas.openxmlformats.org/drawingml/2006/main"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11  ·  CONCLUSION</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11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Beyond another detection model</a:t>
            </a:r>
            <a:endParaRPr lang="en-US" sz="2600" dirty="0"/>
          </a:p>
        </p:txBody>
      </p:sp>
      <p:sp>
        <p:nvSpPr>
          <p:cNvPr id="6"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
        <p:nvSpPr>
          <p:cNvPr id="7" name="click_02_ov"/>
          <p:cNvSpPr/>
          <p:nvPr/>
        </p:nvSpPr>
        <p:spPr>
          <a:xfrm>
            <a:off x="548640" y="1353312"/>
            <a:ext cx="347472" cy="347472"/>
          </a:xfrm>
          <a:prstGeom prst="ellipse">
            <a:avLst/>
          </a:prstGeom>
          <a:solidFill>
            <a:srgbClr val="B8954A"/>
          </a:solidFill>
          <a:ln/>
        </p:spPr>
      </p:sp>
      <p:sp>
        <p:nvSpPr>
          <p:cNvPr id="8" name="click_02_ovt"/>
          <p:cNvSpPr/>
          <p:nvPr/>
        </p:nvSpPr>
        <p:spPr>
          <a:xfrm>
            <a:off x="548640" y="13533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click_02_t"/>
          <p:cNvSpPr/>
          <p:nvPr/>
        </p:nvSpPr>
        <p:spPr>
          <a:xfrm>
            <a:off x="1060704" y="1280160"/>
            <a:ext cx="10561320" cy="86868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Official Indian workflows, essential-medicine lists, and quality-alert tables already exist. Public imaging sets already support honest tool replication.</a:t>
            </a:r>
            <a:endParaRPr lang="en-US" sz="1500" dirty="0"/>
          </a:p>
        </p:txBody>
      </p:sp>
      <p:sp>
        <p:nvSpPr>
          <p:cNvPr id="10" name="click_03_ov"/>
          <p:cNvSpPr/>
          <p:nvPr/>
        </p:nvSpPr>
        <p:spPr>
          <a:xfrm>
            <a:off x="548640" y="2313432"/>
            <a:ext cx="347472" cy="347472"/>
          </a:xfrm>
          <a:prstGeom prst="ellipse">
            <a:avLst/>
          </a:prstGeom>
          <a:solidFill>
            <a:srgbClr val="B8954A"/>
          </a:solidFill>
          <a:ln/>
        </p:spPr>
      </p:sp>
      <p:sp>
        <p:nvSpPr>
          <p:cNvPr id="11" name="click_03_ovt"/>
          <p:cNvSpPr/>
          <p:nvPr/>
        </p:nvSpPr>
        <p:spPr>
          <a:xfrm>
            <a:off x="548640" y="23134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click_03_t"/>
          <p:cNvSpPr/>
          <p:nvPr/>
        </p:nvSpPr>
        <p:spPr>
          <a:xfrm>
            <a:off x="1060704" y="2240280"/>
            <a:ext cx="10561320" cy="86868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Care Pathway puts those pieces behind an extensible tool-calling interface. A local language model may call only those functions and may not write a sentence an official span does not entail.</a:t>
            </a:r>
            <a:endParaRPr lang="en-US" sz="1500" dirty="0"/>
          </a:p>
        </p:txBody>
      </p:sp>
      <p:sp>
        <p:nvSpPr>
          <p:cNvPr id="13" name="click_04_ov"/>
          <p:cNvSpPr/>
          <p:nvPr/>
        </p:nvSpPr>
        <p:spPr>
          <a:xfrm>
            <a:off x="548640" y="3273552"/>
            <a:ext cx="347472" cy="347472"/>
          </a:xfrm>
          <a:prstGeom prst="ellipse">
            <a:avLst/>
          </a:prstGeom>
          <a:solidFill>
            <a:srgbClr val="B8954A"/>
          </a:solidFill>
          <a:ln/>
        </p:spPr>
      </p:sp>
      <p:sp>
        <p:nvSpPr>
          <p:cNvPr id="14" name="click_04_ovt"/>
          <p:cNvSpPr/>
          <p:nvPr/>
        </p:nvSpPr>
        <p:spPr>
          <a:xfrm>
            <a:off x="548640" y="32735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click_04_t"/>
          <p:cNvSpPr/>
          <p:nvPr/>
        </p:nvSpPr>
        <p:spPr>
          <a:xfrm>
            <a:off x="1060704" y="3200400"/>
            <a:ext cx="10561320" cy="86868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The contribution is fail-closed answering: visual STW retrieval, refusal demonstrations, and offline GEPA scored on coverage versus ungrounded rate — not a new CXR architecture and not a live clinic.</a:t>
            </a:r>
            <a:endParaRPr lang="en-US" sz="1500" dirty="0"/>
          </a:p>
        </p:txBody>
      </p:sp>
      <p:sp>
        <p:nvSpPr>
          <p:cNvPr id="16" name="click_05_ov"/>
          <p:cNvSpPr/>
          <p:nvPr/>
        </p:nvSpPr>
        <p:spPr>
          <a:xfrm>
            <a:off x="548640" y="4233672"/>
            <a:ext cx="347472" cy="347472"/>
          </a:xfrm>
          <a:prstGeom prst="ellipse">
            <a:avLst/>
          </a:prstGeom>
          <a:solidFill>
            <a:srgbClr val="B8954A"/>
          </a:solidFill>
          <a:ln/>
        </p:spPr>
      </p:sp>
      <p:sp>
        <p:nvSpPr>
          <p:cNvPr id="17" name="click_05_ovt"/>
          <p:cNvSpPr/>
          <p:nvPr/>
        </p:nvSpPr>
        <p:spPr>
          <a:xfrm>
            <a:off x="548640" y="42336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click_05_t"/>
          <p:cNvSpPr/>
          <p:nvPr/>
        </p:nvSpPr>
        <p:spPr>
          <a:xfrm>
            <a:off x="1060704" y="4160520"/>
            <a:ext cx="10561320" cy="86868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Specialists are trained and frozen by the student. The large language model is loaded, not trained. Further tools join as JSON functions, not as extra chatting doctors.</a:t>
            </a:r>
            <a:endParaRPr lang="en-US" sz="1500" dirty="0"/>
          </a:p>
        </p:txBody>
      </p:sp>
      <p:sp>
        <p:nvSpPr>
          <p:cNvPr id="19" name="click_06_bg"/>
          <p:cNvSpPr/>
          <p:nvPr/>
        </p:nvSpPr>
        <p:spPr>
          <a:xfrm>
            <a:off x="548640" y="5193792"/>
            <a:ext cx="11091672" cy="102412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0" name="click_06_bar"/>
          <p:cNvSpPr/>
          <p:nvPr/>
        </p:nvSpPr>
        <p:spPr>
          <a:xfrm>
            <a:off x="548640" y="5193792"/>
            <a:ext cx="64008" cy="1024128"/>
          </a:xfrm>
          <a:prstGeom prst="rect">
            <a:avLst/>
          </a:prstGeom>
          <a:solidFill>
            <a:srgbClr val="B8954A"/>
          </a:solidFill>
          <a:ln/>
        </p:spPr>
      </p:sp>
      <p:sp>
        <p:nvSpPr>
          <p:cNvPr id="21" name="click_06_tag"/>
          <p:cNvSpPr/>
          <p:nvPr/>
        </p:nvSpPr>
        <p:spPr>
          <a:xfrm>
            <a:off x="841248" y="5193792"/>
            <a:ext cx="10515600" cy="1024128"/>
          </a:xfrm>
          <a:prstGeom prst="rect">
            <a:avLst/>
          </a:prstGeom>
          <a:noFill/>
          <a:ln/>
        </p:spPr>
        <p:txBody>
          <a:bodyPr wrap="square" lIns="0" tIns="0" rIns="0" bIns="0" rtlCol="0" anchor="ctr"/>
          <a:lstStyle/>
          <a:p>
            <a:pPr indent="0" marL="0">
              <a:buNone/>
            </a:pPr>
            <a:r>
              <a:rPr lang="en-US" sz="1600" dirty="0">
                <a:solidFill>
                  <a:srgbClr val="16324F"/>
                </a:solidFill>
                <a:latin typeface="Georgia" pitchFamily="34" charset="0"/>
                <a:ea typeface="Georgia" pitchFamily="34" charset="-122"/>
                <a:cs typeface="Georgia" pitchFamily="34" charset="-120"/>
              </a:rPr>
              <a:t>Care Pathway — only what the official page states; otherwise the card stays closed. Not a diagnosis.</a:t>
            </a:r>
            <a:endParaRPr lang="en-US" sz="1600" dirty="0"/>
          </a:p>
        </p:txBody>
      </p:sp>
    </p:spTree>
  </p:cSld>
  <p:clrMapOvr>
    <a:masterClrMapping/>
  </p:clrMapOvr>
  <p:transition spd="med" advClick="1">
    <p:fade/>
  </p:transition>
  <p:timing>
    <p:tnLst>
      <p:par>
        <p:cTn id="1" dur="indefinite" restart="never" nodeType="tmRoot">
          <p:childTnLst>
            <p:seq concurrent="true" nextAc="seek">
              <p:cTn id="46"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2" fill="hold">
                      <p:stCondLst>
                        <p:cond delay="indefinite"/>
                      </p:stCondLst>
                      <p:childTnLst>
                        <p:par>
                          <p:cTn id="13"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grpId="0" nodeType="clickEffect">
                                  <p:stCondLst>
                                    <p:cond delay="0"/>
                                  </p:stCondLst>
                                  <p:childTnLst>
                                    <p:animEffect transition="in" filter="fade">
                                      <p:cBhvr>
                                        <p:cTn id="15" dur="450"/>
                                        <p:tgtEl>
                                          <p:spTgt spid="10"/>
                                        </p:tgtEl>
                                      </p:cBhvr>
                                    </p:animEffect>
                                  </p:childTnLst>
                                </p:cTn>
                              </p:par>
                              <p:par>
                                <p:cTn id="16" presetID="10" presetClass="entr" presetSubtype="0" fill="hold" grpId="0" nodeType="with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childTnLst>
                          </p:cTn>
                        </p:par>
                      </p:childTnLst>
                    </p:cTn>
                  </p:par>
                  <p:par>
                    <p:cTn id="28" fill="hold">
                      <p:stCondLst>
                        <p:cond delay="indefinite"/>
                      </p:stCondLst>
                      <p:childTnLst>
                        <p:par>
                          <p:cTn id="29" fill="hold">
                            <p:stCondLst>
                              <p:cond delay="0"/>
                            </p:stCondLst>
                            <p:childTnLst>
                              <p:par>
                                <p:cTn id="22" presetID="10" presetClass="entr" presetSubtype="0" fill="hold" grpId="0" nodeType="clickEffect">
                                  <p:stCondLst>
                                    <p:cond delay="0"/>
                                  </p:stCondLst>
                                  <p:childTnLst>
                                    <p:animEffect transition="in" filter="fade">
                                      <p:cBhvr>
                                        <p:cTn id="23" dur="450"/>
                                        <p:tgtEl>
                                          <p:spTgt spid="13"/>
                                        </p:tgtEl>
                                      </p:cBhvr>
                                    </p:animEffect>
                                  </p:childTnLst>
                                </p:cTn>
                              </p:par>
                              <p:par>
                                <p:cTn id="24" presetID="10" presetClass="entr" presetSubtype="0" fill="hold" grpId="0" nodeType="withEffect">
                                  <p:stCondLst>
                                    <p:cond delay="0"/>
                                  </p:stCondLst>
                                  <p:childTnLst>
                                    <p:animEffect transition="in" filter="fade">
                                      <p:cBhvr>
                                        <p:cTn id="25" dur="450"/>
                                        <p:tgtEl>
                                          <p:spTgt spid="14"/>
                                        </p:tgtEl>
                                      </p:cBhvr>
                                    </p:animEffect>
                                  </p:childTnLst>
                                </p:cTn>
                              </p:par>
                              <p:par>
                                <p:cTn id="26" presetID="10" presetClass="entr" presetSubtype="0" fill="hold" grpId="0" nodeType="withEffect">
                                  <p:stCondLst>
                                    <p:cond delay="0"/>
                                  </p:stCondLst>
                                  <p:childTnLst>
                                    <p:animEffect transition="in" filter="fade">
                                      <p:cBhvr>
                                        <p:cTn id="27" dur="450"/>
                                        <p:tgtEl>
                                          <p:spTgt spid="15"/>
                                        </p:tgtEl>
                                      </p:cBhvr>
                                    </p:animEffect>
                                  </p:childTnLst>
                                </p:cTn>
                              </p:par>
                            </p:childTnLst>
                          </p:cTn>
                        </p:par>
                      </p:childTnLst>
                    </p:cTn>
                  </p:par>
                  <p:par>
                    <p:cTn id="36" fill="hold">
                      <p:stCondLst>
                        <p:cond delay="indefinite"/>
                      </p:stCondLst>
                      <p:childTnLst>
                        <p:par>
                          <p:cTn id="37" fill="hold">
                            <p:stCondLst>
                              <p:cond delay="0"/>
                            </p:stCondLst>
                            <p:childTnLst>
                              <p:par>
                                <p:cTn id="30" presetID="10" presetClass="entr" presetSubtype="0" fill="hold" grpId="0" nodeType="clickEffect">
                                  <p:stCondLst>
                                    <p:cond delay="0"/>
                                  </p:stCondLst>
                                  <p:childTnLst>
                                    <p:animEffect transition="in" filter="fade">
                                      <p:cBhvr>
                                        <p:cTn id="31" dur="450"/>
                                        <p:tgtEl>
                                          <p:spTgt spid="16"/>
                                        </p:tgtEl>
                                      </p:cBhvr>
                                    </p:animEffect>
                                  </p:childTnLst>
                                </p:cTn>
                              </p:par>
                              <p:par>
                                <p:cTn id="32" presetID="10" presetClass="entr" presetSubtype="0" fill="hold" grpId="0" nodeType="withEffect">
                                  <p:stCondLst>
                                    <p:cond delay="0"/>
                                  </p:stCondLst>
                                  <p:childTnLst>
                                    <p:animEffect transition="in" filter="fade">
                                      <p:cBhvr>
                                        <p:cTn id="33" dur="450"/>
                                        <p:tgtEl>
                                          <p:spTgt spid="17"/>
                                        </p:tgtEl>
                                      </p:cBhvr>
                                    </p:animEffect>
                                  </p:childTnLst>
                                </p:cTn>
                              </p:par>
                              <p:par>
                                <p:cTn id="34" presetID="10" presetClass="entr" presetSubtype="0" fill="hold" grpId="0" nodeType="withEffect">
                                  <p:stCondLst>
                                    <p:cond delay="0"/>
                                  </p:stCondLst>
                                  <p:childTnLst>
                                    <p:animEffect transition="in" filter="fade">
                                      <p:cBhvr>
                                        <p:cTn id="35" dur="450"/>
                                        <p:tgtEl>
                                          <p:spTgt spid="18"/>
                                        </p:tgtEl>
                                      </p:cBhvr>
                                    </p:animEffect>
                                  </p:childTnLst>
                                </p:cTn>
                              </p:par>
                            </p:childTnLst>
                          </p:cTn>
                        </p:par>
                      </p:childTnLst>
                    </p:cTn>
                  </p:par>
                  <p:par>
                    <p:cTn id="44" fill="hold">
                      <p:stCondLst>
                        <p:cond delay="indefinite"/>
                      </p:stCondLst>
                      <p:childTnLst>
                        <p:par>
                          <p:cTn id="45" fill="hold">
                            <p:stCondLst>
                              <p:cond delay="0"/>
                            </p:stCondLst>
                            <p:childTnLst>
                              <p:par>
                                <p:cTn id="38" presetID="10" presetClass="entr" presetSubtype="0" fill="hold" grpId="0" nodeType="clickEffect">
                                  <p:stCondLst>
                                    <p:cond delay="0"/>
                                  </p:stCondLst>
                                  <p:childTnLst>
                                    <p:animEffect transition="in" filter="fade">
                                      <p:cBhvr>
                                        <p:cTn id="39" dur="450"/>
                                        <p:tgtEl>
                                          <p:spTgt spid="19"/>
                                        </p:tgtEl>
                                      </p:cBhvr>
                                    </p:animEffect>
                                  </p:childTnLst>
                                </p:cTn>
                              </p:par>
                              <p:par>
                                <p:cTn id="40" presetID="10" presetClass="entr" presetSubtype="0" fill="hold" grpId="0" nodeType="withEffect">
                                  <p:stCondLst>
                                    <p:cond delay="0"/>
                                  </p:stCondLst>
                                  <p:childTnLst>
                                    <p:animEffect transition="in" filter="fade">
                                      <p:cBhvr>
                                        <p:cTn id="41" dur="450"/>
                                        <p:tgtEl>
                                          <p:spTgt spid="20"/>
                                        </p:tgtEl>
                                      </p:cBhvr>
                                    </p:animEffect>
                                  </p:childTnLst>
                                </p:cTn>
                              </p:par>
                              <p:par>
                                <p:cTn id="42" presetID="10" presetClass="entr" presetSubtype="0" fill="hold" grpId="0" nodeType="withEffect">
                                  <p:stCondLst>
                                    <p:cond delay="0"/>
                                  </p:stCondLst>
                                  <p:childTnLs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12.xml><?xml version="1.0" encoding="utf-8"?>
<p:sld xmlns:a="http://schemas.openxmlformats.org/drawingml/2006/main"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static_sec"/>
          <p:cNvSpPr/>
          <p:nvPr/>
        </p:nvSpPr>
        <p:spPr>
          <a:xfrm>
            <a:off x="548640" y="256032"/>
            <a:ext cx="8412480" cy="256032"/>
          </a:xfrm>
          <a:prstGeom prst="rect">
            <a:avLst/>
          </a:prstGeom>
          <a:noFill/>
          <a:ln/>
        </p:spPr>
        <p:txBody>
          <a:bodyPr wrap="square" lIns="0" tIns="0" rIns="0" bIns="0" rtlCol="0" anchor="ctr"/>
          <a:lstStyle/>
          <a:p>
            <a:pPr indent="0" marL="0">
              <a:buNone/>
            </a:pPr>
            <a:r>
              <a:rPr lang="en-US" sz="1100" spc="180" kern="0" dirty="0">
                <a:solidFill>
                  <a:srgbClr val="B8954A"/>
                </a:solidFill>
                <a:latin typeface="Calibri" pitchFamily="34" charset="0"/>
                <a:ea typeface="Calibri" pitchFamily="34" charset="-122"/>
                <a:cs typeface="Calibri" pitchFamily="34" charset="-120"/>
              </a:rPr>
              <a:t>12  ·  REFERENCES</a:t>
            </a:r>
            <a:endParaRPr lang="en-US" sz="1100" dirty="0"/>
          </a:p>
        </p:txBody>
      </p:sp>
      <p:sp>
        <p:nvSpPr>
          <p:cNvPr id="3" name="static_pg"/>
          <p:cNvSpPr/>
          <p:nvPr/>
        </p:nvSpPr>
        <p:spPr>
          <a:xfrm>
            <a:off x="9509760" y="256032"/>
            <a:ext cx="2130552"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12  /  12</a:t>
            </a:r>
            <a:endParaRPr lang="en-US" sz="1100" dirty="0"/>
          </a:p>
        </p:txBody>
      </p:sp>
      <p:sp>
        <p:nvSpPr>
          <p:cNvPr id="4" name="static_rule"/>
          <p:cNvSpPr/>
          <p:nvPr/>
        </p:nvSpPr>
        <p:spPr>
          <a:xfrm>
            <a:off x="548640" y="566928"/>
            <a:ext cx="11091672" cy="10973"/>
          </a:xfrm>
          <a:prstGeom prst="rect">
            <a:avLst/>
          </a:prstGeom>
          <a:solidFill>
            <a:srgbClr val="D9D2C5"/>
          </a:solidFill>
          <a:ln/>
        </p:spPr>
      </p:sp>
      <p:sp>
        <p:nvSpPr>
          <p:cNvPr id="5" name="click_01_h1"/>
          <p:cNvSpPr/>
          <p:nvPr/>
        </p:nvSpPr>
        <p:spPr>
          <a:xfrm>
            <a:off x="548640" y="658368"/>
            <a:ext cx="11091672" cy="50292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Primary sources cited in the synopsis</a:t>
            </a:r>
            <a:endParaRPr lang="en-US" sz="2600" dirty="0"/>
          </a:p>
        </p:txBody>
      </p:sp>
      <p:sp>
        <p:nvSpPr>
          <p:cNvPr id="6" name="click_02_bg"/>
          <p:cNvSpPr/>
          <p:nvPr/>
        </p:nvSpPr>
        <p:spPr>
          <a:xfrm>
            <a:off x="548640" y="1280160"/>
            <a:ext cx="11091672" cy="84124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7" name="click_02_bar"/>
          <p:cNvSpPr/>
          <p:nvPr/>
        </p:nvSpPr>
        <p:spPr>
          <a:xfrm>
            <a:off x="548640" y="1280160"/>
            <a:ext cx="64008" cy="841248"/>
          </a:xfrm>
          <a:prstGeom prst="rect">
            <a:avLst/>
          </a:prstGeom>
          <a:solidFill>
            <a:srgbClr val="16324F"/>
          </a:solidFill>
          <a:ln/>
        </p:spPr>
      </p:sp>
      <p:sp>
        <p:nvSpPr>
          <p:cNvPr id="8" name="click_02_ov"/>
          <p:cNvSpPr/>
          <p:nvPr/>
        </p:nvSpPr>
        <p:spPr>
          <a:xfrm>
            <a:off x="731520" y="1527048"/>
            <a:ext cx="347472" cy="347472"/>
          </a:xfrm>
          <a:prstGeom prst="ellipse">
            <a:avLst/>
          </a:prstGeom>
          <a:solidFill>
            <a:srgbClr val="B8954A"/>
          </a:solidFill>
          <a:ln/>
        </p:spPr>
      </p:sp>
      <p:sp>
        <p:nvSpPr>
          <p:cNvPr id="9" name="click_02_ovt"/>
          <p:cNvSpPr/>
          <p:nvPr/>
        </p:nvSpPr>
        <p:spPr>
          <a:xfrm>
            <a:off x="731520" y="15270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click_02_t"/>
          <p:cNvSpPr/>
          <p:nvPr/>
        </p:nvSpPr>
        <p:spPr>
          <a:xfrm>
            <a:off x="1225296" y="1353312"/>
            <a:ext cx="10058400" cy="29260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ICMR / NHA / WHO STWs</a:t>
            </a:r>
            <a:endParaRPr lang="en-US" sz="1400" dirty="0"/>
          </a:p>
        </p:txBody>
      </p:sp>
      <p:sp>
        <p:nvSpPr>
          <p:cNvPr id="11" name="click_02_d"/>
          <p:cNvSpPr/>
          <p:nvPr/>
        </p:nvSpPr>
        <p:spPr>
          <a:xfrm>
            <a:off x="1225296" y="1664208"/>
            <a:ext cx="10058400" cy="384048"/>
          </a:xfrm>
          <a:prstGeom prst="rect">
            <a:avLst/>
          </a:prstGeom>
          <a:noFill/>
          <a:ln/>
        </p:spPr>
        <p:txBody>
          <a:bodyPr wrap="square" lIns="0" tIns="0" rIns="0" bIns="0" rtlCol="0" anchor="ctr"/>
          <a:lstStyle/>
          <a:p>
            <a:pPr indent="0" marL="0">
              <a:buNone/>
            </a:pPr>
            <a:r>
              <a:rPr lang="en-US" sz="1300" dirty="0">
                <a:solidFill>
                  <a:srgbClr val="3F3A36"/>
                </a:solidFill>
                <a:latin typeface="Calibri" pitchFamily="34" charset="0"/>
                <a:ea typeface="Calibri" pitchFamily="34" charset="-122"/>
                <a:cs typeface="Calibri" pitchFamily="34" charset="-120"/>
              </a:rPr>
              <a:t>157 workflows, 28 specialties — NMC public notice, 15 September 2025. icmr.gov.in/standard-treatment-workflows-stws</a:t>
            </a:r>
            <a:endParaRPr lang="en-US" sz="1300" dirty="0"/>
          </a:p>
        </p:txBody>
      </p:sp>
      <p:sp>
        <p:nvSpPr>
          <p:cNvPr id="12" name="click_03_bg"/>
          <p:cNvSpPr/>
          <p:nvPr/>
        </p:nvSpPr>
        <p:spPr>
          <a:xfrm>
            <a:off x="548640" y="2212848"/>
            <a:ext cx="11091672" cy="84124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3" name="click_03_bar"/>
          <p:cNvSpPr/>
          <p:nvPr/>
        </p:nvSpPr>
        <p:spPr>
          <a:xfrm>
            <a:off x="548640" y="2212848"/>
            <a:ext cx="64008" cy="841248"/>
          </a:xfrm>
          <a:prstGeom prst="rect">
            <a:avLst/>
          </a:prstGeom>
          <a:solidFill>
            <a:srgbClr val="16324F"/>
          </a:solidFill>
          <a:ln/>
        </p:spPr>
      </p:sp>
      <p:sp>
        <p:nvSpPr>
          <p:cNvPr id="14" name="click_03_ov"/>
          <p:cNvSpPr/>
          <p:nvPr/>
        </p:nvSpPr>
        <p:spPr>
          <a:xfrm>
            <a:off x="731520" y="2459736"/>
            <a:ext cx="347472" cy="347472"/>
          </a:xfrm>
          <a:prstGeom prst="ellipse">
            <a:avLst/>
          </a:prstGeom>
          <a:solidFill>
            <a:srgbClr val="B8954A"/>
          </a:solidFill>
          <a:ln/>
        </p:spPr>
      </p:sp>
      <p:sp>
        <p:nvSpPr>
          <p:cNvPr id="15" name="click_03_ovt"/>
          <p:cNvSpPr/>
          <p:nvPr/>
        </p:nvSpPr>
        <p:spPr>
          <a:xfrm>
            <a:off x="731520" y="2459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click_03_t"/>
          <p:cNvSpPr/>
          <p:nvPr/>
        </p:nvSpPr>
        <p:spPr>
          <a:xfrm>
            <a:off x="1225296" y="2286000"/>
            <a:ext cx="10058400" cy="29260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NLEM 2022  ·  CDSCO NSQ</a:t>
            </a:r>
            <a:endParaRPr lang="en-US" sz="1400" dirty="0"/>
          </a:p>
        </p:txBody>
      </p:sp>
      <p:sp>
        <p:nvSpPr>
          <p:cNvPr id="17" name="click_03_d"/>
          <p:cNvSpPr/>
          <p:nvPr/>
        </p:nvSpPr>
        <p:spPr>
          <a:xfrm>
            <a:off x="1225296" y="2596896"/>
            <a:ext cx="10058400" cy="384048"/>
          </a:xfrm>
          <a:prstGeom prst="rect">
            <a:avLst/>
          </a:prstGeom>
          <a:noFill/>
          <a:ln/>
        </p:spPr>
        <p:txBody>
          <a:bodyPr wrap="square" lIns="0" tIns="0" rIns="0" bIns="0" rtlCol="0" anchor="ctr"/>
          <a:lstStyle/>
          <a:p>
            <a:pPr indent="0" marL="0">
              <a:buNone/>
            </a:pPr>
            <a:r>
              <a:rPr lang="en-US" sz="1300" dirty="0">
                <a:solidFill>
                  <a:srgbClr val="3F3A36"/>
                </a:solidFill>
                <a:latin typeface="Calibri" pitchFamily="34" charset="0"/>
                <a:ea typeface="Calibri" pitchFamily="34" charset="-122"/>
                <a:cs typeface="Calibri" pitchFamily="34" charset="-120"/>
              </a:rPr>
              <a:t>384 essential medicines, launched 13 Sep 2022. Monthly Not of Standard Quality lists (no bulk API).</a:t>
            </a:r>
            <a:endParaRPr lang="en-US" sz="1300" dirty="0"/>
          </a:p>
        </p:txBody>
      </p:sp>
      <p:sp>
        <p:nvSpPr>
          <p:cNvPr id="18" name="click_04_bg"/>
          <p:cNvSpPr/>
          <p:nvPr/>
        </p:nvSpPr>
        <p:spPr>
          <a:xfrm>
            <a:off x="548640" y="3145536"/>
            <a:ext cx="11091672" cy="84124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19" name="click_04_bar"/>
          <p:cNvSpPr/>
          <p:nvPr/>
        </p:nvSpPr>
        <p:spPr>
          <a:xfrm>
            <a:off x="548640" y="3145536"/>
            <a:ext cx="64008" cy="841248"/>
          </a:xfrm>
          <a:prstGeom prst="rect">
            <a:avLst/>
          </a:prstGeom>
          <a:solidFill>
            <a:srgbClr val="16324F"/>
          </a:solidFill>
          <a:ln/>
        </p:spPr>
      </p:sp>
      <p:sp>
        <p:nvSpPr>
          <p:cNvPr id="20" name="click_04_ov"/>
          <p:cNvSpPr/>
          <p:nvPr/>
        </p:nvSpPr>
        <p:spPr>
          <a:xfrm>
            <a:off x="731520" y="3392424"/>
            <a:ext cx="347472" cy="347472"/>
          </a:xfrm>
          <a:prstGeom prst="ellipse">
            <a:avLst/>
          </a:prstGeom>
          <a:solidFill>
            <a:srgbClr val="B8954A"/>
          </a:solidFill>
          <a:ln/>
        </p:spPr>
      </p:sp>
      <p:sp>
        <p:nvSpPr>
          <p:cNvPr id="21" name="click_04_ovt"/>
          <p:cNvSpPr/>
          <p:nvPr/>
        </p:nvSpPr>
        <p:spPr>
          <a:xfrm>
            <a:off x="731520" y="33924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click_04_t"/>
          <p:cNvSpPr/>
          <p:nvPr/>
        </p:nvSpPr>
        <p:spPr>
          <a:xfrm>
            <a:off x="1225296" y="3218688"/>
            <a:ext cx="10058400" cy="29260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CheXpert  ·  HAM10000</a:t>
            </a:r>
            <a:endParaRPr lang="en-US" sz="1400" dirty="0"/>
          </a:p>
        </p:txBody>
      </p:sp>
      <p:sp>
        <p:nvSpPr>
          <p:cNvPr id="23" name="click_04_d"/>
          <p:cNvSpPr/>
          <p:nvPr/>
        </p:nvSpPr>
        <p:spPr>
          <a:xfrm>
            <a:off x="1225296" y="3529584"/>
            <a:ext cx="10058400" cy="384048"/>
          </a:xfrm>
          <a:prstGeom prst="rect">
            <a:avLst/>
          </a:prstGeom>
          <a:noFill/>
          <a:ln/>
        </p:spPr>
        <p:txBody>
          <a:bodyPr wrap="square" lIns="0" tIns="0" rIns="0" bIns="0" rtlCol="0" anchor="ctr"/>
          <a:lstStyle/>
          <a:p>
            <a:pPr indent="0" marL="0">
              <a:buNone/>
            </a:pPr>
            <a:r>
              <a:rPr lang="en-US" sz="1300" dirty="0">
                <a:solidFill>
                  <a:srgbClr val="3F3A36"/>
                </a:solidFill>
                <a:latin typeface="Calibri" pitchFamily="34" charset="0"/>
                <a:ea typeface="Calibri" pitchFamily="34" charset="-122"/>
                <a:cs typeface="Calibri" pitchFamily="34" charset="-120"/>
              </a:rPr>
              <a:t>Irvin et al., AAAI 2019 (224,316 films). Tschandl et al., Sci. Data 2018 (10,015 images, CC BY-NC).</a:t>
            </a:r>
            <a:endParaRPr lang="en-US" sz="1300" dirty="0"/>
          </a:p>
        </p:txBody>
      </p:sp>
      <p:sp>
        <p:nvSpPr>
          <p:cNvPr id="24" name="click_05_bg"/>
          <p:cNvSpPr/>
          <p:nvPr/>
        </p:nvSpPr>
        <p:spPr>
          <a:xfrm>
            <a:off x="548640" y="4078224"/>
            <a:ext cx="11091672" cy="841248"/>
          </a:xfrm>
          <a:prstGeom prst="rect">
            <a:avLst/>
          </a:prstGeom>
          <a:solidFill>
            <a:srgbClr val="FFFCF7"/>
          </a:solidFill>
          <a:ln/>
          <a:effectLst>
            <a:outerShdw sx="100000" sy="100000" kx="0" ky="0" algn="bl" rotWithShape="0" blurRad="101600" dist="12700" dir="8100000">
              <a:srgbClr val="000000">
                <a:alpha val="7000"/>
              </a:srgbClr>
            </a:outerShdw>
          </a:effectLst>
        </p:spPr>
      </p:sp>
      <p:sp>
        <p:nvSpPr>
          <p:cNvPr id="25" name="click_05_bar"/>
          <p:cNvSpPr/>
          <p:nvPr/>
        </p:nvSpPr>
        <p:spPr>
          <a:xfrm>
            <a:off x="548640" y="4078224"/>
            <a:ext cx="64008" cy="841248"/>
          </a:xfrm>
          <a:prstGeom prst="rect">
            <a:avLst/>
          </a:prstGeom>
          <a:solidFill>
            <a:srgbClr val="16324F"/>
          </a:solidFill>
          <a:ln/>
        </p:spPr>
      </p:sp>
      <p:sp>
        <p:nvSpPr>
          <p:cNvPr id="26" name="click_05_ov"/>
          <p:cNvSpPr/>
          <p:nvPr/>
        </p:nvSpPr>
        <p:spPr>
          <a:xfrm>
            <a:off x="731520" y="4325112"/>
            <a:ext cx="347472" cy="347472"/>
          </a:xfrm>
          <a:prstGeom prst="ellipse">
            <a:avLst/>
          </a:prstGeom>
          <a:solidFill>
            <a:srgbClr val="B8954A"/>
          </a:solidFill>
          <a:ln/>
        </p:spPr>
      </p:sp>
      <p:sp>
        <p:nvSpPr>
          <p:cNvPr id="27" name="click_05_ovt"/>
          <p:cNvSpPr/>
          <p:nvPr/>
        </p:nvSpPr>
        <p:spPr>
          <a:xfrm>
            <a:off x="731520" y="43251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click_05_t"/>
          <p:cNvSpPr/>
          <p:nvPr/>
        </p:nvSpPr>
        <p:spPr>
          <a:xfrm>
            <a:off x="1225296" y="4151376"/>
            <a:ext cx="10058400" cy="292608"/>
          </a:xfrm>
          <a:prstGeom prst="rect">
            <a:avLst/>
          </a:prstGeom>
          <a:noFill/>
          <a:ln/>
        </p:spPr>
        <p:txBody>
          <a:bodyPr wrap="square" lIns="0" tIns="0" rIns="0" bIns="0" rtlCol="0" anchor="ctr"/>
          <a:lstStyle/>
          <a:p>
            <a:pPr indent="0" marL="0">
              <a:buNone/>
            </a:pPr>
            <a:r>
              <a:rPr lang="en-US" sz="1400" dirty="0">
                <a:solidFill>
                  <a:srgbClr val="1C1917"/>
                </a:solidFill>
                <a:latin typeface="Georgia" pitchFamily="34" charset="0"/>
                <a:ea typeface="Georgia" pitchFamily="34" charset="-122"/>
                <a:cs typeface="Georgia" pitchFamily="34" charset="-120"/>
              </a:rPr>
              <a:t>GEPA  ·  ColPali  ·  AMIE</a:t>
            </a:r>
            <a:endParaRPr lang="en-US" sz="1400" dirty="0"/>
          </a:p>
        </p:txBody>
      </p:sp>
      <p:sp>
        <p:nvSpPr>
          <p:cNvPr id="29" name="click_05_d"/>
          <p:cNvSpPr/>
          <p:nvPr/>
        </p:nvSpPr>
        <p:spPr>
          <a:xfrm>
            <a:off x="1225296" y="4462272"/>
            <a:ext cx="10058400" cy="384048"/>
          </a:xfrm>
          <a:prstGeom prst="rect">
            <a:avLst/>
          </a:prstGeom>
          <a:noFill/>
          <a:ln/>
        </p:spPr>
        <p:txBody>
          <a:bodyPr wrap="square" lIns="0" tIns="0" rIns="0" bIns="0" rtlCol="0" anchor="ctr"/>
          <a:lstStyle/>
          <a:p>
            <a:pPr indent="0" marL="0">
              <a:buNone/>
            </a:pPr>
            <a:r>
              <a:rPr lang="en-US" sz="1300" dirty="0">
                <a:solidFill>
                  <a:srgbClr val="3F3A36"/>
                </a:solidFill>
                <a:latin typeface="Calibri" pitchFamily="34" charset="0"/>
                <a:ea typeface="Calibri" pitchFamily="34" charset="-122"/>
                <a:cs typeface="Calibri" pitchFamily="34" charset="-120"/>
              </a:rPr>
              <a:t>Agrawal et al., arXiv:2507.19457, ICLR 2026 oral. Faysse et al., ICLR 2025. Tu et al., Nature 642:442–450, Jun 2025.</a:t>
            </a:r>
            <a:endParaRPr lang="en-US" sz="1300" dirty="0"/>
          </a:p>
        </p:txBody>
      </p:sp>
      <p:sp>
        <p:nvSpPr>
          <p:cNvPr id="30" name="click_06_ty"/>
          <p:cNvSpPr/>
          <p:nvPr/>
        </p:nvSpPr>
        <p:spPr>
          <a:xfrm>
            <a:off x="548640" y="5102352"/>
            <a:ext cx="11091672" cy="384048"/>
          </a:xfrm>
          <a:prstGeom prst="rect">
            <a:avLst/>
          </a:prstGeom>
          <a:noFill/>
          <a:ln/>
        </p:spPr>
        <p:txBody>
          <a:bodyPr wrap="square" lIns="0" tIns="0" rIns="0" bIns="0" rtlCol="0" anchor="ctr"/>
          <a:lstStyle/>
          <a:p>
            <a:pPr indent="0" marL="0">
              <a:buNone/>
            </a:pPr>
            <a:r>
              <a:rPr lang="en-US" sz="2200" dirty="0">
                <a:solidFill>
                  <a:srgbClr val="16324F"/>
                </a:solidFill>
                <a:latin typeface="Georgia" pitchFamily="34" charset="0"/>
                <a:ea typeface="Georgia" pitchFamily="34" charset="-122"/>
                <a:cs typeface="Georgia" pitchFamily="34" charset="-120"/>
              </a:rPr>
              <a:t>Thank you.</a:t>
            </a:r>
            <a:endParaRPr lang="en-US" sz="2200" dirty="0"/>
          </a:p>
        </p:txBody>
      </p:sp>
      <p:sp>
        <p:nvSpPr>
          <p:cNvPr id="31" name="click_06_who"/>
          <p:cNvSpPr/>
          <p:nvPr/>
        </p:nvSpPr>
        <p:spPr>
          <a:xfrm>
            <a:off x="548640" y="5504688"/>
            <a:ext cx="11091672" cy="292608"/>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Pranav Maheshwari  ·  GE-232023518  ·  Guide: Dr. Narayan Chaturvedi  ·  MP2026CSE344</a:t>
            </a:r>
            <a:endParaRPr lang="en-US" sz="1400" dirty="0"/>
          </a:p>
        </p:txBody>
      </p:sp>
      <p:sp>
        <p:nvSpPr>
          <p:cNvPr id="32" name="click_06_q"/>
          <p:cNvSpPr/>
          <p:nvPr/>
        </p:nvSpPr>
        <p:spPr>
          <a:xfrm>
            <a:off x="548640" y="5833872"/>
            <a:ext cx="11091672" cy="384048"/>
          </a:xfrm>
          <a:prstGeom prst="rect">
            <a:avLst/>
          </a:prstGeom>
          <a:noFill/>
          <a:ln/>
        </p:spPr>
        <p:txBody>
          <a:bodyPr wrap="square" lIns="0" tIns="0" rIns="0" bIns="0" rtlCol="0" anchor="ctr"/>
          <a:lstStyle/>
          <a:p>
            <a:pPr indent="0" marL="0">
              <a:buNone/>
            </a:pPr>
            <a:r>
              <a:rPr lang="en-US" sz="1300" i="1" dirty="0">
                <a:solidFill>
                  <a:srgbClr val="6B6560"/>
                </a:solidFill>
                <a:latin typeface="Calibri" pitchFamily="34" charset="0"/>
                <a:ea typeface="Calibri" pitchFamily="34" charset="-122"/>
                <a:cs typeface="Calibri" pitchFamily="34" charset="-120"/>
              </a:rPr>
              <a:t>Questions.  Full IEEE list is in the Phase-1 synopsis. No result in this deck is an experimental number of ours.</a:t>
            </a:r>
            <a:endParaRPr lang="en-US" sz="1300" dirty="0"/>
          </a:p>
        </p:txBody>
      </p:sp>
      <p:sp>
        <p:nvSpPr>
          <p:cNvPr id="33" name="static_ft"/>
          <p:cNvSpPr/>
          <p:nvPr/>
        </p:nvSpPr>
        <p:spPr>
          <a:xfrm>
            <a:off x="548640" y="6510528"/>
            <a:ext cx="11091672"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100" dirty="0"/>
          </a:p>
        </p:txBody>
      </p:sp>
    </p:spTree>
  </p:cSld>
  <p:clrMapOvr>
    <a:masterClrMapping/>
  </p:clrMapOvr>
  <p:transition spd="med" advClick="1">
    <p:fade/>
  </p:transition>
  <p:timing>
    <p:tnLst>
      <p:par>
        <p:cTn id="1" dur="indefinite" restart="never" nodeType="tmRoot">
          <p:childTnLst>
            <p:seq concurrent="true" nextAc="seek">
              <p:cTn id="70"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8" fill="hold">
                      <p:stCondLst>
                        <p:cond delay="indefinite"/>
                      </p:stCondLst>
                      <p:childTnLst>
                        <p:par>
                          <p:cTn id="19" fill="hold">
                            <p:stCondLst>
                              <p:cond delay="0"/>
                            </p:stCondLst>
                            <p:childTnLst>
                              <p:par>
                                <p:cTn id="6" presetID="10" presetClass="entr" presetSubtype="0" fill="hold" grpId="0" nodeType="clickEffect">
                                  <p:stCondLst>
                                    <p:cond delay="0"/>
                                  </p:stCondLst>
                                  <p:childTnLst>
                                    <p:animEffect transition="in" filter="fade">
                                      <p:cBhvr>
                                        <p:cTn id="7" dur="450"/>
                                        <p:tgtEl>
                                          <p:spTgt spid="6"/>
                                        </p:tgtEl>
                                      </p:cBhvr>
                                    </p:animEffect>
                                  </p:childTnLst>
                                </p:cTn>
                              </p:par>
                              <p:par>
                                <p:cTn id="8" presetID="10" presetClass="entr" presetSubtype="0" fill="hold" grpId="0" nodeType="withEffect">
                                  <p:stCondLst>
                                    <p:cond delay="0"/>
                                  </p:stCondLst>
                                  <p:childTnLst>
                                    <p:animEffect transition="in" filter="fade">
                                      <p:cBhvr>
                                        <p:cTn id="9" dur="450"/>
                                        <p:tgtEl>
                                          <p:spTgt spid="7"/>
                                        </p:tgtEl>
                                      </p:cBhvr>
                                    </p:animEffect>
                                  </p:childTnLst>
                                </p:cTn>
                              </p:par>
                              <p:par>
                                <p:cTn id="10" presetID="10" presetClass="entr" presetSubtype="0" fill="hold" grpId="0" nodeType="withEffect">
                                  <p:stCondLst>
                                    <p:cond delay="0"/>
                                  </p:stCondLst>
                                  <p:childTnLst>
                                    <p:animEffect transition="in" filter="fade">
                                      <p:cBhvr>
                                        <p:cTn id="11" dur="450"/>
                                        <p:tgtEl>
                                          <p:spTgt spid="8"/>
                                        </p:tgtEl>
                                      </p:cBhvr>
                                    </p:animEffect>
                                  </p:childTnLst>
                                </p:cTn>
                              </p:par>
                              <p:par>
                                <p:cTn id="12" presetID="10" presetClass="entr" presetSubtype="0" fill="hold" grpId="0" nodeType="withEffect">
                                  <p:stCondLst>
                                    <p:cond delay="0"/>
                                  </p:stCondLst>
                                  <p:childTnLst>
                                    <p:animEffect transition="in" filter="fade">
                                      <p:cBhvr>
                                        <p:cTn id="13" dur="450"/>
                                        <p:tgtEl>
                                          <p:spTgt spid="9"/>
                                        </p:tgtEl>
                                      </p:cBhvr>
                                    </p:animEffect>
                                  </p:childTnLst>
                                </p:cTn>
                              </p:par>
                              <p:par>
                                <p:cTn id="14" presetID="10" presetClass="entr" presetSubtype="0" fill="hold" grpId="0" nodeType="withEffect">
                                  <p:stCondLst>
                                    <p:cond delay="0"/>
                                  </p:stCondLst>
                                  <p:childTnLst>
                                    <p:animEffect transition="in" filter="fade">
                                      <p:cBhvr>
                                        <p:cTn id="15" dur="450"/>
                                        <p:tgtEl>
                                          <p:spTgt spid="10"/>
                                        </p:tgtEl>
                                      </p:cBhvr>
                                    </p:animEffect>
                                  </p:childTnLst>
                                </p:cTn>
                              </p:par>
                              <p:par>
                                <p:cTn id="16" presetID="10" presetClass="entr" presetSubtype="0" fill="hold" grpId="0" nodeType="withEffect">
                                  <p:stCondLst>
                                    <p:cond delay="0"/>
                                  </p:stCondLst>
                                  <p:childTnLst>
                                    <p:animEffect transition="in" filter="fade">
                                      <p:cBhvr>
                                        <p:cTn id="17" dur="450"/>
                                        <p:tgtEl>
                                          <p:spTgt spid="11"/>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grpId="0" nodeType="clickEffect">
                                  <p:stCondLst>
                                    <p:cond delay="0"/>
                                  </p:stCondLst>
                                  <p:childTnLst>
                                    <p:animEffect transition="in" filter="fade">
                                      <p:cBhvr>
                                        <p:cTn id="21" dur="450"/>
                                        <p:tgtEl>
                                          <p:spTgt spid="12"/>
                                        </p:tgtEl>
                                      </p:cBhvr>
                                    </p:animEffect>
                                  </p:childTnLst>
                                </p:cTn>
                              </p:par>
                              <p:par>
                                <p:cTn id="22" presetID="10" presetClass="entr" presetSubtype="0" fill="hold" grpId="0" nodeType="withEffect">
                                  <p:stCondLst>
                                    <p:cond delay="0"/>
                                  </p:stCondLst>
                                  <p:childTnLst>
                                    <p:animEffect transition="in" filter="fade">
                                      <p:cBhvr>
                                        <p:cTn id="23" dur="450"/>
                                        <p:tgtEl>
                                          <p:spTgt spid="13"/>
                                        </p:tgtEl>
                                      </p:cBhvr>
                                    </p:animEffect>
                                  </p:childTnLst>
                                </p:cTn>
                              </p:par>
                              <p:par>
                                <p:cTn id="24" presetID="10" presetClass="entr" presetSubtype="0" fill="hold" grpId="0" nodeType="withEffect">
                                  <p:stCondLst>
                                    <p:cond delay="0"/>
                                  </p:stCondLst>
                                  <p:childTnLst>
                                    <p:animEffect transition="in" filter="fade">
                                      <p:cBhvr>
                                        <p:cTn id="25" dur="450"/>
                                        <p:tgtEl>
                                          <p:spTgt spid="14"/>
                                        </p:tgtEl>
                                      </p:cBhvr>
                                    </p:animEffect>
                                  </p:childTnLst>
                                </p:cTn>
                              </p:par>
                              <p:par>
                                <p:cTn id="26" presetID="10" presetClass="entr" presetSubtype="0" fill="hold" grpId="0" nodeType="withEffect">
                                  <p:stCondLst>
                                    <p:cond delay="0"/>
                                  </p:stCondLst>
                                  <p:childTnLst>
                                    <p:animEffect transition="in" filter="fade">
                                      <p:cBhvr>
                                        <p:cTn id="27" dur="450"/>
                                        <p:tgtEl>
                                          <p:spTgt spid="15"/>
                                        </p:tgtEl>
                                      </p:cBhvr>
                                    </p:animEffect>
                                  </p:childTnLst>
                                </p:cTn>
                              </p:par>
                              <p:par>
                                <p:cTn id="28" presetID="10" presetClass="entr" presetSubtype="0" fill="hold" grpId="0" nodeType="withEffect">
                                  <p:stCondLst>
                                    <p:cond delay="0"/>
                                  </p:stCondLst>
                                  <p:childTnLst>
                                    <p:animEffect transition="in" filter="fade">
                                      <p:cBhvr>
                                        <p:cTn id="29" dur="450"/>
                                        <p:tgtEl>
                                          <p:spTgt spid="16"/>
                                        </p:tgtEl>
                                      </p:cBhvr>
                                    </p:animEffect>
                                  </p:childTnLst>
                                </p:cTn>
                              </p:par>
                              <p:par>
                                <p:cTn id="30" presetID="10" presetClass="entr" presetSubtype="0" fill="hold" grpId="0" nodeType="withEffect">
                                  <p:stCondLst>
                                    <p:cond delay="0"/>
                                  </p:stCondLst>
                                  <p:childTnLst>
                                    <p:animEffect transition="in" filter="fade">
                                      <p:cBhvr>
                                        <p:cTn id="31" dur="450"/>
                                        <p:tgtEl>
                                          <p:spTgt spid="17"/>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grpId="0" nodeType="clickEffect">
                                  <p:stCondLst>
                                    <p:cond delay="0"/>
                                  </p:stCondLst>
                                  <p:childTnLst>
                                    <p:animEffect transition="in" filter="fade">
                                      <p:cBhvr>
                                        <p:cTn id="35" dur="450"/>
                                        <p:tgtEl>
                                          <p:spTgt spid="18"/>
                                        </p:tgtEl>
                                      </p:cBhvr>
                                    </p:animEffect>
                                  </p:childTnLst>
                                </p:cTn>
                              </p:par>
                              <p:par>
                                <p:cTn id="36" presetID="10" presetClass="entr" presetSubtype="0" fill="hold" grpId="0" nodeType="withEffect">
                                  <p:stCondLst>
                                    <p:cond delay="0"/>
                                  </p:stCondLst>
                                  <p:childTnLst>
                                    <p:animEffect transition="in" filter="fade">
                                      <p:cBhvr>
                                        <p:cTn id="37" dur="450"/>
                                        <p:tgtEl>
                                          <p:spTgt spid="19"/>
                                        </p:tgtEl>
                                      </p:cBhvr>
                                    </p:animEffect>
                                  </p:childTnLst>
                                </p:cTn>
                              </p:par>
                              <p:par>
                                <p:cTn id="38" presetID="10" presetClass="entr" presetSubtype="0" fill="hold" grpId="0" nodeType="withEffect">
                                  <p:stCondLst>
                                    <p:cond delay="0"/>
                                  </p:stCondLst>
                                  <p:childTnLst>
                                    <p:animEffect transition="in" filter="fade">
                                      <p:cBhvr>
                                        <p:cTn id="39" dur="450"/>
                                        <p:tgtEl>
                                          <p:spTgt spid="20"/>
                                        </p:tgtEl>
                                      </p:cBhvr>
                                    </p:animEffect>
                                  </p:childTnLst>
                                </p:cTn>
                              </p:par>
                              <p:par>
                                <p:cTn id="40" presetID="10" presetClass="entr" presetSubtype="0" fill="hold" grpId="0" nodeType="withEffect">
                                  <p:stCondLst>
                                    <p:cond delay="0"/>
                                  </p:stCondLst>
                                  <p:childTnLst>
                                    <p:animEffect transition="in" filter="fade">
                                      <p:cBhvr>
                                        <p:cTn id="41" dur="450"/>
                                        <p:tgtEl>
                                          <p:spTgt spid="21"/>
                                        </p:tgtEl>
                                      </p:cBhvr>
                                    </p:animEffect>
                                  </p:childTnLst>
                                </p:cTn>
                              </p:par>
                              <p:par>
                                <p:cTn id="42" presetID="10" presetClass="entr" presetSubtype="0" fill="hold" grpId="0" nodeType="withEffect">
                                  <p:stCondLst>
                                    <p:cond delay="0"/>
                                  </p:stCondLst>
                                  <p:childTnLst>
                                    <p:animEffect transition="in" filter="fade">
                                      <p:cBhvr>
                                        <p:cTn id="43" dur="450"/>
                                        <p:tgtEl>
                                          <p:spTgt spid="22"/>
                                        </p:tgtEl>
                                      </p:cBhvr>
                                    </p:animEffect>
                                  </p:childTnLst>
                                </p:cTn>
                              </p:par>
                              <p:par>
                                <p:cTn id="44" presetID="10" presetClass="entr" presetSubtype="0" fill="hold" grpId="0" nodeType="withEffect">
                                  <p:stCondLst>
                                    <p:cond delay="0"/>
                                  </p:stCondLst>
                                  <p:childTnLst>
                                    <p:animEffect transition="in" filter="fade">
                                      <p:cBhvr>
                                        <p:cTn id="45" dur="450"/>
                                        <p:tgtEl>
                                          <p:spTgt spid="23"/>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grpId="0" nodeType="clickEffect">
                                  <p:stCondLst>
                                    <p:cond delay="0"/>
                                  </p:stCondLst>
                                  <p:childTnLst>
                                    <p:animEffect transition="in" filter="fade">
                                      <p:cBhvr>
                                        <p:cTn id="49" dur="450"/>
                                        <p:tgtEl>
                                          <p:spTgt spid="24"/>
                                        </p:tgtEl>
                                      </p:cBhvr>
                                    </p:animEffect>
                                  </p:childTnLst>
                                </p:cTn>
                              </p:par>
                              <p:par>
                                <p:cTn id="50" presetID="10" presetClass="entr" presetSubtype="0" fill="hold" grpId="0" nodeType="withEffect">
                                  <p:stCondLst>
                                    <p:cond delay="0"/>
                                  </p:stCondLst>
                                  <p:childTnLst>
                                    <p:animEffect transition="in" filter="fade">
                                      <p:cBhvr>
                                        <p:cTn id="51" dur="450"/>
                                        <p:tgtEl>
                                          <p:spTgt spid="25"/>
                                        </p:tgtEl>
                                      </p:cBhvr>
                                    </p:animEffect>
                                  </p:childTnLst>
                                </p:cTn>
                              </p:par>
                              <p:par>
                                <p:cTn id="52" presetID="10" presetClass="entr" presetSubtype="0" fill="hold" grpId="0" nodeType="withEffect">
                                  <p:stCondLst>
                                    <p:cond delay="0"/>
                                  </p:stCondLst>
                                  <p:childTnLst>
                                    <p:animEffect transition="in" filter="fade">
                                      <p:cBhvr>
                                        <p:cTn id="53" dur="450"/>
                                        <p:tgtEl>
                                          <p:spTgt spid="26"/>
                                        </p:tgtEl>
                                      </p:cBhvr>
                                    </p:animEffect>
                                  </p:childTnLst>
                                </p:cTn>
                              </p:par>
                              <p:par>
                                <p:cTn id="54" presetID="10" presetClass="entr" presetSubtype="0" fill="hold" grpId="0" nodeType="withEffect">
                                  <p:stCondLst>
                                    <p:cond delay="0"/>
                                  </p:stCondLst>
                                  <p:childTnLst>
                                    <p:animEffect transition="in" filter="fade">
                                      <p:cBhvr>
                                        <p:cTn id="55" dur="450"/>
                                        <p:tgtEl>
                                          <p:spTgt spid="27"/>
                                        </p:tgtEl>
                                      </p:cBhvr>
                                    </p:animEffect>
                                  </p:childTnLst>
                                </p:cTn>
                              </p:par>
                              <p:par>
                                <p:cTn id="56" presetID="10" presetClass="entr" presetSubtype="0" fill="hold" grpId="0" nodeType="withEffect">
                                  <p:stCondLst>
                                    <p:cond delay="0"/>
                                  </p:stCondLst>
                                  <p:childTnLst>
                                    <p:animEffect transition="in" filter="fade">
                                      <p:cBhvr>
                                        <p:cTn id="57" dur="450"/>
                                        <p:tgtEl>
                                          <p:spTgt spid="28"/>
                                        </p:tgtEl>
                                      </p:cBhvr>
                                    </p:animEffect>
                                  </p:childTnLst>
                                </p:cTn>
                              </p:par>
                              <p:par>
                                <p:cTn id="58" presetID="10" presetClass="entr" presetSubtype="0" fill="hold" grpId="0" nodeType="withEffect">
                                  <p:stCondLst>
                                    <p:cond delay="0"/>
                                  </p:stCondLst>
                                  <p:childTnLst>
                                    <p:animEffect transition="in" filter="fade">
                                      <p:cBhvr>
                                        <p:cTn id="59" dur="450"/>
                                        <p:tgtEl>
                                          <p:spTgt spid="29"/>
                                        </p:tgtEl>
                                      </p:cBhvr>
                                    </p:animEffect>
                                  </p:childTnLst>
                                </p:cTn>
                              </p:par>
                            </p:childTnLst>
                          </p:cTn>
                        </p:par>
                      </p:childTnLst>
                    </p:cTn>
                  </p:par>
                  <p:par>
                    <p:cTn id="68" fill="hold">
                      <p:stCondLst>
                        <p:cond delay="indefinite"/>
                      </p:stCondLst>
                      <p:childTnLst>
                        <p:par>
                          <p:cTn id="69" fill="hold">
                            <p:stCondLst>
                              <p:cond delay="0"/>
                            </p:stCondLst>
                            <p:childTnLst>
                              <p:par>
                                <p:cTn id="62" presetID="10" presetClass="entr" presetSubtype="0" fill="hold" grpId="0" nodeType="clickEffect">
                                  <p:stCondLst>
                                    <p:cond delay="0"/>
                                  </p:stCondLst>
                                  <p:childTnLst>
                                    <p:animEffect transition="in" filter="fade">
                                      <p:cBhvr>
                                        <p:cTn id="63" dur="450"/>
                                        <p:tgtEl>
                                          <p:spTgt spid="30"/>
                                        </p:tgtEl>
                                      </p:cBhvr>
                                    </p:animEffect>
                                  </p:childTnLst>
                                </p:cTn>
                              </p:par>
                              <p:par>
                                <p:cTn id="64" presetID="10" presetClass="entr" presetSubtype="0" fill="hold" grpId="0" nodeType="withEffect">
                                  <p:stCondLst>
                                    <p:cond delay="0"/>
                                  </p:stCondLst>
                                  <p:childTnLst>
                                    <p:animEffect transition="in" filter="fade">
                                      <p:cBhvr>
                                        <p:cTn id="65" dur="450"/>
                                        <p:tgtEl>
                                          <p:spTgt spid="31"/>
                                        </p:tgtEl>
                                      </p:cBhvr>
                                    </p:animEffect>
                                  </p:childTnLst>
                                </p:cTn>
                              </p:par>
                              <p:par>
                                <p:cTn id="66" presetID="10" presetClass="entr" presetSubtype="0" fill="hold" grpId="0" nodeType="withEffect">
                                  <p:stCondLst>
                                    <p:cond delay="0"/>
                                  </p:stCondLst>
                                  <p:childTnLst>
                                    <p:animEffect transition="in" filter="fade">
                                      <p:cBhvr>
                                        <p:cTn id="67"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Pathway — Phase-1 Synopsis</dc:title>
  <dc:subject>GEU B.Tech CSE Core Major Project</dc:subject>
  <dc:creator>Pranav Maheshwari</dc:creator>
  <cp:lastModifiedBy>Pranav Maheshwari</cp:lastModifiedBy>
  <cp:revision>1</cp:revision>
  <dcterms:created xsi:type="dcterms:W3CDTF">2026-09-15T06:40:49Z</dcterms:created>
  <dcterms:modified xsi:type="dcterms:W3CDTF">2026-09-15T06:40:49Z</dcterms:modified>
</cp:coreProperties>
</file>